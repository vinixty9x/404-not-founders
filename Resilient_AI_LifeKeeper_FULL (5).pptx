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6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323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RESILIENT COMPANION · PROJECT BRIEF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159752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50" kern="0" dirty="0">
                <a:solidFill>
                  <a:srgbClr val="2323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 · RESILIENCE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1274552" cy="0"/>
          </a:xfrm>
          <a:prstGeom prst="line">
            <a:avLst/>
          </a:prstGeom>
          <a:noFill/>
          <a:ln w="12700">
            <a:solidFill>
              <a:srgbClr val="23232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32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 OFFLINE-FIRST AI APP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Resilient AI
</a:t>
            </a:r>
            <a:pPr indent="0" marL="0">
              <a:buNone/>
            </a:pPr>
            <a:r>
              <a:rPr lang="en-US" sz="4600" i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LifeKeeper.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8229600" y="822960"/>
            <a:ext cx="3108960" cy="310896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0" y="2103120"/>
            <a:ext cx="2011680" cy="2011680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0" y="3566160"/>
            <a:ext cx="457200" cy="457200"/>
          </a:xfrm>
          <a:prstGeom prst="ellipse">
            <a:avLst/>
          </a:prstGeom>
          <a:solidFill>
            <a:srgbClr val="A33B2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784080" y="10058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</a:t>
            </a:r>
            <a:endParaRPr lang="en-US" sz="1500" dirty="0"/>
          </a:p>
          <a:p>
            <a:pPr indent="0" marL="0">
              <a:buNone/>
            </a:pPr>
            <a:r>
              <a:rPr lang="en-US" sz="1500" b="1" i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56616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everyday journal and your emergency network rolled into one. It keeps ideas, thoughts, and daily logs safe — and when disaster strikes it becomes a lifeline, even with no internet, no problem.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5029200"/>
            <a:ext cx="2194560" cy="68580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5120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EE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 · A
</a:t>
            </a:r>
            <a:pPr indent="0" marL="0">
              <a:buNone/>
            </a:pPr>
            <a:r>
              <a:rPr lang="en-US" sz="1500" b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Mode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88920" y="5029200"/>
            <a:ext cx="2377440" cy="685800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971800" y="5120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EE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 · B
</a:t>
            </a:r>
            <a:pPr indent="0" marL="0">
              <a:buNone/>
            </a:pPr>
            <a:r>
              <a:rPr lang="en-US" sz="1500" b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Emergency Mode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51206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 Profile
</a:t>
            </a:r>
            <a:pPr indent="0" marL="0">
              <a:buNone/>
            </a:pPr>
            <a:r>
              <a:rPr lang="en-US" sz="1200" i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draws more. Emergency draws less.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12700">
            <a:solidFill>
              <a:srgbClr val="8A827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A8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WALKTHROUGH OF CONCEPT, CAPABILITY, AND A HOSPITAL EARTHQUAKE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9445752" y="6492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8A8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6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323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BRIEF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159752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50" kern="0" dirty="0">
                <a:solidFill>
                  <a:srgbClr val="2323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CONCEPT + WHY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1274552" cy="0"/>
          </a:xfrm>
          <a:prstGeom prst="line">
            <a:avLst/>
          </a:prstGeom>
          <a:noFill/>
          <a:ln w="12700">
            <a:solidFill>
              <a:srgbClr val="23232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05840"/>
            <a:ext cx="6217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</a:t>
            </a:r>
            <a:pPr indent="0" marL="0">
              <a:buNone/>
            </a:pPr>
            <a:r>
              <a:rPr lang="en-US" sz="3400" i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living</a:t>
            </a:r>
            <a:pPr indent="0" marL="0">
              <a:buNone/>
            </a:pPr>
            <a:r>
              <a:rPr lang="en-US" sz="34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keep
remembering, keep
</a:t>
            </a:r>
            <a:pPr indent="0" marL="0">
              <a:buNone/>
            </a:pPr>
            <a:r>
              <a:rPr lang="en-US" sz="3400" i="1" dirty="0">
                <a:solidFill>
                  <a:srgbClr val="B3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recovering.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040880" y="960120"/>
            <a:ext cx="4663440" cy="2834640"/>
          </a:xfrm>
          <a:prstGeom prst="rect">
            <a:avLst/>
          </a:prstGeom>
          <a:solidFill>
            <a:srgbClr val="1E2A2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69480" y="1143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A8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THIS EXISTS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146304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phone already carries the tools to </a:t>
            </a:r>
            <a:pPr indent="0" marL="0">
              <a:buNone/>
            </a:pPr>
            <a:r>
              <a:rPr lang="en-US" sz="1500" i="1" dirty="0">
                <a:solidFill>
                  <a:srgbClr val="B3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 a thought</a:t>
            </a:r>
            <a:pPr indent="0" marL="0">
              <a:buNone/>
            </a:pPr>
            <a:r>
              <a:rPr lang="en-US" sz="1500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to </a:t>
            </a:r>
            <a:pPr indent="0" marL="0">
              <a:buNone/>
            </a:pPr>
            <a:r>
              <a:rPr lang="en-US" sz="1500" i="1" dirty="0">
                <a:solidFill>
                  <a:srgbClr val="B3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 a life</a:t>
            </a:r>
            <a:pPr indent="0" marL="0">
              <a:buNone/>
            </a:pPr>
            <a:r>
              <a:rPr lang="en-US" sz="1500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Most days it is not asked to do either.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269480" y="33832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Resilience is built long before the disaster.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3977640"/>
            <a:ext cx="4754880" cy="0"/>
          </a:xfrm>
          <a:prstGeom prst="line">
            <a:avLst/>
          </a:prstGeom>
          <a:noFill/>
          <a:ln w="12700">
            <a:solidFill>
              <a:srgbClr val="8A82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4114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ONE SENTENCE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434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local-first AI app that captures daily life daily, supports you through emergencies daily, and reconnects cleanly when the world comes back online.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5486400"/>
            <a:ext cx="3611880" cy="914400"/>
          </a:xfrm>
          <a:prstGeom prst="rect">
            <a:avLst/>
          </a:prstGeom>
          <a:solidFill>
            <a:srgbClr val="E2D8B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5577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 Life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8521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ideas. Reflect. Organize. Search everything, even offline.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51960" y="5486400"/>
            <a:ext cx="3611880" cy="914400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434840" y="5577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EE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Disaster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434840" y="58521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3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incidents, supplies, triage. Chat peer-to-peer. Get AI guidance.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5486400"/>
            <a:ext cx="3611880" cy="914400"/>
          </a:xfrm>
          <a:prstGeom prst="rect">
            <a:avLst/>
          </a:prstGeom>
          <a:solidFill>
            <a:srgbClr val="1E2A2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0" y="5577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EE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Recovery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58521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3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local-first storage. Sync with conflict resolution when net returns.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6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323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ANATOMY OF THE APP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159752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50" kern="0" dirty="0">
                <a:solidFill>
                  <a:srgbClr val="2323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FIVE MODULES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1274552" cy="0"/>
          </a:xfrm>
          <a:prstGeom prst="line">
            <a:avLst/>
          </a:prstGeom>
          <a:noFill/>
          <a:ln w="12700">
            <a:solidFill>
              <a:srgbClr val="23232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05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modules that compose </a:t>
            </a:r>
            <a:pPr indent="0" marL="0">
              <a:buNone/>
            </a:pPr>
            <a:r>
              <a:rPr lang="en-US" sz="2800" i="1" dirty="0">
                <a:solidFill>
                  <a:srgbClr val="B3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companion</a:t>
            </a:r>
            <a:pPr indent="0" marL="0">
              <a:buNone/>
            </a:pPr>
            <a:r>
              <a:rPr lang="en-US" sz="28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0515600" y="822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9784080" y="1965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Modules, One Device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3566160" cy="214884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6791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32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2004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 Logs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8862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3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Journaling. Idea capture. AI sorts entries into work, personal, creative. A searchable offline knowledge base.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0" y="2514600"/>
            <a:ext cx="3566160" cy="2148840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43400" y="26791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32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343400" y="32004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Disaster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343400" y="38862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3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Supplies, casualties, incidents, triage notes. AI summarises for situational awareness when seconds matter.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0" y="2514600"/>
            <a:ext cx="3959352" cy="2148840"/>
          </a:xfrm>
          <a:prstGeom prst="rect">
            <a:avLst/>
          </a:prstGeom>
          <a:solidFill>
            <a:srgbClr val="E2D8B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01000" y="26791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001000" y="3200400"/>
            <a:ext cx="3502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Offline Chat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001000" y="3886200"/>
            <a:ext cx="3502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Peer-to-peer messaging without internet. The AI joins the room to provide guidance and reminders, even mid-blackout.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754880"/>
            <a:ext cx="5120640" cy="1600200"/>
          </a:xfrm>
          <a:prstGeom prst="rect">
            <a:avLst/>
          </a:prstGeom>
          <a:solidFill>
            <a:srgbClr val="1E2A2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49194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32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5303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Companion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57150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3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Summarises daily logs (“here are your top three ideas today”). Provides morale support in emergencies. Suggests triage priorities and next steps.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0" y="4754880"/>
            <a:ext cx="6062472" cy="1600200"/>
          </a:xfrm>
          <a:prstGeom prst="rect">
            <a:avLst/>
          </a:prstGeom>
          <a:solidFill>
            <a:srgbClr val="EEE6D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897880" y="49194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5897880" y="5303520"/>
            <a:ext cx="5605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Resilient Sync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5897880" y="5715000"/>
            <a:ext cx="5605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Auto-syncs when the internet returns. Conflict resolution via CRDTs and vector clocks, so nothing gets lost even if many people edited offline at once.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12700">
            <a:solidFill>
              <a:srgbClr val="8A827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A8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MODULE SHIPS WITH THE DAILY BUILD. EACH MODULE IS CRITICAL DURING THE WORST DAY.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6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3EE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 · 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9202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Daily.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2926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Higher draw. Bigger AI. Built for the days you have in body.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4846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3EE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 PROFILE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51206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~100%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60350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3EE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 sync on. Foreground AI on. Notifications on.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100584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A8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EVERYDAY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06240" y="685800"/>
            <a:ext cx="7498080" cy="0"/>
          </a:xfrm>
          <a:prstGeom prst="line">
            <a:avLst/>
          </a:prstGeom>
          <a:noFill/>
          <a:ln w="12700">
            <a:solidFill>
              <a:srgbClr val="8A82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0624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32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IT DOES FOR YOU ON A QUIET DAY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1371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Keeps your thinking in </a:t>
            </a:r>
            <a:pPr indent="0" marL="0">
              <a:buNone/>
            </a:pPr>
            <a:r>
              <a:rPr lang="en-US" sz="2600" i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shape</a:t>
            </a:r>
            <a:pPr indent="0" marL="0">
              <a:buNone/>
            </a:pPr>
            <a:r>
              <a:rPr lang="en-US" sz="26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Keeps your day </a:t>
            </a:r>
            <a:pPr indent="0" marL="0">
              <a:buNone/>
            </a:pPr>
            <a:r>
              <a:rPr lang="en-US" sz="2600" i="1" dirty="0">
                <a:solidFill>
                  <a:srgbClr val="B3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searchable</a:t>
            </a:r>
            <a:pPr indent="0" marL="0">
              <a:buNone/>
            </a:pPr>
            <a:r>
              <a:rPr lang="en-US" sz="26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206240" y="2514600"/>
            <a:ext cx="7498080" cy="548640"/>
          </a:xfrm>
          <a:prstGeom prst="rect">
            <a:avLst/>
          </a:prstGeom>
          <a:solidFill>
            <a:srgbClr val="E2D8B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389120" y="25877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Capture &amp; journal offline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280720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voice, sketch. Save entries even on a cramped subway with no signal.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06240" y="3172968"/>
            <a:ext cx="7498080" cy="548640"/>
          </a:xfrm>
          <a:prstGeom prst="rect">
            <a:avLst/>
          </a:prstGeom>
          <a:solidFill>
            <a:srgbClr val="EEE6D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389120" y="32461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3218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Auto-categorise &amp; summarise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346557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splits entries into work, personal, and creative. At day’s end you get a recap.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206240" y="3831336"/>
            <a:ext cx="7498080" cy="548640"/>
          </a:xfrm>
          <a:prstGeom prst="rect">
            <a:avLst/>
          </a:prstGeom>
          <a:solidFill>
            <a:srgbClr val="E2D8B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389120" y="39044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38770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the offline knowledge base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937760" y="412394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that one idea from three Tuesdays ago, in milliseconds, in a tunnel.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206240" y="4709160"/>
            <a:ext cx="5120640" cy="1051560"/>
          </a:xfrm>
          <a:prstGeom prst="rect">
            <a:avLst/>
          </a:prstGeom>
          <a:solidFill>
            <a:srgbClr val="1E2A2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389120" y="48280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Tue · Today, in Summary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4389120" y="51206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“Three big ideas, two reflections, one unfinished sketch. Tap to revisit.”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50976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32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DESIGNED FOR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9509760" y="49834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Writers, founders, students, researchers, care-givers, anyone whose thoughts matter more than their connection.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6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3959352" cy="6858000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323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 · B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503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3EE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THE WORST DAY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7680960" cy="0"/>
          </a:xfrm>
          <a:prstGeom prst="line">
            <a:avLst/>
          </a:prstGeom>
          <a:noFill/>
          <a:ln w="12700">
            <a:solidFill>
              <a:srgbClr val="8A82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32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IT DOES FOR YOU ON A BROKEN DAY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Logs the facts. Keeps the room </a:t>
            </a:r>
            <a:pPr indent="0" marL="0">
              <a:buNone/>
            </a:pPr>
            <a:r>
              <a:rPr lang="en-US" sz="2400" i="1" dirty="0">
                <a:solidFill>
                  <a:srgbClr val="B3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talking</a:t>
            </a:r>
            <a:pPr indent="0" marL="0">
              <a:buNone/>
            </a:pPr>
            <a:r>
              <a:rPr lang="en-US" sz="24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Keeps you </a:t>
            </a:r>
            <a:pPr indent="0" marL="0">
              <a:buNone/>
            </a:pPr>
            <a:r>
              <a:rPr lang="en-US" sz="2400" i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okay</a:t>
            </a:r>
            <a:pPr indent="0" marL="0">
              <a:buNone/>
            </a:pPr>
            <a:r>
              <a:rPr lang="en-US" sz="24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3566160" cy="960120"/>
          </a:xfrm>
          <a:prstGeom prst="rect">
            <a:avLst/>
          </a:prstGeom>
          <a:solidFill>
            <a:srgbClr val="EEE6D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606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 incidents, supplies, triage,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casualties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108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a record in a few taps. AI summarises the whole field on demand.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0" y="2514600"/>
            <a:ext cx="3566160" cy="960120"/>
          </a:xfrm>
          <a:prstGeom prst="rect">
            <a:avLst/>
          </a:prstGeom>
          <a:solidFill>
            <a:srgbClr val="E2D8B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97680" y="2606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Peer-to-peer chat without towers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3108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through other phones. Buildings, basements, blackout — still reachable.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566160"/>
            <a:ext cx="3566160" cy="960120"/>
          </a:xfrm>
          <a:prstGeom prst="rect">
            <a:avLst/>
          </a:prstGeom>
          <a:solidFill>
            <a:srgbClr val="EEE6D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657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suggestions on triage priorities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160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from your logs and surfaces the next step you should consider first.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0" y="3566160"/>
            <a:ext cx="3566160" cy="960120"/>
          </a:xfrm>
          <a:prstGeom prst="rect">
            <a:avLst/>
          </a:prstGeom>
          <a:solidFill>
            <a:srgbClr val="1E2A2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297680" y="3657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Morale: a small steady voice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297680" y="4160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3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reminders. Breathing pauses. Permission to keep going one more step.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4709160"/>
            <a:ext cx="7680960" cy="0"/>
          </a:xfrm>
          <a:prstGeom prst="line">
            <a:avLst/>
          </a:prstGeom>
          <a:noFill/>
          <a:ln w="12700">
            <a:solidFill>
              <a:srgbClr val="8A827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5760" y="4892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is patient. The model is local. Battery is conserved. Every tap is one-handed. Nothing requires a thought you do not have.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503920" y="1463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3EE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MODE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503920" y="1828800"/>
            <a:ext cx="3291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Emer-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gency.</a:t>
            </a:r>
            <a:endParaRPr lang="en-US" sz="4000" dirty="0"/>
          </a:p>
        </p:txBody>
      </p:sp>
      <p:sp>
        <p:nvSpPr>
          <p:cNvPr id="24" name="Text 22"/>
          <p:cNvSpPr txBox="1"/>
          <p:nvPr/>
        </p:nvSpPr>
        <p:spPr>
          <a:xfrm>
            <a:off x="8503920" y="37490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Lower draw. Tighter AI. Built for the days you have to keep.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503920" y="5029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3EE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 PROFILE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503920" y="53035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~40%</a:t>
            </a:r>
            <a:endParaRPr lang="en-US" sz="3600" dirty="0"/>
          </a:p>
        </p:txBody>
      </p:sp>
      <p:sp>
        <p:nvSpPr>
          <p:cNvPr id="27" name="Text 25"/>
          <p:cNvSpPr txBox="1"/>
          <p:nvPr/>
        </p:nvSpPr>
        <p:spPr>
          <a:xfrm>
            <a:off x="8503920" y="60350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3EE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 sync paused. Smaller model. Screen brightness clamped. Mesh radio kept warm.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12700">
            <a:solidFill>
              <a:srgbClr val="8A827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A8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AUTO-ENGAGES WHEN MOTION + SIGNAL LOSS EXCEEDS A THRESHOLD. MANUAL TOGGLE IN ONE SWIPE.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6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323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APP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159752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50" kern="0" dirty="0">
                <a:solidFill>
                  <a:srgbClr val="2323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 VS. DISASTER ZONE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1274552" cy="0"/>
          </a:xfrm>
          <a:prstGeom prst="line">
            <a:avLst/>
          </a:prstGeom>
          <a:noFill/>
          <a:ln w="12700">
            <a:solidFill>
              <a:srgbClr val="23232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91440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app. </a:t>
            </a:r>
            <a:pPr indent="0" marL="0">
              <a:buNone/>
            </a:pPr>
            <a:r>
              <a:rPr lang="en-US" sz="2600" i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zones</a:t>
            </a:r>
            <a:pPr indent="0" marL="0">
              <a:buNone/>
            </a:pPr>
            <a:r>
              <a:rPr lang="en-US" sz="26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colour-coded so you always know which one you're in.</a:t>
            </a:r>
            <a:endParaRPr lang="en-US" sz="2600" dirty="0"/>
          </a:p>
        </p:txBody>
      </p:sp>
      <p:pic>
        <p:nvPicPr>
          <p:cNvPr id="6" name="Image 0" descr="/home/claude/ppt/assets/app_dai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2103120"/>
            <a:ext cx="2208276" cy="3840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847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 ZONE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6016752"/>
            <a:ext cx="2208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#0F6E56</a:t>
            </a:r>
            <a:endParaRPr lang="en-US" sz="1000" dirty="0"/>
          </a:p>
        </p:txBody>
      </p:sp>
      <p:pic>
        <p:nvPicPr>
          <p:cNvPr id="9" name="Image 1" descr="/home/claude/ppt/assets/app_disas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103120"/>
            <a:ext cx="2208276" cy="3840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229600" y="1847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32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DISASTER ZONE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8229600" y="6016752"/>
            <a:ext cx="2208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32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#B3261E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4480560" y="329184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 toggle at the top of every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 — the whole UI recolours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instant you switch, so the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zone you're in is never in doubt.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12700">
            <a:solidFill>
              <a:srgbClr val="8A827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A8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COLOURS PULLED DIRECTLY FROM THE UI MOCKUP — DAILY TEAL, DISASTER RED.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6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323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ENGINES, ONE DEVICE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159752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50" kern="0" dirty="0">
                <a:solidFill>
                  <a:srgbClr val="2323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1274552" cy="0"/>
          </a:xfrm>
          <a:prstGeom prst="line">
            <a:avLst/>
          </a:prstGeom>
          <a:noFill/>
          <a:ln w="12700">
            <a:solidFill>
              <a:srgbClr val="23232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91440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app. Two </a:t>
            </a:r>
            <a:pPr indent="0" marL="0">
              <a:buNone/>
            </a:pPr>
            <a:r>
              <a:rPr lang="en-US" sz="2600" i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personalities</a:t>
            </a:r>
            <a:pPr indent="0" marL="0">
              <a:buNone/>
            </a:pPr>
            <a:r>
              <a:rPr lang="en-US" sz="26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One slider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apart.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860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mode spends power to give you a richer AI and full sync. Emergency mode spends the same hour differently — it saves power, conserves screen, and keeps the mesh radio alive while everything else goes dark.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3566160" cy="292608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337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3EE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 A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611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2062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~100%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800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 power draw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120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Full background sync 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3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Larger model, richer summaries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3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Notifications + reminders on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806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power, signal, calm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06240" y="3200400"/>
            <a:ext cx="3566160" cy="2926080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389120" y="3337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3EE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 B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389120" y="3611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Emergency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0" y="42062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~40%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4800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Conservative draw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389120" y="5120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Background sync paused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3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Smaller model, tighter answers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3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Mesh radio held warm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389120" y="5806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lost signal, lost hours, lost power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955280" y="3200400"/>
            <a:ext cx="3776472" cy="2926080"/>
          </a:xfrm>
          <a:prstGeom prst="rect">
            <a:avLst/>
          </a:prstGeom>
          <a:solidFill>
            <a:srgbClr val="1E2A2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138160" y="3337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A8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HOUR 6 OF A BLACKOUT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138160" y="36118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battery, very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 morning.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138160" y="44348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778240" y="4434840"/>
            <a:ext cx="2926080" cy="201168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26" name="Shape 24"/>
          <p:cNvSpPr/>
          <p:nvPr/>
        </p:nvSpPr>
        <p:spPr>
          <a:xfrm>
            <a:off x="8778240" y="4434840"/>
            <a:ext cx="2103120" cy="20116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778240" y="4663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60% remaining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8138160" y="5029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Emer.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778240" y="5029200"/>
            <a:ext cx="2926080" cy="201168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30" name="Shape 28"/>
          <p:cNvSpPr/>
          <p:nvPr/>
        </p:nvSpPr>
        <p:spPr>
          <a:xfrm>
            <a:off x="8778240" y="5029200"/>
            <a:ext cx="2560320" cy="20116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778240" y="5257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88% remaining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8138160" y="55778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phone. Same disaster. +28% battery at the moment you need it most.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12700">
            <a:solidFill>
              <a:srgbClr val="8A827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A8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 FIGURES ARE REFERENCE. TOGGLING IS ONE SWIPE; AUTO-TRIGGER WHEN SIGNAL &amp; MOTION SHIFT.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6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E2A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A8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 THE HOOD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280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A8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600200"/>
            <a:ext cx="3291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Offline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Reconcile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after.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46634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device is never down because the network is. The cloud is invited later; it is never the boss.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5852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A8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TRUST THE ORDER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6080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3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log → peer merge → eventual cloud sync.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2412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A8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RESILIENT SYNC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06240" y="685800"/>
            <a:ext cx="7498080" cy="0"/>
          </a:xfrm>
          <a:prstGeom prst="line">
            <a:avLst/>
          </a:prstGeom>
          <a:noFill/>
          <a:ln w="12700">
            <a:solidFill>
              <a:srgbClr val="8A82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0" y="1005840"/>
            <a:ext cx="2377440" cy="1417320"/>
          </a:xfrm>
          <a:prstGeom prst="rect">
            <a:avLst/>
          </a:prstGeom>
          <a:solidFill>
            <a:srgbClr val="EEE6D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43400" y="10972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32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1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4343400" y="1371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store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343400" y="171907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entry lives on-device first. Reads, writes, and search work without a server.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20840" y="1005840"/>
            <a:ext cx="2377440" cy="1417320"/>
          </a:xfrm>
          <a:prstGeom prst="rect">
            <a:avLst/>
          </a:prstGeom>
          <a:solidFill>
            <a:srgbClr val="EEE6D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0" y="10972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32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2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1371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AI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171907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model summarises, classifies, and prompts. No round trip. No latency tax.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235440" y="1005840"/>
            <a:ext cx="2468880" cy="141732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372600" y="10972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3EE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3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9372600" y="1371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Mesh layer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372600" y="171907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3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 become relays. Wi-Fi Direct + Bluetooth LE carry peer chat and logs.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06240" y="2560320"/>
            <a:ext cx="4709160" cy="1417320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343400" y="2651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3EE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4 · The Reconciler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43434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CRDTs &amp; vector clocks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4343400" y="333756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3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many devices edit offline and reconnect, conflicts resolve without losing anyone’s truth. Two nurses logging the same patient at once both survive.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006840" y="2560320"/>
            <a:ext cx="2697480" cy="1417320"/>
          </a:xfrm>
          <a:prstGeom prst="rect">
            <a:avLst/>
          </a:prstGeom>
          <a:solidFill>
            <a:srgbClr val="E2D8B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4000" y="2651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32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5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9144000" y="2926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Sync, when ready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9144000" y="32918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 once connectivity stabilises. Before/after allowed. Delta-only payloads.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206240" y="4160520"/>
            <a:ext cx="7498080" cy="1371600"/>
          </a:xfrm>
          <a:prstGeom prst="rect">
            <a:avLst/>
          </a:prstGeom>
          <a:solidFill>
            <a:srgbClr val="EEE6D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389120" y="4279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A8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TYPICAL LIFECYCLE OF A DISASTER LOG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389120" y="45720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Capture</a:t>
            </a:r>
            <a:pPr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→  </a:t>
            </a:r>
            <a:pPr indent="0" marL="0">
              <a:buNone/>
            </a:pPr>
            <a:r>
              <a:rPr lang="en-US" sz="1800" b="1" dirty="0">
                <a:solidFill>
                  <a:srgbClr val="B3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Merge</a:t>
            </a:r>
            <a:pPr indent="0" marL="0">
              <a:buNone/>
            </a:pPr>
            <a:r>
              <a:rPr lang="en-US" sz="18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→  Summarise  →  </a:t>
            </a:r>
            <a:pPr indent="0" marL="0">
              <a:buNone/>
            </a:pPr>
            <a:r>
              <a:rPr lang="en-US" sz="18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Surface</a:t>
            </a:r>
            <a:pPr indent="0" marL="0">
              <a:buNone/>
            </a:pPr>
            <a:r>
              <a:rPr lang="en-US" sz="18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→  Sync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4389120" y="50749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arrow is local if it can be. Each step has a fallback. A 30-second capture still survives a 30-hour blackout.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206240" y="6400800"/>
            <a:ext cx="7498080" cy="0"/>
          </a:xfrm>
          <a:prstGeom prst="line">
            <a:avLst/>
          </a:prstGeom>
          <a:noFill/>
          <a:ln w="12700">
            <a:solidFill>
              <a:srgbClr val="8A827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206240" y="64922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A8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LAYER OPTIONAL. THE SYSTEM SURVIVES ANY SINGLE LAYER FAILING.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E6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323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TRUST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159752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50" kern="0" dirty="0">
                <a:solidFill>
                  <a:srgbClr val="2323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PRIVACY &amp; SECURITY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1274552" cy="0"/>
          </a:xfrm>
          <a:prstGeom prst="line">
            <a:avLst/>
          </a:prstGeom>
          <a:noFill/>
          <a:ln w="12700">
            <a:solidFill>
              <a:srgbClr val="23232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05840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hold the </a:t>
            </a:r>
            <a:pPr indent="0" marL="0">
              <a:buNone/>
            </a:pPr>
            <a:r>
              <a:rPr lang="en-US" sz="3000" i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</a:t>
            </a:r>
            <a:pPr indent="0" marL="0">
              <a:buNone/>
            </a:pPr>
            <a:r>
              <a:rPr lang="en-US" sz="30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The phone holds the
</a:t>
            </a:r>
            <a:pPr indent="0" marL="0">
              <a:buNone/>
            </a:pPr>
            <a:r>
              <a:rPr lang="en-US" sz="3000" i="1" dirty="0">
                <a:solidFill>
                  <a:srgbClr val="B3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weight</a:t>
            </a:r>
            <a:pPr indent="0" marL="0">
              <a:buNone/>
            </a:pPr>
            <a:r>
              <a:rPr lang="en-US" sz="30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060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thought kept offline is not a thought owed to anyone. A disaster log kept on-device is not a log that can be subpoenaed across borders by accident.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0" y="1005840"/>
            <a:ext cx="2468880" cy="2468880"/>
          </a:xfrm>
          <a:prstGeom prst="ellipse">
            <a:avLst/>
          </a:prstGeom>
          <a:solidFill>
            <a:srgbClr val="1E2A22"/>
          </a:solidFill>
          <a:ln w="12700">
            <a:solidFill>
              <a:srgbClr val="8A82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0" y="1828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E2E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9144000" y="2331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End-to-End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3611880" cy="2103120"/>
          </a:xfrm>
          <a:prstGeom prst="rect">
            <a:avLst/>
          </a:prstGeom>
          <a:solidFill>
            <a:srgbClr val="E2D8B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690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32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Principle 1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343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Local-first encryption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8006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entry is encrypted on the device before it ever leaves. Personal logs and disaster logs live behind the same key, on the same hardware.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51960" y="3931920"/>
            <a:ext cx="3611880" cy="2103120"/>
          </a:xfrm>
          <a:prstGeom prst="rect">
            <a:avLst/>
          </a:prstGeom>
          <a:solidFill>
            <a:srgbClr val="EEE6D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434840" y="40690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32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Principle 2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434840" y="4343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Peer channels stay peer-only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434840" y="48006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messages between phones are encrypted at the session layer. No provider sees them, even if every relay was hostile.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46720" y="3931920"/>
            <a:ext cx="3611880" cy="2103120"/>
          </a:xfrm>
          <a:prstGeom prst="rect">
            <a:avLst/>
          </a:prstGeom>
          <a:solidFill>
            <a:srgbClr val="1E2A2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0" y="40690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3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Principle 3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343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wipe you control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48006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3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erases the personal layer. One separate tap erases the disaster layer. One tap erases everything. You choose how thin your trail stays.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12700">
            <a:solidFill>
              <a:srgbClr val="8A827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A8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ENCRYPTION IS THE DEFAULT. PRIVACY IS THE ARCHITECTURE, NOT A FEATURE.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E6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A33B2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3EE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Walkthrough · Assumed Scenario, Illustrative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976872" y="1371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3EE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 Earthquake. A Hospital. Four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spc="100" kern="0" dirty="0">
                <a:solidFill>
                  <a:srgbClr val="F3EE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Hours.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32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SIMULATION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08760"/>
            <a:ext cx="7589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hospital, an
</a:t>
            </a:r>
            <a:pPr indent="0" marL="0">
              <a:buNone/>
            </a:pPr>
            <a:r>
              <a:rPr lang="en-US" sz="3200" i="1" dirty="0">
                <a:solidFill>
                  <a:srgbClr val="B3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earthquake</a:t>
            </a:r>
            <a:pPr indent="0" marL="0">
              <a:buNone/>
            </a:pPr>
            <a:r>
              <a:rPr lang="en-US" sz="32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and the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on every phone.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1005840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06:14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7772400" y="2834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Daytime · Occupancy High · Connectivity Lost Within Seconds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3703320"/>
            <a:ext cx="11247120" cy="0"/>
          </a:xfrm>
          <a:prstGeom prst="line">
            <a:avLst/>
          </a:prstGeom>
          <a:noFill/>
          <a:ln w="12700">
            <a:solidFill>
              <a:srgbClr val="8A82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4023360"/>
            <a:ext cx="5303520" cy="1737360"/>
          </a:xfrm>
          <a:prstGeom prst="rect">
            <a:avLst/>
          </a:prstGeom>
          <a:solidFill>
            <a:srgbClr val="EEE6D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160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A8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SCENARIO WE ASSUME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43484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12-floor regional hospital on a Wednesday morning. Rangebound tremor cuts grid power, knocks out two cellular towers, and floods the ER waiting area. Staff, patients, and visitors each carry a personal phone. Each phone holds LifeKeeper.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4023360"/>
            <a:ext cx="5760720" cy="1737360"/>
          </a:xfrm>
          <a:prstGeom prst="rect">
            <a:avLst/>
          </a:prstGeom>
          <a:solidFill>
            <a:srgbClr val="1E2A2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26480" y="4160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A8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 OF THE NEXT SIX HOURS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4434840"/>
            <a:ext cx="5394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will visit four moments, T+0 to T+6h. At each, the app is somewhere different. Battery, signal, mode, rooms filled with people — all of it changes. Watch what the app is doing when its owner’s hands are full.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 to the First Phase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6263640"/>
            <a:ext cx="2743200" cy="164592"/>
          </a:xfrm>
          <a:prstGeom prst="rect">
            <a:avLst/>
          </a:prstGeom>
          <a:solidFill>
            <a:srgbClr val="A33B26"/>
          </a:solidFill>
          <a:ln/>
        </p:spPr>
      </p:sp>
      <p:sp>
        <p:nvSpPr>
          <p:cNvPr id="18" name="Shape 16"/>
          <p:cNvSpPr/>
          <p:nvPr/>
        </p:nvSpPr>
        <p:spPr>
          <a:xfrm>
            <a:off x="3246120" y="6263640"/>
            <a:ext cx="2560320" cy="164592"/>
          </a:xfrm>
          <a:prstGeom prst="rect">
            <a:avLst/>
          </a:prstGeom>
          <a:solidFill>
            <a:srgbClr val="E2D8BE"/>
          </a:solidFill>
          <a:ln/>
        </p:spPr>
      </p:sp>
      <p:sp>
        <p:nvSpPr>
          <p:cNvPr id="19" name="Shape 17"/>
          <p:cNvSpPr/>
          <p:nvPr/>
        </p:nvSpPr>
        <p:spPr>
          <a:xfrm>
            <a:off x="5852160" y="6263640"/>
            <a:ext cx="3108960" cy="164592"/>
          </a:xfrm>
          <a:prstGeom prst="rect">
            <a:avLst/>
          </a:prstGeom>
          <a:solidFill>
            <a:srgbClr val="EEE6D2"/>
          </a:solidFill>
          <a:ln/>
        </p:spPr>
      </p:sp>
      <p:sp>
        <p:nvSpPr>
          <p:cNvPr id="20" name="Shape 18"/>
          <p:cNvSpPr/>
          <p:nvPr/>
        </p:nvSpPr>
        <p:spPr>
          <a:xfrm>
            <a:off x="9006840" y="6263640"/>
            <a:ext cx="2560320" cy="164592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503920" y="6172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8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T+0 · T+15 MIN · T+90 MIN · T+6 H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E6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A33B2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3EE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 of 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+ 0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566160" y="256032"/>
            <a:ext cx="2743200" cy="502920"/>
          </a:xfrm>
          <a:prstGeom prst="rect">
            <a:avLst/>
          </a:prstGeom>
          <a:solidFill>
            <a:srgbClr val="1E2A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703320" y="29260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EE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 · Auto-Switched to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3EE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Emergency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371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3EE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Battery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548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· 100%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549640" y="1371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3EE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Connectivity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8549640" y="365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Tower lost · mesh warming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085832" y="1371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3EE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Phones in Mesh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0085832" y="365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/ 12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32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HAPPENING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150876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shake. Lights out.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long, loud </a:t>
            </a:r>
            <a:endParaRPr lang="en-US" sz="2400" dirty="0"/>
          </a:p>
          <a:p>
            <a:pPr indent="0" marL="0">
              <a:buNone/>
            </a:pPr>
            <a:r>
              <a:rPr lang="en-US" sz="2400" i="1" dirty="0">
                <a:solidFill>
                  <a:srgbClr val="A33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second</a:t>
            </a:r>
            <a:pPr indent="0" marL="0">
              <a:buNone/>
            </a:pPr>
            <a:r>
              <a:rPr lang="en-US" sz="24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74320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 tiles rattle, monitors flicker, the elevator dings open and stays open. People stand up too fast. A nurse behind the reception desk grabs a phone. Within eight seconds, three other phones across the floor also go bright.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0" y="1188720"/>
            <a:ext cx="5330952" cy="3337560"/>
          </a:xfrm>
          <a:prstGeom prst="rect">
            <a:avLst/>
          </a:prstGeom>
          <a:solidFill>
            <a:srgbClr val="1E2A2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0" y="12984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LIFEKEEPER IS DOING, IN THE FIRST 60 SECONDS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1600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Switching modes. Listening. Logging.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21488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32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Auto-engages emergency mode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23682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sustained motion + signal drop. Switches within seconds. No prompt, no settings.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27432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32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Pre-creates incident log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296265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blank “Earthquake, T+0, Floor 3” entry waits for the first tap. Time stamped automatically.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333756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32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Mesh radio warms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355701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phones already on the same floor discover each other over Bluetooth LE. One becomes a relay.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39319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32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 paused, freshness prioritised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41513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radio goes quiet. Local writes only. Battery conserved for the long hours ahead.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4709160"/>
            <a:ext cx="5760720" cy="1600200"/>
          </a:xfrm>
          <a:prstGeom prst="rect">
            <a:avLst/>
          </a:prstGeom>
          <a:solidFill>
            <a:srgbClr val="EEE6D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0080" y="4828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 LOG ENTRIES, T+0:04 TO T+0:38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120640"/>
            <a:ext cx="548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33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T+0:04  Reception · ceiling panels down, one window cracked.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33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T+0:11  Hallway B · IV stand toppled, two patients on the floor.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33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T+0:22  Stairwell · intercom dead. Backup lights on.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33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T+0:38  ER anteroom · three visitors brought in, minor injuries.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0" y="4709160"/>
            <a:ext cx="5330952" cy="1600200"/>
          </a:xfrm>
          <a:prstGeom prst="rect">
            <a:avLst/>
          </a:prstGeom>
          <a:solidFill>
            <a:srgbClr val="EEE6D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83680" y="4828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FLOOR 3, TWELVE PHONES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583680" y="5120640"/>
            <a:ext cx="292608" cy="29260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3" name="Shape 31"/>
          <p:cNvSpPr/>
          <p:nvPr/>
        </p:nvSpPr>
        <p:spPr>
          <a:xfrm>
            <a:off x="6967728" y="5120640"/>
            <a:ext cx="292608" cy="29260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4" name="Shape 32"/>
          <p:cNvSpPr/>
          <p:nvPr/>
        </p:nvSpPr>
        <p:spPr>
          <a:xfrm>
            <a:off x="7351776" y="5120640"/>
            <a:ext cx="292608" cy="29260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35" name="Shape 33"/>
          <p:cNvSpPr/>
          <p:nvPr/>
        </p:nvSpPr>
        <p:spPr>
          <a:xfrm>
            <a:off x="7735824" y="5120640"/>
            <a:ext cx="292608" cy="29260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36" name="Shape 34"/>
          <p:cNvSpPr/>
          <p:nvPr/>
        </p:nvSpPr>
        <p:spPr>
          <a:xfrm>
            <a:off x="6583680" y="5504688"/>
            <a:ext cx="292608" cy="292608"/>
          </a:xfrm>
          <a:prstGeom prst="rect">
            <a:avLst/>
          </a:prstGeom>
          <a:solidFill>
            <a:srgbClr val="E2D8BE"/>
          </a:solidFill>
          <a:ln/>
        </p:spPr>
      </p:sp>
      <p:sp>
        <p:nvSpPr>
          <p:cNvPr id="37" name="Shape 35"/>
          <p:cNvSpPr/>
          <p:nvPr/>
        </p:nvSpPr>
        <p:spPr>
          <a:xfrm>
            <a:off x="6967728" y="5504688"/>
            <a:ext cx="292608" cy="292608"/>
          </a:xfrm>
          <a:prstGeom prst="rect">
            <a:avLst/>
          </a:prstGeom>
          <a:solidFill>
            <a:srgbClr val="E2D8BE"/>
          </a:solidFill>
          <a:ln/>
        </p:spPr>
      </p:sp>
      <p:sp>
        <p:nvSpPr>
          <p:cNvPr id="38" name="Shape 36"/>
          <p:cNvSpPr/>
          <p:nvPr/>
        </p:nvSpPr>
        <p:spPr>
          <a:xfrm>
            <a:off x="7351776" y="5504688"/>
            <a:ext cx="292608" cy="292608"/>
          </a:xfrm>
          <a:prstGeom prst="rect">
            <a:avLst/>
          </a:prstGeom>
          <a:solidFill>
            <a:srgbClr val="E2D8BE"/>
          </a:solidFill>
          <a:ln/>
        </p:spPr>
      </p:sp>
      <p:sp>
        <p:nvSpPr>
          <p:cNvPr id="39" name="Shape 37"/>
          <p:cNvSpPr/>
          <p:nvPr/>
        </p:nvSpPr>
        <p:spPr>
          <a:xfrm>
            <a:off x="7735824" y="5504688"/>
            <a:ext cx="292608" cy="292608"/>
          </a:xfrm>
          <a:prstGeom prst="rect">
            <a:avLst/>
          </a:prstGeom>
          <a:solidFill>
            <a:srgbClr val="E2D8BE"/>
          </a:solidFill>
          <a:ln/>
        </p:spPr>
      </p:sp>
      <p:sp>
        <p:nvSpPr>
          <p:cNvPr id="40" name="Shape 38"/>
          <p:cNvSpPr/>
          <p:nvPr/>
        </p:nvSpPr>
        <p:spPr>
          <a:xfrm>
            <a:off x="6583680" y="5888736"/>
            <a:ext cx="292608" cy="292608"/>
          </a:xfrm>
          <a:prstGeom prst="rect">
            <a:avLst/>
          </a:prstGeom>
          <a:solidFill>
            <a:srgbClr val="E2D8BE"/>
          </a:solidFill>
          <a:ln/>
        </p:spPr>
      </p:sp>
      <p:sp>
        <p:nvSpPr>
          <p:cNvPr id="41" name="Shape 39"/>
          <p:cNvSpPr/>
          <p:nvPr/>
        </p:nvSpPr>
        <p:spPr>
          <a:xfrm>
            <a:off x="6967728" y="5888736"/>
            <a:ext cx="292608" cy="292608"/>
          </a:xfrm>
          <a:prstGeom prst="rect">
            <a:avLst/>
          </a:prstGeom>
          <a:solidFill>
            <a:srgbClr val="E2D8BE"/>
          </a:solidFill>
          <a:ln/>
        </p:spPr>
      </p:sp>
      <p:sp>
        <p:nvSpPr>
          <p:cNvPr id="42" name="Shape 40"/>
          <p:cNvSpPr/>
          <p:nvPr/>
        </p:nvSpPr>
        <p:spPr>
          <a:xfrm>
            <a:off x="7351776" y="5888736"/>
            <a:ext cx="292608" cy="292608"/>
          </a:xfrm>
          <a:prstGeom prst="rect">
            <a:avLst/>
          </a:prstGeom>
          <a:solidFill>
            <a:srgbClr val="E2D8BE"/>
          </a:solidFill>
          <a:ln/>
        </p:spPr>
      </p:sp>
      <p:sp>
        <p:nvSpPr>
          <p:cNvPr id="43" name="Shape 41"/>
          <p:cNvSpPr/>
          <p:nvPr/>
        </p:nvSpPr>
        <p:spPr>
          <a:xfrm>
            <a:off x="7735824" y="5888736"/>
            <a:ext cx="292608" cy="292608"/>
          </a:xfrm>
          <a:prstGeom prst="rect">
            <a:avLst/>
          </a:prstGeom>
          <a:solidFill>
            <a:srgbClr val="E2D8BE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321040" y="51206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In mesh, syncing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Relay, hosting the room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Discoverable, not yet joined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8321040" y="5852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8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grows over the next 14 minutes.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12700">
            <a:solidFill>
              <a:srgbClr val="8A827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A8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T+0 OF 4 PHASES · CUMULATIVE SCENARIO, ILLUSTRATIVE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E6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A33B2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3EE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 of 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+ 15'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566160" y="256032"/>
            <a:ext cx="2743200" cy="502920"/>
          </a:xfrm>
          <a:prstGeom prst="rect">
            <a:avLst/>
          </a:prstGeom>
          <a:solidFill>
            <a:srgbClr val="1E2A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703320" y="29260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EE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 · Emergency Mode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371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3EE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Battery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548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~98% · 2% on radio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549640" y="1371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3EE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Connectivity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8549640" y="365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Mesh live · 8 of 12 joining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085832" y="1371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3EE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Logs In Flight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0085832" y="365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entries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32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HAPPENING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150876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corridor fills.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phones start </a:t>
            </a:r>
            <a:endParaRPr lang="en-US" sz="2400" dirty="0"/>
          </a:p>
          <a:p>
            <a:pPr indent="0" marL="0">
              <a:buNone/>
            </a:pPr>
            <a:r>
              <a:rPr lang="en-US" sz="2400" i="1" dirty="0">
                <a:solidFill>
                  <a:srgbClr val="B3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talking</a:t>
            </a:r>
            <a:pPr indent="0" marL="0">
              <a:buNone/>
            </a:pPr>
            <a:r>
              <a:rPr lang="en-US" sz="24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74320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wounded arrive from the upper floors. A doctor on the second floor takes over the stairwell as a triage zone. Three visitors ask for water. The phones in that room cluster together as one “Floor 2” channel.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160520"/>
            <a:ext cx="5669280" cy="2148840"/>
          </a:xfrm>
          <a:prstGeom prst="rect">
            <a:avLst/>
          </a:prstGeom>
          <a:solidFill>
            <a:srgbClr val="EEE6D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279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IS SUGGESTING · IN THE ROOM RIGHT NOW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5537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Triage prompts · ordered by urgency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5029200"/>
            <a:ext cx="201168" cy="201168"/>
          </a:xfrm>
          <a:prstGeom prst="rect">
            <a:avLst/>
          </a:prstGeom>
          <a:solidFill>
            <a:srgbClr val="A33B2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0120" y="49560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airway, breathing, circulation · marked urgent by Dr. Patel, 2 min ago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5532120"/>
            <a:ext cx="201168" cy="20116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0120" y="54589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two visitors with minor injuries in ER anteroom · 5 min ago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6035040"/>
            <a:ext cx="201168" cy="20116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0120" y="596188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supply check: water, gauze, ibuprofen · 8 min ago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0" y="1188720"/>
            <a:ext cx="5330952" cy="233172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83680" y="129844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3EE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Peer Chat · Floor 2 · 4 In Room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15544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room, one thread, one source of truth.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583680" y="2057400"/>
            <a:ext cx="4114800" cy="502920"/>
          </a:xfrm>
          <a:prstGeom prst="rect">
            <a:avLst/>
          </a:prstGeom>
          <a:solidFill>
            <a:srgbClr val="EEE6D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720840" y="21031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Dr. Patel · 2 min ago</a:t>
            </a:r>
            <a:endParaRPr lang="en-US" sz="750" dirty="0"/>
          </a:p>
        </p:txBody>
      </p:sp>
      <p:sp>
        <p:nvSpPr>
          <p:cNvPr id="30" name="Text 28"/>
          <p:cNvSpPr txBox="1"/>
          <p:nvPr/>
        </p:nvSpPr>
        <p:spPr>
          <a:xfrm>
            <a:off x="6720840" y="2286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Stairwell B is the safe zone. Send walking wounded here.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315200" y="2606040"/>
            <a:ext cx="4206240" cy="502920"/>
          </a:xfrm>
          <a:prstGeom prst="rect">
            <a:avLst/>
          </a:prstGeom>
          <a:solidFill>
            <a:srgbClr val="1E2A2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452360" y="26517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Companion · 1 min ago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7452360" y="2834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water bottles logged low. Should I draft a checklist?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583680" y="3154680"/>
            <a:ext cx="4114800" cy="292608"/>
          </a:xfrm>
          <a:prstGeom prst="rect">
            <a:avLst/>
          </a:prstGeom>
          <a:solidFill>
            <a:srgbClr val="EEE6D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720840" y="31729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Rao, visitor · just now: My mother is on Floor 4. Can someone say if it's safe to go up?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400800" y="3703320"/>
            <a:ext cx="5330952" cy="2606040"/>
          </a:xfrm>
          <a:prstGeom prst="rect">
            <a:avLst/>
          </a:prstGeom>
          <a:solidFill>
            <a:srgbClr val="1E2A2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583680" y="382219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Every Thread, Every Minute · The Same Quiet Companion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6583680" y="40965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small steady voice says: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6583680" y="45262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“You have done enough in the last 15 minutes. Take one breath. Then choose the next small thing.”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0" y="5806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Auto-delivered every 8 minutes · never a notification when hands are full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E6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3EE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3 of 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+ 90'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566160" y="256032"/>
            <a:ext cx="2743200" cy="502920"/>
          </a:xfrm>
          <a:prstGeom prst="rect">
            <a:avLst/>
          </a:prstGeom>
          <a:solidFill>
            <a:srgbClr val="1E2A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703320" y="29260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EE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 · Still Emergency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371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3EE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Battery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548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83% · manageable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549640" y="1371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3EE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8549640" y="365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Mesh stable · 11 of 12 joined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085832" y="1371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3EE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Logs Captured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0085832" y="365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entries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A33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STABILISING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1508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room gets </a:t>
            </a:r>
            <a:pPr indent="0" marL="0">
              <a:buNone/>
            </a:pPr>
            <a:r>
              <a:rPr lang="en-US" sz="2400" i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quieter</a:t>
            </a:r>
            <a:pPr indent="0" marL="0">
              <a:buNone/>
            </a:pPr>
            <a:r>
              <a:rPr lang="en-US" sz="24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The logs get </a:t>
            </a:r>
            <a:pPr indent="0" marL="0">
              <a:buNone/>
            </a:pPr>
            <a:r>
              <a:rPr lang="en-US" sz="2400" i="1" dirty="0">
                <a:solidFill>
                  <a:srgbClr val="B3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denser</a:t>
            </a:r>
            <a:pPr indent="0" marL="0">
              <a:buNone/>
            </a:pPr>
            <a:r>
              <a:rPr lang="en-US" sz="24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1031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rounds begin — a slower tempo. Nurses use the app to count supplies, tag new arrivals, and let the AI draft a status note that any other floor can read when it joins the mesh.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5349240" cy="3429000"/>
          </a:xfrm>
          <a:prstGeom prst="rect">
            <a:avLst/>
          </a:prstGeom>
          <a:solidFill>
            <a:srgbClr val="EEE6D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29992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SUPPLY TRACKER · LIVE, AI-ASSISTED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2735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have and how fast it leaves.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794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Drinking water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0" y="3822192"/>
            <a:ext cx="2743200" cy="201168"/>
          </a:xfrm>
          <a:prstGeom prst="rect">
            <a:avLst/>
          </a:prstGeom>
          <a:solidFill>
            <a:srgbClr val="D8CBA8"/>
          </a:solidFill>
          <a:ln/>
        </p:spPr>
      </p:sp>
      <p:sp>
        <p:nvSpPr>
          <p:cNvPr id="21" name="Shape 19"/>
          <p:cNvSpPr/>
          <p:nvPr/>
        </p:nvSpPr>
        <p:spPr>
          <a:xfrm>
            <a:off x="2286000" y="3822192"/>
            <a:ext cx="822960" cy="20116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120640" y="37947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~30% left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2702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Gauze &amp; bandages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0" y="4297680"/>
            <a:ext cx="2743200" cy="201168"/>
          </a:xfrm>
          <a:prstGeom prst="rect">
            <a:avLst/>
          </a:prstGeom>
          <a:solidFill>
            <a:srgbClr val="D8CBA8"/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4297680"/>
            <a:ext cx="1700784" cy="20116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120640" y="42702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~62% left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47457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Ibuprofen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0" y="4773168"/>
            <a:ext cx="2743200" cy="201168"/>
          </a:xfrm>
          <a:prstGeom prst="rect">
            <a:avLst/>
          </a:prstGeom>
          <a:solidFill>
            <a:srgbClr val="D8CBA8"/>
          </a:solidFill>
          <a:ln/>
        </p:spPr>
      </p:sp>
      <p:sp>
        <p:nvSpPr>
          <p:cNvPr id="29" name="Shape 27"/>
          <p:cNvSpPr/>
          <p:nvPr/>
        </p:nvSpPr>
        <p:spPr>
          <a:xfrm>
            <a:off x="2286000" y="4773168"/>
            <a:ext cx="603504" cy="20116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120640" y="47457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~22% left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52212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Flashlights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286000" y="5248656"/>
            <a:ext cx="2743200" cy="201168"/>
          </a:xfrm>
          <a:prstGeom prst="rect">
            <a:avLst/>
          </a:prstGeom>
          <a:solidFill>
            <a:srgbClr val="D8CBA8"/>
          </a:solidFill>
          <a:ln/>
        </p:spPr>
      </p:sp>
      <p:sp>
        <p:nvSpPr>
          <p:cNvPr id="33" name="Shape 31"/>
          <p:cNvSpPr/>
          <p:nvPr/>
        </p:nvSpPr>
        <p:spPr>
          <a:xfrm>
            <a:off x="2286000" y="5248656"/>
            <a:ext cx="1508760" cy="20116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120640" y="52212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~55% left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56967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Saline bags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286000" y="5724144"/>
            <a:ext cx="2743200" cy="201168"/>
          </a:xfrm>
          <a:prstGeom prst="rect">
            <a:avLst/>
          </a:prstGeom>
          <a:solidFill>
            <a:srgbClr val="D8CBA8"/>
          </a:solidFill>
          <a:ln/>
        </p:spPr>
      </p:sp>
      <p:sp>
        <p:nvSpPr>
          <p:cNvPr id="37" name="Shape 35"/>
          <p:cNvSpPr/>
          <p:nvPr/>
        </p:nvSpPr>
        <p:spPr>
          <a:xfrm>
            <a:off x="2286000" y="5724144"/>
            <a:ext cx="384048" cy="201168"/>
          </a:xfrm>
          <a:prstGeom prst="rect">
            <a:avLst/>
          </a:prstGeom>
          <a:solidFill>
            <a:srgbClr val="A33B2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120640" y="56967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~14% left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989320" y="2880360"/>
            <a:ext cx="5742432" cy="3429000"/>
          </a:xfrm>
          <a:prstGeom prst="rect">
            <a:avLst/>
          </a:prstGeom>
          <a:solidFill>
            <a:srgbClr val="EEE6D2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172200" y="29992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B32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SUMMARY · 90 MINUTES IN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6172200" y="3291840"/>
            <a:ext cx="5394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i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Floor 1: </a:t>
            </a:r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stable, mostly cleared by 11:00.
</a:t>
            </a:r>
            <a:pPr indent="0" marL="0">
              <a:lnSpc>
                <a:spcPct val="125000"/>
              </a:lnSpc>
              <a:buNone/>
            </a:pPr>
            <a:r>
              <a:rPr lang="en-US" sz="1200" b="1" i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Floor 2: </a:t>
            </a:r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walking wounded, 2 unaccompanied. Send another doctor.
</a:t>
            </a:r>
            <a:pPr indent="0" marL="0">
              <a:lnSpc>
                <a:spcPct val="125000"/>
              </a:lnSpc>
              <a:buNone/>
            </a:pPr>
            <a:r>
              <a:rPr lang="en-US" sz="1200" b="1" i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Floor 3: </a:t>
            </a:r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stairwell B holding 11, water running low by 12:30 at this rate.
</a:t>
            </a:r>
            <a:pPr indent="0" marL="0">
              <a:lnSpc>
                <a:spcPct val="125000"/>
              </a:lnSpc>
              <a:buNone/>
            </a:pPr>
            <a:r>
              <a:rPr lang="en-US" sz="1200" b="1" i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Floor 4: </a:t>
            </a:r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structural crack noted, 3 staff choosing to stay with patients.
</a:t>
            </a:r>
            <a:pPr indent="0" marL="0">
              <a:lnSpc>
                <a:spcPct val="125000"/>
              </a:lnSpc>
              <a:buNone/>
            </a:pPr>
            <a:r>
              <a:rPr lang="en-US" sz="1200" b="1" i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Across floors: </a:t>
            </a:r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saline is the bottleneck.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400800" y="5989320"/>
            <a:ext cx="4572000" cy="32004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400800" y="5989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EE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 a copy of this to the next floor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E6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3EE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4 of 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+ 6h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566160" y="256032"/>
            <a:ext cx="2743200" cy="502920"/>
          </a:xfrm>
          <a:prstGeom prst="rect">
            <a:avLst/>
          </a:prstGeom>
          <a:solidFill>
            <a:srgbClr val="1E2A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703320" y="29260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EE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 · Emergency, Sync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3EE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Retrying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371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3EE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Battery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548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~58% · held by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Emergency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549640" y="1371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3EE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8549640" y="365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Tower back · sync retrying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085832" y="1371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3EE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Conflicts Resolved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0085832" y="365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/ 04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RECONNECTING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150876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tower comes </a:t>
            </a:r>
            <a:pPr indent="0" marL="0">
              <a:buNone/>
            </a:pPr>
            <a:r>
              <a:rPr lang="en-US" sz="2400" i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</a:t>
            </a:r>
            <a:pPr indent="0" marL="0">
              <a:buNone/>
            </a:pPr>
            <a:r>
              <a:rPr lang="en-US" sz="24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mesh goes </a:t>
            </a:r>
            <a:endParaRPr lang="en-US" sz="2400" dirty="0"/>
          </a:p>
          <a:p>
            <a:pPr indent="0" marL="0">
              <a:buNone/>
            </a:pPr>
            <a:r>
              <a:rPr lang="en-US" sz="2400" i="1" dirty="0">
                <a:solidFill>
                  <a:srgbClr val="B3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quiet</a:t>
            </a:r>
            <a:pPr indent="0" marL="0">
              <a:buNone/>
            </a:pPr>
            <a:r>
              <a:rPr lang="en-US" sz="24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74320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hour five, one cell tower returns at low strength. The app stops trying to relay. Cloud sync begins quietly in the background. It does not interrupt the work; it catches up the work.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160520"/>
            <a:ext cx="5669280" cy="2331720"/>
          </a:xfrm>
          <a:prstGeom prst="rect">
            <a:avLst/>
          </a:prstGeom>
          <a:solidFill>
            <a:srgbClr val="1E2A2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279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RECOVERY LOOKS LIKE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553712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Logs survive. Voices survive.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day survives.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21208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3EE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A 30-second entry about a cracked window still says “cracked window”.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3EE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Two nurses who tagged the same patient keep their own notes. Both stay.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3EE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A visitor who asked about her mother is still reachable on the same thread.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1722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on every device. Reconciled, never overwritten.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0" y="1188720"/>
            <a:ext cx="5330952" cy="1920240"/>
          </a:xfrm>
          <a:prstGeom prst="rect">
            <a:avLst/>
          </a:prstGeom>
          <a:solidFill>
            <a:srgbClr val="EEE6D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0" y="12984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 ENGINE · THE RECONCILER AT WORK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1572768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devices, three truths,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merged record.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583680" y="2423160"/>
            <a:ext cx="4937760" cy="201168"/>
          </a:xfrm>
          <a:prstGeom prst="rect">
            <a:avLst/>
          </a:prstGeom>
          <a:solidFill>
            <a:srgbClr val="D8CBA8"/>
          </a:solidFill>
          <a:ln/>
        </p:spPr>
      </p:sp>
      <p:sp>
        <p:nvSpPr>
          <p:cNvPr id="25" name="Shape 23"/>
          <p:cNvSpPr/>
          <p:nvPr/>
        </p:nvSpPr>
        <p:spPr>
          <a:xfrm>
            <a:off x="6583680" y="2423160"/>
            <a:ext cx="3999586" cy="20116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83680" y="2697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3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81% synced · 4 conflicts merged · 0 lost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00800" y="3291840"/>
            <a:ext cx="5330952" cy="3200400"/>
          </a:xfrm>
          <a:prstGeom prst="rect">
            <a:avLst/>
          </a:prstGeom>
          <a:solidFill>
            <a:srgbClr val="EEE6D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83680" y="34107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ONE LINE, FROM THE AI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0" y="370332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“You kept each other recorded.</a:t>
            </a:r>
            <a:endParaRPr lang="en-US" sz="1900" dirty="0"/>
          </a:p>
          <a:p>
            <a:pPr indent="0" marL="0">
              <a:buNone/>
            </a:pPr>
            <a:r>
              <a:rPr lang="en-US" sz="1900" b="1" i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network caught up with you,</a:t>
            </a:r>
            <a:endParaRPr lang="en-US" sz="1900" dirty="0"/>
          </a:p>
          <a:p>
            <a:pPr indent="0" marL="0">
              <a:buNone/>
            </a:pPr>
            <a:r>
              <a:rPr lang="en-US" sz="1900" b="1" i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the other way around.”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0" y="6126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Returned to daily mode when connectivity &amp; motion normalise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DE6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323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IT LANDS &amp; WHO CARRIES IT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159752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50" kern="0" dirty="0">
                <a:solidFill>
                  <a:srgbClr val="2323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· IMPACT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1274552" cy="0"/>
          </a:xfrm>
          <a:prstGeom prst="line">
            <a:avLst/>
          </a:prstGeom>
          <a:noFill/>
          <a:ln w="12700">
            <a:solidFill>
              <a:srgbClr val="23232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91440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people.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</a:t>
            </a:r>
            <a:endParaRPr lang="en-US" sz="2800" dirty="0"/>
          </a:p>
          <a:p>
            <a:pPr indent="0" marL="0">
              <a:buNone/>
            </a:pPr>
            <a:r>
              <a:rPr lang="en-US" sz="2800" i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places</a:t>
            </a:r>
            <a:pPr indent="0" marL="0">
              <a:buNone/>
            </a:pPr>
            <a:r>
              <a:rPr lang="en-US" sz="28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it has to </a:t>
            </a:r>
            <a:pPr indent="0" marL="0">
              <a:buNone/>
            </a:pPr>
            <a:r>
              <a:rPr lang="en-US" sz="2800" i="1" dirty="0">
                <a:solidFill>
                  <a:srgbClr val="B3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matter</a:t>
            </a:r>
            <a:pPr indent="0" marL="0">
              <a:buNone/>
            </a:pPr>
            <a:r>
              <a:rPr lang="en-US" sz="28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51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A8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TEAM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4206240" cy="713232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Dhruv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2735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3EE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 &amp; SYNC ENGINEER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44728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3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Peer-to-peer sync, CRDTs, log storage.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3730752"/>
            <a:ext cx="4206240" cy="713232"/>
          </a:xfrm>
          <a:prstGeom prst="rect">
            <a:avLst/>
          </a:prstGeom>
          <a:solidFill>
            <a:srgbClr val="EEE6D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3776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Prateek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403250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DEVELOPER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42062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AI for daily + disaster summarisation.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4489704"/>
            <a:ext cx="4206240" cy="713232"/>
          </a:xfrm>
          <a:prstGeom prst="rect">
            <a:avLst/>
          </a:prstGeom>
          <a:solidFill>
            <a:srgbClr val="EEE6D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45354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Taksheel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479145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 UI / UX DESIGNER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496519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for journaling, chat, and dashboard.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5248656"/>
            <a:ext cx="4206240" cy="71323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5294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Namit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555040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3EE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CYBERSECURITY SPECIALIST</a:t>
            </a:r>
            <a:endParaRPr lang="en-US" sz="7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572414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3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Encryption, secure peer-to-peer comms.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6007608"/>
            <a:ext cx="4206240" cy="713232"/>
          </a:xfrm>
          <a:prstGeom prst="rect">
            <a:avLst/>
          </a:prstGeom>
          <a:solidFill>
            <a:srgbClr val="1E2A2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94360" y="6053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Yuvraj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63093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3EE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LEAD</a:t>
            </a:r>
            <a:endParaRPr lang="en-US" sz="7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64830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3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the demo path end-to-end.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4937760" y="2651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A33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IT LANDS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937760" y="292608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places where </a:t>
            </a:r>
            <a:pPr indent="0" marL="0">
              <a:buNone/>
            </a:pPr>
            <a:r>
              <a:rPr lang="en-US" sz="1700" i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resilience</a:t>
            </a:r>
            <a:pPr indent="0" marL="0">
              <a:buNone/>
            </a:pPr>
            <a:r>
              <a:rPr lang="en-US" sz="17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stops being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abstract.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4937760" y="3749040"/>
            <a:ext cx="6766560" cy="512064"/>
          </a:xfrm>
          <a:prstGeom prst="rect">
            <a:avLst/>
          </a:prstGeom>
          <a:solidFill>
            <a:srgbClr val="EEE6D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074920" y="38221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0" y="384048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life · journaling, idea capture, offline productivity.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937760" y="4306824"/>
            <a:ext cx="6766560" cy="512064"/>
          </a:xfrm>
          <a:prstGeom prst="rect">
            <a:avLst/>
          </a:prstGeom>
          <a:solidFill>
            <a:srgbClr val="E2D8B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074920" y="43799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0" y="4398264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Disaster zones · relief workers coordinate without internet.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937760" y="4864608"/>
            <a:ext cx="6766560" cy="512064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074920" y="4937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5669280" y="4956048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Healthcare emergencies · offline patient triage and AI support.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937760" y="5422392"/>
            <a:ext cx="6766560" cy="512064"/>
          </a:xfrm>
          <a:prstGeom prst="rect">
            <a:avLst/>
          </a:prstGeom>
          <a:solidFill>
            <a:srgbClr val="EEE6D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074920" y="54955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5669280" y="5513832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3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resilience · neighbours share info during blackouts.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937760" y="5980176"/>
            <a:ext cx="6766560" cy="512064"/>
          </a:xfrm>
          <a:prstGeom prst="rect">
            <a:avLst/>
          </a:prstGeom>
          <a:solidFill>
            <a:srgbClr val="1E2A22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074920" y="60533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5669280" y="6071616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E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 infrastructure · outage logs synced locally first.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2026-09-12T10:33:44Z</dcterms:created>
  <dcterms:modified xsi:type="dcterms:W3CDTF">2026-09-12T10:33:44Z</dcterms:modified>
</cp:coreProperties>
</file>