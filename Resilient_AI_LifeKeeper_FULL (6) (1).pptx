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 name="Google Shape;3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 name="Google Shape;3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 name="Google Shape;6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 name="Google Shape;6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6D5"/>
        </a:solidFill>
      </p:bgPr>
    </p:bg>
    <p:spTree>
      <p:nvGrpSpPr>
        <p:cNvPr id="15" name="Shape 15"/>
        <p:cNvGrpSpPr/>
        <p:nvPr/>
      </p:nvGrpSpPr>
      <p:grpSpPr>
        <a:xfrm>
          <a:off x="0" y="0"/>
          <a:ext cx="0" cy="0"/>
          <a:chOff x="0" y="0"/>
          <a:chExt cx="0" cy="0"/>
        </a:xfrm>
      </p:grpSpPr>
      <p:sp>
        <p:nvSpPr>
          <p:cNvPr id="16" name="Google Shape;16;p3"/>
          <p:cNvSpPr txBox="1"/>
          <p:nvPr/>
        </p:nvSpPr>
        <p:spPr>
          <a:xfrm>
            <a:off x="457200" y="3200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1000"/>
              <a:buFont typeface="Consolas"/>
              <a:buNone/>
            </a:pPr>
            <a:r>
              <a:rPr b="1" i="0" lang="en-US" sz="1000" u="none" cap="none" strike="noStrike">
                <a:solidFill>
                  <a:srgbClr val="232323"/>
                </a:solidFill>
                <a:latin typeface="Consolas"/>
                <a:ea typeface="Consolas"/>
                <a:cs typeface="Consolas"/>
                <a:sym typeface="Consolas"/>
              </a:rPr>
              <a:t>RESILIENT COMPANION · PROJECT BRIEF</a:t>
            </a:r>
            <a:endParaRPr b="0" i="0" sz="1000" u="none" cap="none" strike="noStrike">
              <a:solidFill>
                <a:schemeClr val="dk1"/>
              </a:solidFill>
              <a:latin typeface="Calibri"/>
              <a:ea typeface="Calibri"/>
              <a:cs typeface="Calibri"/>
              <a:sym typeface="Calibri"/>
            </a:endParaRPr>
          </a:p>
        </p:txBody>
      </p:sp>
      <p:sp>
        <p:nvSpPr>
          <p:cNvPr id="17" name="Google Shape;17;p3"/>
          <p:cNvSpPr txBox="1"/>
          <p:nvPr/>
        </p:nvSpPr>
        <p:spPr>
          <a:xfrm>
            <a:off x="7159752" y="320040"/>
            <a:ext cx="45720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32323"/>
              </a:buClr>
              <a:buSzPts val="1000"/>
              <a:buFont typeface="Consolas"/>
              <a:buNone/>
            </a:pPr>
            <a:r>
              <a:rPr b="1" i="0" lang="en-US" sz="1000" u="none" cap="none" strike="noStrike">
                <a:solidFill>
                  <a:srgbClr val="232323"/>
                </a:solidFill>
                <a:latin typeface="Consolas"/>
                <a:ea typeface="Consolas"/>
                <a:cs typeface="Consolas"/>
                <a:sym typeface="Consolas"/>
              </a:rPr>
              <a:t>THEME · RESILIENCE</a:t>
            </a:r>
            <a:endParaRPr b="0" i="0" sz="1000" u="none" cap="none" strike="noStrike">
              <a:solidFill>
                <a:schemeClr val="dk1"/>
              </a:solidFill>
              <a:latin typeface="Calibri"/>
              <a:ea typeface="Calibri"/>
              <a:cs typeface="Calibri"/>
              <a:sym typeface="Calibri"/>
            </a:endParaRPr>
          </a:p>
        </p:txBody>
      </p:sp>
      <p:cxnSp>
        <p:nvCxnSpPr>
          <p:cNvPr id="18" name="Google Shape;18;p3"/>
          <p:cNvCxnSpPr/>
          <p:nvPr/>
        </p:nvCxnSpPr>
        <p:spPr>
          <a:xfrm>
            <a:off x="457200" y="685800"/>
            <a:ext cx="11274552" cy="0"/>
          </a:xfrm>
          <a:prstGeom prst="straightConnector1">
            <a:avLst/>
          </a:prstGeom>
          <a:noFill/>
          <a:ln cap="flat" cmpd="sng" w="12700">
            <a:solidFill>
              <a:srgbClr val="232323"/>
            </a:solidFill>
            <a:prstDash val="solid"/>
            <a:round/>
            <a:headEnd len="sm" w="sm" type="none"/>
            <a:tailEnd len="sm" w="sm" type="none"/>
          </a:ln>
        </p:spPr>
      </p:cxnSp>
      <p:sp>
        <p:nvSpPr>
          <p:cNvPr id="19" name="Google Shape;19;p3"/>
          <p:cNvSpPr txBox="1"/>
          <p:nvPr/>
        </p:nvSpPr>
        <p:spPr>
          <a:xfrm>
            <a:off x="457200" y="10058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261E"/>
              </a:buClr>
              <a:buSzPts val="1000"/>
              <a:buFont typeface="Consolas"/>
              <a:buNone/>
            </a:pPr>
            <a:r>
              <a:rPr b="1" i="0" lang="en-US" sz="1000" u="none" cap="none" strike="noStrike">
                <a:solidFill>
                  <a:srgbClr val="B3261E"/>
                </a:solidFill>
                <a:latin typeface="Consolas"/>
                <a:ea typeface="Consolas"/>
                <a:cs typeface="Consolas"/>
                <a:sym typeface="Consolas"/>
              </a:rPr>
              <a:t>AN OFFLINE-FIRST AI APP</a:t>
            </a:r>
            <a:endParaRPr b="0" i="0" sz="1000" u="none" cap="none" strike="noStrike">
              <a:solidFill>
                <a:schemeClr val="dk1"/>
              </a:solidFill>
              <a:latin typeface="Calibri"/>
              <a:ea typeface="Calibri"/>
              <a:cs typeface="Calibri"/>
              <a:sym typeface="Calibri"/>
            </a:endParaRPr>
          </a:p>
        </p:txBody>
      </p:sp>
      <p:sp>
        <p:nvSpPr>
          <p:cNvPr id="20" name="Google Shape;20;p3"/>
          <p:cNvSpPr txBox="1"/>
          <p:nvPr/>
        </p:nvSpPr>
        <p:spPr>
          <a:xfrm>
            <a:off x="457200" y="1371600"/>
            <a:ext cx="7772400" cy="2011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4600"/>
              <a:buFont typeface="Georgia"/>
              <a:buNone/>
            </a:pPr>
            <a:r>
              <a:rPr b="1" i="0" lang="en-US" sz="4600" u="none" cap="none" strike="noStrike">
                <a:solidFill>
                  <a:srgbClr val="232323"/>
                </a:solidFill>
                <a:latin typeface="Georgia"/>
                <a:ea typeface="Georgia"/>
                <a:cs typeface="Georgia"/>
                <a:sym typeface="Georgia"/>
              </a:rPr>
              <a:t>Resilient AI</a:t>
            </a:r>
            <a:br>
              <a:rPr b="1" i="0" lang="en-US" sz="4600" u="none" cap="none" strike="noStrike">
                <a:solidFill>
                  <a:srgbClr val="232323"/>
                </a:solidFill>
                <a:latin typeface="Georgia"/>
                <a:ea typeface="Georgia"/>
                <a:cs typeface="Georgia"/>
                <a:sym typeface="Georgia"/>
              </a:rPr>
            </a:br>
            <a:r>
              <a:rPr b="0" i="1" lang="en-US" sz="4600" u="none" cap="none" strike="noStrike">
                <a:solidFill>
                  <a:srgbClr val="232323"/>
                </a:solidFill>
                <a:latin typeface="Georgia"/>
                <a:ea typeface="Georgia"/>
                <a:cs typeface="Georgia"/>
                <a:sym typeface="Georgia"/>
              </a:rPr>
              <a:t>LifeKeeper.</a:t>
            </a:r>
            <a:endParaRPr b="0" i="0" sz="4600" u="none" cap="none" strike="noStrike">
              <a:solidFill>
                <a:schemeClr val="dk1"/>
              </a:solidFill>
              <a:latin typeface="Calibri"/>
              <a:ea typeface="Calibri"/>
              <a:cs typeface="Calibri"/>
              <a:sym typeface="Calibri"/>
            </a:endParaRPr>
          </a:p>
        </p:txBody>
      </p:sp>
      <p:sp>
        <p:nvSpPr>
          <p:cNvPr id="21" name="Google Shape;21;p3"/>
          <p:cNvSpPr/>
          <p:nvPr/>
        </p:nvSpPr>
        <p:spPr>
          <a:xfrm>
            <a:off x="8229600" y="822960"/>
            <a:ext cx="3108960" cy="3108960"/>
          </a:xfrm>
          <a:prstGeom prst="ellipse">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a:off x="9692640" y="2103120"/>
            <a:ext cx="2011680" cy="2011680"/>
          </a:xfrm>
          <a:prstGeom prst="ellipse">
            <a:avLst/>
          </a:prstGeom>
          <a:solidFill>
            <a:srgbClr val="B32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a:off x="11430000" y="3566160"/>
            <a:ext cx="457200" cy="457200"/>
          </a:xfrm>
          <a:prstGeom prst="ellipse">
            <a:avLst/>
          </a:prstGeom>
          <a:solidFill>
            <a:srgbClr val="A33B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txBox="1"/>
          <p:nvPr/>
        </p:nvSpPr>
        <p:spPr>
          <a:xfrm>
            <a:off x="9784080" y="1005840"/>
            <a:ext cx="14630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1500"/>
              <a:buFont typeface="Georgia"/>
              <a:buNone/>
            </a:pPr>
            <a:r>
              <a:rPr b="1" i="1" lang="en-US" sz="1500" u="none" cap="none" strike="noStrike">
                <a:solidFill>
                  <a:srgbClr val="232323"/>
                </a:solidFill>
                <a:latin typeface="Georgia"/>
                <a:ea typeface="Georgia"/>
                <a:cs typeface="Georgia"/>
                <a:sym typeface="Georgia"/>
              </a:rPr>
              <a:t>keep</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32323"/>
              </a:buClr>
              <a:buSzPts val="1500"/>
              <a:buFont typeface="Georgia"/>
              <a:buNone/>
            </a:pPr>
            <a:r>
              <a:rPr b="1" i="1" lang="en-US" sz="1500" u="none" cap="none" strike="noStrike">
                <a:solidFill>
                  <a:srgbClr val="232323"/>
                </a:solidFill>
                <a:latin typeface="Georgia"/>
                <a:ea typeface="Georgia"/>
                <a:cs typeface="Georgia"/>
                <a:sym typeface="Georgia"/>
              </a:rPr>
              <a:t>going</a:t>
            </a:r>
            <a:endParaRPr b="0" i="0" sz="1500" u="none" cap="none" strike="noStrike">
              <a:solidFill>
                <a:schemeClr val="dk1"/>
              </a:solidFill>
              <a:latin typeface="Calibri"/>
              <a:ea typeface="Calibri"/>
              <a:cs typeface="Calibri"/>
              <a:sym typeface="Calibri"/>
            </a:endParaRPr>
          </a:p>
        </p:txBody>
      </p:sp>
      <p:sp>
        <p:nvSpPr>
          <p:cNvPr id="25" name="Google Shape;25;p3"/>
          <p:cNvSpPr txBox="1"/>
          <p:nvPr/>
        </p:nvSpPr>
        <p:spPr>
          <a:xfrm>
            <a:off x="457200" y="3566160"/>
            <a:ext cx="548640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323"/>
              </a:buClr>
              <a:buSzPts val="1300"/>
              <a:buFont typeface="Calibri"/>
              <a:buNone/>
            </a:pPr>
            <a:r>
              <a:rPr b="0" i="0" lang="en-US" sz="1300" u="none" cap="none" strike="noStrike">
                <a:solidFill>
                  <a:srgbClr val="232323"/>
                </a:solidFill>
                <a:latin typeface="Calibri"/>
                <a:ea typeface="Calibri"/>
                <a:cs typeface="Calibri"/>
                <a:sym typeface="Calibri"/>
              </a:rPr>
              <a:t>Your everyday journal and your emergency network rolled into one. It keeps ideas, thoughts, and daily logs safe — and when disaster strikes it becomes a lifeline, even with no internet, no problem.</a:t>
            </a:r>
            <a:endParaRPr b="0" i="0" sz="1300" u="none" cap="none" strike="noStrike">
              <a:solidFill>
                <a:schemeClr val="dk1"/>
              </a:solidFill>
              <a:latin typeface="Calibri"/>
              <a:ea typeface="Calibri"/>
              <a:cs typeface="Calibri"/>
              <a:sym typeface="Calibri"/>
            </a:endParaRPr>
          </a:p>
        </p:txBody>
      </p:sp>
      <p:sp>
        <p:nvSpPr>
          <p:cNvPr id="26" name="Google Shape;26;p3"/>
          <p:cNvSpPr/>
          <p:nvPr/>
        </p:nvSpPr>
        <p:spPr>
          <a:xfrm>
            <a:off x="457200" y="5029200"/>
            <a:ext cx="2194560" cy="685800"/>
          </a:xfrm>
          <a:prstGeom prst="rect">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txBox="1"/>
          <p:nvPr/>
        </p:nvSpPr>
        <p:spPr>
          <a:xfrm>
            <a:off x="640080" y="5120640"/>
            <a:ext cx="1920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900"/>
              <a:buFont typeface="Consolas"/>
              <a:buNone/>
            </a:pPr>
            <a:r>
              <a:rPr b="0" i="0" lang="en-US" sz="900" u="none" cap="none" strike="noStrike">
                <a:solidFill>
                  <a:srgbClr val="F3EEDF"/>
                </a:solidFill>
                <a:latin typeface="Consolas"/>
                <a:ea typeface="Consolas"/>
                <a:cs typeface="Consolas"/>
                <a:sym typeface="Consolas"/>
              </a:rPr>
              <a:t>MODE · A</a:t>
            </a:r>
            <a:br>
              <a:rPr b="0" i="0" lang="en-US" sz="900" u="none" cap="none" strike="noStrike">
                <a:solidFill>
                  <a:srgbClr val="F3EEDF"/>
                </a:solidFill>
                <a:latin typeface="Consolas"/>
                <a:ea typeface="Consolas"/>
                <a:cs typeface="Consolas"/>
                <a:sym typeface="Consolas"/>
              </a:rPr>
            </a:br>
            <a:r>
              <a:rPr b="1" i="0" lang="en-US" sz="1500" u="none" cap="none" strike="noStrike">
                <a:solidFill>
                  <a:srgbClr val="F3EEDF"/>
                </a:solidFill>
                <a:latin typeface="Georgia"/>
                <a:ea typeface="Georgia"/>
                <a:cs typeface="Georgia"/>
                <a:sym typeface="Georgia"/>
              </a:rPr>
              <a:t>Daily Mode</a:t>
            </a:r>
            <a:endParaRPr b="0" i="0" sz="900" u="none" cap="none" strike="noStrike">
              <a:solidFill>
                <a:schemeClr val="dk1"/>
              </a:solidFill>
              <a:latin typeface="Calibri"/>
              <a:ea typeface="Calibri"/>
              <a:cs typeface="Calibri"/>
              <a:sym typeface="Calibri"/>
            </a:endParaRPr>
          </a:p>
        </p:txBody>
      </p:sp>
      <p:sp>
        <p:nvSpPr>
          <p:cNvPr id="28" name="Google Shape;28;p3"/>
          <p:cNvSpPr/>
          <p:nvPr/>
        </p:nvSpPr>
        <p:spPr>
          <a:xfrm>
            <a:off x="2788920" y="5029200"/>
            <a:ext cx="2377440" cy="685800"/>
          </a:xfrm>
          <a:prstGeom prst="rect">
            <a:avLst/>
          </a:prstGeom>
          <a:solidFill>
            <a:srgbClr val="B32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txBox="1"/>
          <p:nvPr/>
        </p:nvSpPr>
        <p:spPr>
          <a:xfrm>
            <a:off x="2971800" y="5120640"/>
            <a:ext cx="21031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900"/>
              <a:buFont typeface="Consolas"/>
              <a:buNone/>
            </a:pPr>
            <a:r>
              <a:rPr b="0" i="0" lang="en-US" sz="900" u="none" cap="none" strike="noStrike">
                <a:solidFill>
                  <a:srgbClr val="F3EEDF"/>
                </a:solidFill>
                <a:latin typeface="Consolas"/>
                <a:ea typeface="Consolas"/>
                <a:cs typeface="Consolas"/>
                <a:sym typeface="Consolas"/>
              </a:rPr>
              <a:t>MODE · B</a:t>
            </a:r>
            <a:br>
              <a:rPr b="0" i="0" lang="en-US" sz="900" u="none" cap="none" strike="noStrike">
                <a:solidFill>
                  <a:srgbClr val="F3EEDF"/>
                </a:solidFill>
                <a:latin typeface="Consolas"/>
                <a:ea typeface="Consolas"/>
                <a:cs typeface="Consolas"/>
                <a:sym typeface="Consolas"/>
              </a:rPr>
            </a:br>
            <a:r>
              <a:rPr b="1" i="0" lang="en-US" sz="1500" u="none" cap="none" strike="noStrike">
                <a:solidFill>
                  <a:srgbClr val="F3EEDF"/>
                </a:solidFill>
                <a:latin typeface="Georgia"/>
                <a:ea typeface="Georgia"/>
                <a:cs typeface="Georgia"/>
                <a:sym typeface="Georgia"/>
              </a:rPr>
              <a:t>Emergency Mode</a:t>
            </a:r>
            <a:endParaRPr b="0" i="0" sz="900" u="none" cap="none" strike="noStrike">
              <a:solidFill>
                <a:schemeClr val="dk1"/>
              </a:solidFill>
              <a:latin typeface="Calibri"/>
              <a:ea typeface="Calibri"/>
              <a:cs typeface="Calibri"/>
              <a:sym typeface="Calibri"/>
            </a:endParaRPr>
          </a:p>
        </p:txBody>
      </p:sp>
      <p:sp>
        <p:nvSpPr>
          <p:cNvPr id="30" name="Google Shape;30;p3"/>
          <p:cNvSpPr txBox="1"/>
          <p:nvPr/>
        </p:nvSpPr>
        <p:spPr>
          <a:xfrm>
            <a:off x="5486400" y="5120640"/>
            <a:ext cx="4114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270"/>
              </a:buClr>
              <a:buSzPts val="900"/>
              <a:buFont typeface="Consolas"/>
              <a:buNone/>
            </a:pPr>
            <a:r>
              <a:rPr b="0" i="0" lang="en-US" sz="900" u="none" cap="none" strike="noStrike">
                <a:solidFill>
                  <a:srgbClr val="8A8270"/>
                </a:solidFill>
                <a:latin typeface="Consolas"/>
                <a:ea typeface="Consolas"/>
                <a:cs typeface="Consolas"/>
                <a:sym typeface="Consolas"/>
              </a:rPr>
              <a:t>Power Profile</a:t>
            </a:r>
            <a:br>
              <a:rPr b="0" i="0" lang="en-US" sz="900" u="none" cap="none" strike="noStrike">
                <a:solidFill>
                  <a:srgbClr val="8A8270"/>
                </a:solidFill>
                <a:latin typeface="Consolas"/>
                <a:ea typeface="Consolas"/>
                <a:cs typeface="Consolas"/>
                <a:sym typeface="Consolas"/>
              </a:rPr>
            </a:br>
            <a:r>
              <a:rPr b="0" i="1" lang="en-US" sz="1200" u="none" cap="none" strike="noStrike">
                <a:solidFill>
                  <a:srgbClr val="232323"/>
                </a:solidFill>
                <a:latin typeface="Georgia"/>
                <a:ea typeface="Georgia"/>
                <a:cs typeface="Georgia"/>
                <a:sym typeface="Georgia"/>
              </a:rPr>
              <a:t>Daily draws more. Emergency draws less.</a:t>
            </a:r>
            <a:endParaRPr b="0" i="0" sz="900" u="none" cap="none" strike="noStrike">
              <a:solidFill>
                <a:schemeClr val="dk1"/>
              </a:solidFill>
              <a:latin typeface="Calibri"/>
              <a:ea typeface="Calibri"/>
              <a:cs typeface="Calibri"/>
              <a:sym typeface="Calibri"/>
            </a:endParaRPr>
          </a:p>
        </p:txBody>
      </p:sp>
      <p:cxnSp>
        <p:nvCxnSpPr>
          <p:cNvPr id="31" name="Google Shape;31;p3"/>
          <p:cNvCxnSpPr/>
          <p:nvPr/>
        </p:nvCxnSpPr>
        <p:spPr>
          <a:xfrm>
            <a:off x="457200" y="6400800"/>
            <a:ext cx="11274552" cy="0"/>
          </a:xfrm>
          <a:prstGeom prst="straightConnector1">
            <a:avLst/>
          </a:prstGeom>
          <a:noFill/>
          <a:ln cap="flat" cmpd="sng" w="12700">
            <a:solidFill>
              <a:srgbClr val="8A8270"/>
            </a:solidFill>
            <a:prstDash val="solid"/>
            <a:round/>
            <a:headEnd len="sm" w="sm" type="none"/>
            <a:tailEnd len="sm" w="sm" type="none"/>
          </a:ln>
        </p:spPr>
      </p:cxnSp>
      <p:sp>
        <p:nvSpPr>
          <p:cNvPr id="32" name="Google Shape;32;p3"/>
          <p:cNvSpPr txBox="1"/>
          <p:nvPr/>
        </p:nvSpPr>
        <p:spPr>
          <a:xfrm>
            <a:off x="0" y="7040865"/>
            <a:ext cx="8229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270"/>
              </a:buClr>
              <a:buSzPts val="850"/>
              <a:buFont typeface="Consolas"/>
              <a:buNone/>
            </a:pPr>
            <a:r>
              <a:rPr b="1" i="0" lang="en-US" sz="850" u="none" cap="none" strike="noStrike">
                <a:solidFill>
                  <a:srgbClr val="8A8270"/>
                </a:solidFill>
                <a:latin typeface="Consolas"/>
                <a:ea typeface="Consolas"/>
                <a:cs typeface="Consolas"/>
                <a:sym typeface="Consolas"/>
              </a:rPr>
              <a:t>A WALKTHROUGH OF CONCEPT, CAPABILITY, AND A HOSPITAL EARTHQUAKE</a:t>
            </a:r>
            <a:endParaRPr b="0" i="0" sz="850" u="none" cap="none" strike="noStrike">
              <a:solidFill>
                <a:schemeClr val="dk1"/>
              </a:solidFill>
              <a:latin typeface="Calibri"/>
              <a:ea typeface="Calibri"/>
              <a:cs typeface="Calibri"/>
              <a:sym typeface="Calibri"/>
            </a:endParaRPr>
          </a:p>
        </p:txBody>
      </p:sp>
      <p:sp>
        <p:nvSpPr>
          <p:cNvPr id="33" name="Google Shape;33;p3"/>
          <p:cNvSpPr txBox="1"/>
          <p:nvPr/>
        </p:nvSpPr>
        <p:spPr>
          <a:xfrm>
            <a:off x="9445752" y="6492240"/>
            <a:ext cx="22860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8270"/>
              </a:buClr>
              <a:buSzPts val="850"/>
              <a:buFont typeface="Consolas"/>
              <a:buNone/>
            </a:pPr>
            <a:r>
              <a:rPr b="1" i="0" lang="en-US" sz="850" u="none" cap="none" strike="noStrike">
                <a:solidFill>
                  <a:srgbClr val="8A8270"/>
                </a:solidFill>
                <a:latin typeface="Consolas"/>
                <a:ea typeface="Consolas"/>
                <a:cs typeface="Consolas"/>
                <a:sym typeface="Consolas"/>
              </a:rPr>
              <a:t>COVER</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6D5"/>
        </a:solidFill>
      </p:bgPr>
    </p:bg>
    <p:spTree>
      <p:nvGrpSpPr>
        <p:cNvPr id="38" name="Shape 38"/>
        <p:cNvGrpSpPr/>
        <p:nvPr/>
      </p:nvGrpSpPr>
      <p:grpSpPr>
        <a:xfrm>
          <a:off x="0" y="0"/>
          <a:ext cx="0" cy="0"/>
          <a:chOff x="0" y="0"/>
          <a:chExt cx="0" cy="0"/>
        </a:xfrm>
      </p:grpSpPr>
      <p:sp>
        <p:nvSpPr>
          <p:cNvPr id="39" name="Google Shape;39;p4"/>
          <p:cNvSpPr txBox="1"/>
          <p:nvPr/>
        </p:nvSpPr>
        <p:spPr>
          <a:xfrm>
            <a:off x="457200" y="3200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1000"/>
              <a:buFont typeface="Consolas"/>
              <a:buNone/>
            </a:pPr>
            <a:r>
              <a:rPr b="1" i="0" lang="en-US" sz="1000" u="none" cap="none" strike="noStrike">
                <a:solidFill>
                  <a:srgbClr val="232323"/>
                </a:solidFill>
                <a:latin typeface="Consolas"/>
                <a:ea typeface="Consolas"/>
                <a:cs typeface="Consolas"/>
                <a:sym typeface="Consolas"/>
              </a:rPr>
              <a:t>THE NEED</a:t>
            </a:r>
            <a:endParaRPr b="0" i="0" sz="1000" u="none" cap="none" strike="noStrike">
              <a:solidFill>
                <a:schemeClr val="dk1"/>
              </a:solidFill>
              <a:latin typeface="Calibri"/>
              <a:ea typeface="Calibri"/>
              <a:cs typeface="Calibri"/>
              <a:sym typeface="Calibri"/>
            </a:endParaRPr>
          </a:p>
        </p:txBody>
      </p:sp>
      <p:sp>
        <p:nvSpPr>
          <p:cNvPr id="40" name="Google Shape;40;p4"/>
          <p:cNvSpPr txBox="1"/>
          <p:nvPr/>
        </p:nvSpPr>
        <p:spPr>
          <a:xfrm>
            <a:off x="7159752" y="320040"/>
            <a:ext cx="45720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32323"/>
              </a:buClr>
              <a:buSzPts val="1000"/>
              <a:buFont typeface="Consolas"/>
              <a:buNone/>
            </a:pPr>
            <a:r>
              <a:rPr b="1" i="0" lang="en-US" sz="1000" u="none" cap="none" strike="noStrike">
                <a:solidFill>
                  <a:srgbClr val="232323"/>
                </a:solidFill>
                <a:latin typeface="Consolas"/>
                <a:ea typeface="Consolas"/>
                <a:cs typeface="Consolas"/>
                <a:sym typeface="Consolas"/>
              </a:rPr>
              <a:t>WHY THIS EXISTS</a:t>
            </a:r>
            <a:endParaRPr b="0" i="0" sz="1000" u="none" cap="none" strike="noStrike">
              <a:solidFill>
                <a:schemeClr val="dk1"/>
              </a:solidFill>
              <a:latin typeface="Calibri"/>
              <a:ea typeface="Calibri"/>
              <a:cs typeface="Calibri"/>
              <a:sym typeface="Calibri"/>
            </a:endParaRPr>
          </a:p>
        </p:txBody>
      </p:sp>
      <p:cxnSp>
        <p:nvCxnSpPr>
          <p:cNvPr id="41" name="Google Shape;41;p4"/>
          <p:cNvCxnSpPr/>
          <p:nvPr/>
        </p:nvCxnSpPr>
        <p:spPr>
          <a:xfrm>
            <a:off x="457200" y="685800"/>
            <a:ext cx="11274552" cy="0"/>
          </a:xfrm>
          <a:prstGeom prst="straightConnector1">
            <a:avLst/>
          </a:prstGeom>
          <a:noFill/>
          <a:ln cap="flat" cmpd="sng" w="12700">
            <a:solidFill>
              <a:srgbClr val="232323"/>
            </a:solidFill>
            <a:prstDash val="solid"/>
            <a:round/>
            <a:headEnd len="sm" w="sm" type="none"/>
            <a:tailEnd len="sm" w="sm" type="none"/>
          </a:ln>
        </p:spPr>
      </p:cxnSp>
      <p:sp>
        <p:nvSpPr>
          <p:cNvPr id="42" name="Google Shape;42;p4"/>
          <p:cNvSpPr txBox="1"/>
          <p:nvPr/>
        </p:nvSpPr>
        <p:spPr>
          <a:xfrm>
            <a:off x="457200" y="914400"/>
            <a:ext cx="7772400" cy="1554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3000"/>
              <a:buFont typeface="Georgia"/>
              <a:buNone/>
            </a:pPr>
            <a:r>
              <a:rPr b="1" i="0" lang="en-US" sz="3000" u="none" cap="none" strike="noStrike">
                <a:solidFill>
                  <a:srgbClr val="232323"/>
                </a:solidFill>
                <a:latin typeface="Georgia"/>
                <a:ea typeface="Georgia"/>
                <a:cs typeface="Georgia"/>
                <a:sym typeface="Georgia"/>
              </a:rPr>
              <a:t>Every disaster </a:t>
            </a:r>
            <a:r>
              <a:rPr b="0" i="1" lang="en-US" sz="3000" u="none" cap="none" strike="noStrike">
                <a:solidFill>
                  <a:srgbClr val="A33B26"/>
                </a:solidFill>
                <a:latin typeface="Georgia"/>
                <a:ea typeface="Georgia"/>
                <a:cs typeface="Georgia"/>
                <a:sym typeface="Georgia"/>
              </a:rPr>
              <a:t>repeats</a:t>
            </a:r>
            <a:r>
              <a:rPr b="1" i="0" lang="en-US" sz="3000" u="none" cap="none" strike="noStrike">
                <a:solidFill>
                  <a:srgbClr val="232323"/>
                </a:solidFill>
                <a:latin typeface="Georgia"/>
                <a:ea typeface="Georgia"/>
                <a:cs typeface="Georgia"/>
                <a:sym typeface="Georgia"/>
              </a:rPr>
              <a:t> the same</a:t>
            </a:r>
            <a:endParaRPr b="0" i="0" sz="3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32323"/>
              </a:buClr>
              <a:buSzPts val="3000"/>
              <a:buFont typeface="Georgia"/>
              <a:buNone/>
            </a:pPr>
            <a:r>
              <a:rPr b="1" i="0" lang="en-US" sz="3000" u="none" cap="none" strike="noStrike">
                <a:solidFill>
                  <a:srgbClr val="232323"/>
                </a:solidFill>
                <a:latin typeface="Georgia"/>
                <a:ea typeface="Georgia"/>
                <a:cs typeface="Georgia"/>
                <a:sym typeface="Georgia"/>
              </a:rPr>
              <a:t>failure.</a:t>
            </a:r>
            <a:endParaRPr b="0" i="0" sz="3000" u="none" cap="none" strike="noStrike">
              <a:solidFill>
                <a:schemeClr val="dk1"/>
              </a:solidFill>
              <a:latin typeface="Calibri"/>
              <a:ea typeface="Calibri"/>
              <a:cs typeface="Calibri"/>
              <a:sym typeface="Calibri"/>
            </a:endParaRPr>
          </a:p>
        </p:txBody>
      </p:sp>
      <p:sp>
        <p:nvSpPr>
          <p:cNvPr id="43" name="Google Shape;43;p4"/>
          <p:cNvSpPr txBox="1"/>
          <p:nvPr/>
        </p:nvSpPr>
        <p:spPr>
          <a:xfrm>
            <a:off x="457200" y="2514600"/>
            <a:ext cx="1078992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323"/>
              </a:buClr>
              <a:buSzPts val="1300"/>
              <a:buFont typeface="Calibri"/>
              <a:buNone/>
            </a:pPr>
            <a:r>
              <a:rPr b="0" i="0" lang="en-US" sz="1300" u="none" cap="none" strike="noStrike">
                <a:solidFill>
                  <a:srgbClr val="232323"/>
                </a:solidFill>
                <a:latin typeface="Calibri"/>
                <a:ea typeface="Calibri"/>
                <a:cs typeface="Calibri"/>
                <a:sym typeface="Calibri"/>
              </a:rPr>
              <a:t>Networks fail in the first minutes of almost every major disaster — exactly when coordination matters most. The phones survivors already carry could close that gap, if they still worked without a signal.</a:t>
            </a:r>
            <a:endParaRPr b="0" i="0" sz="1300" u="none" cap="none" strike="noStrike">
              <a:solidFill>
                <a:schemeClr val="dk1"/>
              </a:solidFill>
              <a:latin typeface="Calibri"/>
              <a:ea typeface="Calibri"/>
              <a:cs typeface="Calibri"/>
              <a:sym typeface="Calibri"/>
            </a:endParaRPr>
          </a:p>
        </p:txBody>
      </p:sp>
      <p:sp>
        <p:nvSpPr>
          <p:cNvPr id="44" name="Google Shape;44;p4"/>
          <p:cNvSpPr/>
          <p:nvPr/>
        </p:nvSpPr>
        <p:spPr>
          <a:xfrm>
            <a:off x="457200" y="3429000"/>
            <a:ext cx="2651760" cy="2514600"/>
          </a:xfrm>
          <a:prstGeom prst="rect">
            <a:avLst/>
          </a:prstGeom>
          <a:solidFill>
            <a:srgbClr val="E2D8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txBox="1"/>
          <p:nvPr/>
        </p:nvSpPr>
        <p:spPr>
          <a:xfrm>
            <a:off x="640080" y="3566160"/>
            <a:ext cx="22860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3B26"/>
              </a:buClr>
              <a:buSzPts val="3000"/>
              <a:buFont typeface="Georgia"/>
              <a:buNone/>
            </a:pPr>
            <a:r>
              <a:rPr b="1" i="0" lang="en-US" sz="3000" u="none" cap="none" strike="noStrike">
                <a:solidFill>
                  <a:srgbClr val="A33B26"/>
                </a:solidFill>
                <a:latin typeface="Georgia"/>
                <a:ea typeface="Georgia"/>
                <a:cs typeface="Georgia"/>
                <a:sym typeface="Georgia"/>
              </a:rPr>
              <a:t>60%</a:t>
            </a:r>
            <a:endParaRPr b="0" i="0" sz="3000" u="none" cap="none" strike="noStrike">
              <a:solidFill>
                <a:schemeClr val="dk1"/>
              </a:solidFill>
              <a:latin typeface="Calibri"/>
              <a:ea typeface="Calibri"/>
              <a:cs typeface="Calibri"/>
              <a:sym typeface="Calibri"/>
            </a:endParaRPr>
          </a:p>
        </p:txBody>
      </p:sp>
      <p:sp>
        <p:nvSpPr>
          <p:cNvPr id="46" name="Google Shape;46;p4"/>
          <p:cNvSpPr txBox="1"/>
          <p:nvPr/>
        </p:nvSpPr>
        <p:spPr>
          <a:xfrm>
            <a:off x="640080" y="4343400"/>
            <a:ext cx="2286000" cy="1234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323"/>
              </a:buClr>
              <a:buSzPts val="1000"/>
              <a:buFont typeface="Calibri"/>
              <a:buNone/>
            </a:pPr>
            <a:r>
              <a:rPr b="0" i="0" lang="en-US" sz="1000" u="none" cap="none" strike="noStrike">
                <a:solidFill>
                  <a:srgbClr val="232323"/>
                </a:solidFill>
                <a:latin typeface="Calibri"/>
                <a:ea typeface="Calibri"/>
                <a:cs typeface="Calibri"/>
                <a:sym typeface="Calibri"/>
              </a:rPr>
              <a:t>of the mobile network went down in the hardest-hit provinces after the 2023 Turkey earthquake.</a:t>
            </a:r>
            <a:endParaRPr b="0" i="0" sz="1000" u="none" cap="none" strike="noStrike">
              <a:solidFill>
                <a:schemeClr val="dk1"/>
              </a:solidFill>
              <a:latin typeface="Calibri"/>
              <a:ea typeface="Calibri"/>
              <a:cs typeface="Calibri"/>
              <a:sym typeface="Calibri"/>
            </a:endParaRPr>
          </a:p>
        </p:txBody>
      </p:sp>
      <p:sp>
        <p:nvSpPr>
          <p:cNvPr id="47" name="Google Shape;47;p4"/>
          <p:cNvSpPr txBox="1"/>
          <p:nvPr/>
        </p:nvSpPr>
        <p:spPr>
          <a:xfrm>
            <a:off x="640080" y="5623560"/>
            <a:ext cx="22860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270"/>
              </a:buClr>
              <a:buSzPts val="800"/>
              <a:buFont typeface="Consolas"/>
              <a:buNone/>
            </a:pPr>
            <a:r>
              <a:rPr b="0" i="1" lang="en-US" sz="800" u="none" cap="none" strike="noStrike">
                <a:solidFill>
                  <a:srgbClr val="8A8270"/>
                </a:solidFill>
                <a:latin typeface="Consolas"/>
                <a:ea typeface="Consolas"/>
                <a:cs typeface="Consolas"/>
                <a:sym typeface="Consolas"/>
              </a:rPr>
              <a:t>Cloudflare Radar, 2023</a:t>
            </a:r>
            <a:endParaRPr b="0" i="0" sz="800" u="none" cap="none" strike="noStrike">
              <a:solidFill>
                <a:schemeClr val="dk1"/>
              </a:solidFill>
              <a:latin typeface="Calibri"/>
              <a:ea typeface="Calibri"/>
              <a:cs typeface="Calibri"/>
              <a:sym typeface="Calibri"/>
            </a:endParaRPr>
          </a:p>
        </p:txBody>
      </p:sp>
      <p:sp>
        <p:nvSpPr>
          <p:cNvPr id="48" name="Google Shape;48;p4"/>
          <p:cNvSpPr/>
          <p:nvPr/>
        </p:nvSpPr>
        <p:spPr>
          <a:xfrm>
            <a:off x="3291840" y="3429000"/>
            <a:ext cx="2651760" cy="2514600"/>
          </a:xfrm>
          <a:prstGeom prst="rect">
            <a:avLst/>
          </a:prstGeom>
          <a:solidFill>
            <a:srgbClr val="E2D8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txBox="1"/>
          <p:nvPr/>
        </p:nvSpPr>
        <p:spPr>
          <a:xfrm>
            <a:off x="3474720" y="3566160"/>
            <a:ext cx="22860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3B26"/>
              </a:buClr>
              <a:buSzPts val="2000"/>
              <a:buFont typeface="Georgia"/>
              <a:buNone/>
            </a:pPr>
            <a:r>
              <a:rPr b="1" i="0" lang="en-US" sz="2000" u="none" cap="none" strike="noStrike">
                <a:solidFill>
                  <a:srgbClr val="A33B26"/>
                </a:solidFill>
                <a:latin typeface="Georgia"/>
                <a:ea typeface="Georgia"/>
                <a:cs typeface="Georgia"/>
                <a:sym typeface="Georgia"/>
              </a:rPr>
              <a:t>4+ wks</a:t>
            </a:r>
            <a:endParaRPr b="0" i="0" sz="2000" u="none" cap="none" strike="noStrike">
              <a:solidFill>
                <a:schemeClr val="dk1"/>
              </a:solidFill>
              <a:latin typeface="Calibri"/>
              <a:ea typeface="Calibri"/>
              <a:cs typeface="Calibri"/>
              <a:sym typeface="Calibri"/>
            </a:endParaRPr>
          </a:p>
        </p:txBody>
      </p:sp>
      <p:sp>
        <p:nvSpPr>
          <p:cNvPr id="50" name="Google Shape;50;p4"/>
          <p:cNvSpPr txBox="1"/>
          <p:nvPr/>
        </p:nvSpPr>
        <p:spPr>
          <a:xfrm>
            <a:off x="3474720" y="4343400"/>
            <a:ext cx="2286000" cy="1234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323"/>
              </a:buClr>
              <a:buSzPts val="1000"/>
              <a:buFont typeface="Calibri"/>
              <a:buNone/>
            </a:pPr>
            <a:r>
              <a:rPr b="0" i="0" lang="en-US" sz="1000" u="none" cap="none" strike="noStrike">
                <a:solidFill>
                  <a:srgbClr val="232323"/>
                </a:solidFill>
                <a:latin typeface="Calibri"/>
                <a:ea typeface="Calibri"/>
                <a:cs typeface="Calibri"/>
                <a:sym typeface="Calibri"/>
              </a:rPr>
              <a:t>how long roughly a quarter of disrupted internet subnets stayed unreachable after Hurricane Katrina.</a:t>
            </a:r>
            <a:endParaRPr b="0" i="0" sz="1000" u="none" cap="none" strike="noStrike">
              <a:solidFill>
                <a:schemeClr val="dk1"/>
              </a:solidFill>
              <a:latin typeface="Calibri"/>
              <a:ea typeface="Calibri"/>
              <a:cs typeface="Calibri"/>
              <a:sym typeface="Calibri"/>
            </a:endParaRPr>
          </a:p>
        </p:txBody>
      </p:sp>
      <p:sp>
        <p:nvSpPr>
          <p:cNvPr id="51" name="Google Shape;51;p4"/>
          <p:cNvSpPr txBox="1"/>
          <p:nvPr/>
        </p:nvSpPr>
        <p:spPr>
          <a:xfrm>
            <a:off x="3474720" y="5623560"/>
            <a:ext cx="22860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270"/>
              </a:buClr>
              <a:buSzPts val="800"/>
              <a:buFont typeface="Consolas"/>
              <a:buNone/>
            </a:pPr>
            <a:r>
              <a:rPr b="0" i="1" lang="en-US" sz="800" u="none" cap="none" strike="noStrike">
                <a:solidFill>
                  <a:srgbClr val="8A8270"/>
                </a:solidFill>
                <a:latin typeface="Consolas"/>
                <a:ea typeface="Consolas"/>
                <a:cs typeface="Consolas"/>
                <a:sym typeface="Consolas"/>
              </a:rPr>
              <a:t>UAV base-station study, arXiv 2020</a:t>
            </a:r>
            <a:endParaRPr b="0" i="0" sz="800" u="none" cap="none" strike="noStrike">
              <a:solidFill>
                <a:schemeClr val="dk1"/>
              </a:solidFill>
              <a:latin typeface="Calibri"/>
              <a:ea typeface="Calibri"/>
              <a:cs typeface="Calibri"/>
              <a:sym typeface="Calibri"/>
            </a:endParaRPr>
          </a:p>
        </p:txBody>
      </p:sp>
      <p:sp>
        <p:nvSpPr>
          <p:cNvPr id="52" name="Google Shape;52;p4"/>
          <p:cNvSpPr/>
          <p:nvPr/>
        </p:nvSpPr>
        <p:spPr>
          <a:xfrm>
            <a:off x="6126480" y="3429000"/>
            <a:ext cx="2651760" cy="2514600"/>
          </a:xfrm>
          <a:prstGeom prst="rect">
            <a:avLst/>
          </a:prstGeom>
          <a:solidFill>
            <a:srgbClr val="E2D8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nvSpPr>
        <p:spPr>
          <a:xfrm>
            <a:off x="6309360" y="3566160"/>
            <a:ext cx="22860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3B26"/>
              </a:buClr>
              <a:buSzPts val="2000"/>
              <a:buFont typeface="Georgia"/>
              <a:buNone/>
            </a:pPr>
            <a:r>
              <a:rPr b="1" i="0" lang="en-US" sz="2000" u="none" cap="none" strike="noStrike">
                <a:solidFill>
                  <a:srgbClr val="A33B26"/>
                </a:solidFill>
                <a:latin typeface="Georgia"/>
                <a:ea typeface="Georgia"/>
                <a:cs typeface="Georgia"/>
                <a:sym typeface="Georgia"/>
              </a:rPr>
              <a:t>“Cut</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33B26"/>
              </a:buClr>
              <a:buSzPts val="2000"/>
              <a:buFont typeface="Georgia"/>
              <a:buNone/>
            </a:pPr>
            <a:r>
              <a:rPr b="1" i="0" lang="en-US" sz="2000" u="none" cap="none" strike="noStrike">
                <a:solidFill>
                  <a:srgbClr val="A33B26"/>
                </a:solidFill>
                <a:latin typeface="Georgia"/>
                <a:ea typeface="Georgia"/>
                <a:cs typeface="Georgia"/>
                <a:sym typeface="Georgia"/>
              </a:rPr>
              <a:t>comms”</a:t>
            </a:r>
            <a:endParaRPr b="0" i="0" sz="2000" u="none" cap="none" strike="noStrike">
              <a:solidFill>
                <a:schemeClr val="dk1"/>
              </a:solidFill>
              <a:latin typeface="Calibri"/>
              <a:ea typeface="Calibri"/>
              <a:cs typeface="Calibri"/>
              <a:sym typeface="Calibri"/>
            </a:endParaRPr>
          </a:p>
        </p:txBody>
      </p:sp>
      <p:sp>
        <p:nvSpPr>
          <p:cNvPr id="54" name="Google Shape;54;p4"/>
          <p:cNvSpPr txBox="1"/>
          <p:nvPr/>
        </p:nvSpPr>
        <p:spPr>
          <a:xfrm>
            <a:off x="6309360" y="4343400"/>
            <a:ext cx="2286000" cy="1234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323"/>
              </a:buClr>
              <a:buSzPts val="1000"/>
              <a:buFont typeface="Calibri"/>
              <a:buNone/>
            </a:pPr>
            <a:r>
              <a:rPr b="0" i="0" lang="en-US" sz="1000" u="none" cap="none" strike="noStrike">
                <a:solidFill>
                  <a:srgbClr val="232323"/>
                </a:solidFill>
                <a:latin typeface="Calibri"/>
                <a:ea typeface="Calibri"/>
                <a:cs typeface="Calibri"/>
                <a:sym typeface="Calibri"/>
              </a:rPr>
              <a:t>officials said Nepal's 2023 Jajarkot quake death toll would rise “in part because the disaster cut communications.”</a:t>
            </a:r>
            <a:endParaRPr b="0" i="0" sz="1000" u="none" cap="none" strike="noStrike">
              <a:solidFill>
                <a:schemeClr val="dk1"/>
              </a:solidFill>
              <a:latin typeface="Calibri"/>
              <a:ea typeface="Calibri"/>
              <a:cs typeface="Calibri"/>
              <a:sym typeface="Calibri"/>
            </a:endParaRPr>
          </a:p>
        </p:txBody>
      </p:sp>
      <p:sp>
        <p:nvSpPr>
          <p:cNvPr id="55" name="Google Shape;55;p4"/>
          <p:cNvSpPr txBox="1"/>
          <p:nvPr/>
        </p:nvSpPr>
        <p:spPr>
          <a:xfrm>
            <a:off x="6309360" y="5623560"/>
            <a:ext cx="22860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270"/>
              </a:buClr>
              <a:buSzPts val="800"/>
              <a:buFont typeface="Consolas"/>
              <a:buNone/>
            </a:pPr>
            <a:r>
              <a:rPr b="0" i="1" lang="en-US" sz="800" u="none" cap="none" strike="noStrike">
                <a:solidFill>
                  <a:srgbClr val="8A8270"/>
                </a:solidFill>
                <a:latin typeface="Consolas"/>
                <a:ea typeface="Consolas"/>
                <a:cs typeface="Consolas"/>
                <a:sym typeface="Consolas"/>
              </a:rPr>
              <a:t>AP / Yahoo News, 2023</a:t>
            </a:r>
            <a:endParaRPr b="0" i="0" sz="800" u="none" cap="none" strike="noStrike">
              <a:solidFill>
                <a:schemeClr val="dk1"/>
              </a:solidFill>
              <a:latin typeface="Calibri"/>
              <a:ea typeface="Calibri"/>
              <a:cs typeface="Calibri"/>
              <a:sym typeface="Calibri"/>
            </a:endParaRPr>
          </a:p>
        </p:txBody>
      </p:sp>
      <p:sp>
        <p:nvSpPr>
          <p:cNvPr id="56" name="Google Shape;56;p4"/>
          <p:cNvSpPr/>
          <p:nvPr/>
        </p:nvSpPr>
        <p:spPr>
          <a:xfrm>
            <a:off x="8961120" y="3429000"/>
            <a:ext cx="2651760" cy="2514600"/>
          </a:xfrm>
          <a:prstGeom prst="rect">
            <a:avLst/>
          </a:prstGeom>
          <a:solidFill>
            <a:srgbClr val="E2D8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txBox="1"/>
          <p:nvPr/>
        </p:nvSpPr>
        <p:spPr>
          <a:xfrm>
            <a:off x="9144000" y="3566160"/>
            <a:ext cx="22860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3B26"/>
              </a:buClr>
              <a:buSzPts val="3000"/>
              <a:buFont typeface="Georgia"/>
              <a:buNone/>
            </a:pPr>
            <a:r>
              <a:rPr b="1" i="0" lang="en-US" sz="3000" u="none" cap="none" strike="noStrike">
                <a:solidFill>
                  <a:srgbClr val="A33B26"/>
                </a:solidFill>
                <a:latin typeface="Georgia"/>
                <a:ea typeface="Georgia"/>
                <a:cs typeface="Georgia"/>
                <a:sym typeface="Georgia"/>
              </a:rPr>
              <a:t>~85%</a:t>
            </a:r>
            <a:endParaRPr b="0" i="0" sz="3000" u="none" cap="none" strike="noStrike">
              <a:solidFill>
                <a:schemeClr val="dk1"/>
              </a:solidFill>
              <a:latin typeface="Calibri"/>
              <a:ea typeface="Calibri"/>
              <a:cs typeface="Calibri"/>
              <a:sym typeface="Calibri"/>
            </a:endParaRPr>
          </a:p>
        </p:txBody>
      </p:sp>
      <p:sp>
        <p:nvSpPr>
          <p:cNvPr id="58" name="Google Shape;58;p4"/>
          <p:cNvSpPr txBox="1"/>
          <p:nvPr/>
        </p:nvSpPr>
        <p:spPr>
          <a:xfrm>
            <a:off x="9144000" y="4343400"/>
            <a:ext cx="2286000" cy="1234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323"/>
              </a:buClr>
              <a:buSzPts val="1000"/>
              <a:buFont typeface="Calibri"/>
              <a:buNone/>
            </a:pPr>
            <a:r>
              <a:rPr b="0" i="0" lang="en-US" sz="1000" u="none" cap="none" strike="noStrike">
                <a:solidFill>
                  <a:srgbClr val="232323"/>
                </a:solidFill>
                <a:latin typeface="Calibri"/>
                <a:ea typeface="Calibri"/>
                <a:cs typeface="Calibri"/>
                <a:sym typeface="Calibri"/>
              </a:rPr>
              <a:t>of India's land area is vulnerable to at least one major natural hazard.</a:t>
            </a:r>
            <a:endParaRPr b="0" i="0" sz="1000" u="none" cap="none" strike="noStrike">
              <a:solidFill>
                <a:schemeClr val="dk1"/>
              </a:solidFill>
              <a:latin typeface="Calibri"/>
              <a:ea typeface="Calibri"/>
              <a:cs typeface="Calibri"/>
              <a:sym typeface="Calibri"/>
            </a:endParaRPr>
          </a:p>
        </p:txBody>
      </p:sp>
      <p:sp>
        <p:nvSpPr>
          <p:cNvPr id="59" name="Google Shape;59;p4"/>
          <p:cNvSpPr txBox="1"/>
          <p:nvPr/>
        </p:nvSpPr>
        <p:spPr>
          <a:xfrm>
            <a:off x="9144000" y="5623560"/>
            <a:ext cx="22860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270"/>
              </a:buClr>
              <a:buSzPts val="800"/>
              <a:buFont typeface="Consolas"/>
              <a:buNone/>
            </a:pPr>
            <a:r>
              <a:rPr b="0" i="1" lang="en-US" sz="800" u="none" cap="none" strike="noStrike">
                <a:solidFill>
                  <a:srgbClr val="8A8270"/>
                </a:solidFill>
                <a:latin typeface="Consolas"/>
                <a:ea typeface="Consolas"/>
                <a:cs typeface="Consolas"/>
                <a:sym typeface="Consolas"/>
              </a:rPr>
              <a:t>National disaster vulnerability atlas</a:t>
            </a:r>
            <a:endParaRPr b="0" i="0" sz="800" u="none" cap="none" strike="noStrike">
              <a:solidFill>
                <a:schemeClr val="dk1"/>
              </a:solidFill>
              <a:latin typeface="Calibri"/>
              <a:ea typeface="Calibri"/>
              <a:cs typeface="Calibri"/>
              <a:sym typeface="Calibri"/>
            </a:endParaRPr>
          </a:p>
        </p:txBody>
      </p:sp>
      <p:cxnSp>
        <p:nvCxnSpPr>
          <p:cNvPr id="60" name="Google Shape;60;p4"/>
          <p:cNvCxnSpPr/>
          <p:nvPr/>
        </p:nvCxnSpPr>
        <p:spPr>
          <a:xfrm>
            <a:off x="457200" y="6400800"/>
            <a:ext cx="11274552" cy="0"/>
          </a:xfrm>
          <a:prstGeom prst="straightConnector1">
            <a:avLst/>
          </a:prstGeom>
          <a:noFill/>
          <a:ln cap="flat" cmpd="sng" w="12700">
            <a:solidFill>
              <a:srgbClr val="8A8270"/>
            </a:solidFill>
            <a:prstDash val="solid"/>
            <a:round/>
            <a:headEnd len="sm" w="sm" type="none"/>
            <a:tailEnd len="sm" w="sm" type="none"/>
          </a:ln>
        </p:spPr>
      </p:cxnSp>
      <p:sp>
        <p:nvSpPr>
          <p:cNvPr id="61" name="Google Shape;61;p4"/>
          <p:cNvSpPr txBox="1"/>
          <p:nvPr/>
        </p:nvSpPr>
        <p:spPr>
          <a:xfrm>
            <a:off x="457200" y="649224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270"/>
              </a:buClr>
              <a:buSzPts val="850"/>
              <a:buFont typeface="Consolas"/>
              <a:buNone/>
            </a:pPr>
            <a:r>
              <a:rPr b="1" i="0" lang="en-US" sz="850" u="none" cap="none" strike="noStrike">
                <a:solidFill>
                  <a:srgbClr val="8A8270"/>
                </a:solidFill>
                <a:latin typeface="Consolas"/>
                <a:ea typeface="Consolas"/>
                <a:cs typeface="Consolas"/>
                <a:sym typeface="Consolas"/>
              </a:rPr>
              <a:t>THIS IS THE GAP LIFEKEEPER IS BUILT TO CLOSE.</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6D5"/>
        </a:solidFill>
      </p:bgPr>
    </p:bg>
    <p:spTree>
      <p:nvGrpSpPr>
        <p:cNvPr id="66" name="Shape 66"/>
        <p:cNvGrpSpPr/>
        <p:nvPr/>
      </p:nvGrpSpPr>
      <p:grpSpPr>
        <a:xfrm>
          <a:off x="0" y="0"/>
          <a:ext cx="0" cy="0"/>
          <a:chOff x="0" y="0"/>
          <a:chExt cx="0" cy="0"/>
        </a:xfrm>
      </p:grpSpPr>
      <p:sp>
        <p:nvSpPr>
          <p:cNvPr id="67" name="Google Shape;67;p5"/>
          <p:cNvSpPr txBox="1"/>
          <p:nvPr/>
        </p:nvSpPr>
        <p:spPr>
          <a:xfrm>
            <a:off x="457200" y="3200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1000"/>
              <a:buFont typeface="Consolas"/>
              <a:buNone/>
            </a:pPr>
            <a:r>
              <a:rPr b="1" i="0" lang="en-US" sz="1000" u="none" cap="none" strike="noStrike">
                <a:solidFill>
                  <a:srgbClr val="232323"/>
                </a:solidFill>
                <a:latin typeface="Consolas"/>
                <a:ea typeface="Consolas"/>
                <a:cs typeface="Consolas"/>
                <a:sym typeface="Consolas"/>
              </a:rPr>
              <a:t>THE HUMAN COST</a:t>
            </a:r>
            <a:endParaRPr b="0" i="0" sz="1000" u="none" cap="none" strike="noStrike">
              <a:solidFill>
                <a:schemeClr val="dk1"/>
              </a:solidFill>
              <a:latin typeface="Calibri"/>
              <a:ea typeface="Calibri"/>
              <a:cs typeface="Calibri"/>
              <a:sym typeface="Calibri"/>
            </a:endParaRPr>
          </a:p>
        </p:txBody>
      </p:sp>
      <p:sp>
        <p:nvSpPr>
          <p:cNvPr id="68" name="Google Shape;68;p5"/>
          <p:cNvSpPr txBox="1"/>
          <p:nvPr/>
        </p:nvSpPr>
        <p:spPr>
          <a:xfrm>
            <a:off x="7159752" y="320040"/>
            <a:ext cx="45720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32323"/>
              </a:buClr>
              <a:buSzPts val="1000"/>
              <a:buFont typeface="Consolas"/>
              <a:buNone/>
            </a:pPr>
            <a:r>
              <a:rPr b="1" i="0" lang="en-US" sz="1000" u="none" cap="none" strike="noStrike">
                <a:solidFill>
                  <a:srgbClr val="232323"/>
                </a:solidFill>
                <a:latin typeface="Consolas"/>
                <a:ea typeface="Consolas"/>
                <a:cs typeface="Consolas"/>
                <a:sym typeface="Consolas"/>
              </a:rPr>
              <a:t>DOCUMENTED, NOT HYPOTHETICAL</a:t>
            </a:r>
            <a:endParaRPr b="0" i="0" sz="1000" u="none" cap="none" strike="noStrike">
              <a:solidFill>
                <a:schemeClr val="dk1"/>
              </a:solidFill>
              <a:latin typeface="Calibri"/>
              <a:ea typeface="Calibri"/>
              <a:cs typeface="Calibri"/>
              <a:sym typeface="Calibri"/>
            </a:endParaRPr>
          </a:p>
        </p:txBody>
      </p:sp>
      <p:cxnSp>
        <p:nvCxnSpPr>
          <p:cNvPr id="69" name="Google Shape;69;p5"/>
          <p:cNvCxnSpPr/>
          <p:nvPr/>
        </p:nvCxnSpPr>
        <p:spPr>
          <a:xfrm>
            <a:off x="457200" y="685800"/>
            <a:ext cx="11274552" cy="0"/>
          </a:xfrm>
          <a:prstGeom prst="straightConnector1">
            <a:avLst/>
          </a:prstGeom>
          <a:noFill/>
          <a:ln cap="flat" cmpd="sng" w="12700">
            <a:solidFill>
              <a:srgbClr val="232323"/>
            </a:solidFill>
            <a:prstDash val="solid"/>
            <a:round/>
            <a:headEnd len="sm" w="sm" type="none"/>
            <a:tailEnd len="sm" w="sm" type="none"/>
          </a:ln>
        </p:spPr>
      </p:cxnSp>
      <p:sp>
        <p:nvSpPr>
          <p:cNvPr id="70" name="Google Shape;70;p5"/>
          <p:cNvSpPr txBox="1"/>
          <p:nvPr/>
        </p:nvSpPr>
        <p:spPr>
          <a:xfrm>
            <a:off x="457200" y="914400"/>
            <a:ext cx="109728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2600"/>
              <a:buFont typeface="Georgia"/>
              <a:buNone/>
            </a:pPr>
            <a:r>
              <a:rPr b="1" i="0" lang="en-US" sz="2600" u="none" cap="none" strike="noStrike">
                <a:solidFill>
                  <a:srgbClr val="232323"/>
                </a:solidFill>
                <a:latin typeface="Georgia"/>
                <a:ea typeface="Georgia"/>
                <a:cs typeface="Georgia"/>
                <a:sym typeface="Georgia"/>
              </a:rPr>
              <a:t>When the signal dies, </a:t>
            </a:r>
            <a:r>
              <a:rPr b="0" i="1" lang="en-US" sz="2600" u="none" cap="none" strike="noStrike">
                <a:solidFill>
                  <a:srgbClr val="A33B26"/>
                </a:solidFill>
                <a:latin typeface="Georgia"/>
                <a:ea typeface="Georgia"/>
                <a:cs typeface="Georgia"/>
                <a:sym typeface="Georgia"/>
              </a:rPr>
              <a:t>coordination dies with it</a:t>
            </a:r>
            <a:r>
              <a:rPr b="1" i="0" lang="en-US" sz="2600" u="none" cap="none" strike="noStrike">
                <a:solidFill>
                  <a:srgbClr val="232323"/>
                </a:solidFill>
                <a:latin typeface="Georgia"/>
                <a:ea typeface="Georgia"/>
                <a:cs typeface="Georgia"/>
                <a:sym typeface="Georgia"/>
              </a:rPr>
              <a:t>.</a:t>
            </a:r>
            <a:endParaRPr b="0" i="0" sz="2600" u="none" cap="none" strike="noStrike">
              <a:solidFill>
                <a:schemeClr val="dk1"/>
              </a:solidFill>
              <a:latin typeface="Calibri"/>
              <a:ea typeface="Calibri"/>
              <a:cs typeface="Calibri"/>
              <a:sym typeface="Calibri"/>
            </a:endParaRPr>
          </a:p>
        </p:txBody>
      </p:sp>
      <p:sp>
        <p:nvSpPr>
          <p:cNvPr id="71" name="Google Shape;71;p5"/>
          <p:cNvSpPr txBox="1"/>
          <p:nvPr/>
        </p:nvSpPr>
        <p:spPr>
          <a:xfrm>
            <a:off x="457200" y="1691640"/>
            <a:ext cx="10972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270"/>
              </a:buClr>
              <a:buSzPts val="1200"/>
              <a:buFont typeface="Calibri"/>
              <a:buNone/>
            </a:pPr>
            <a:r>
              <a:rPr b="0" i="1" lang="en-US" sz="1200" u="none" cap="none" strike="noStrike">
                <a:solidFill>
                  <a:srgbClr val="8A8270"/>
                </a:solidFill>
                <a:latin typeface="Calibri"/>
                <a:ea typeface="Calibri"/>
                <a:cs typeface="Calibri"/>
                <a:sym typeface="Calibri"/>
              </a:rPr>
              <a:t>Three documented disasters where communication breakdowns measurably slowed rescue and coordination — not speculation, reported at the time.</a:t>
            </a:r>
            <a:endParaRPr b="0" i="0" sz="1200" u="none" cap="none" strike="noStrike">
              <a:solidFill>
                <a:schemeClr val="dk1"/>
              </a:solidFill>
              <a:latin typeface="Calibri"/>
              <a:ea typeface="Calibri"/>
              <a:cs typeface="Calibri"/>
              <a:sym typeface="Calibri"/>
            </a:endParaRPr>
          </a:p>
        </p:txBody>
      </p:sp>
      <p:sp>
        <p:nvSpPr>
          <p:cNvPr id="72" name="Google Shape;72;p5"/>
          <p:cNvSpPr/>
          <p:nvPr/>
        </p:nvSpPr>
        <p:spPr>
          <a:xfrm>
            <a:off x="457200" y="2331720"/>
            <a:ext cx="3611880" cy="3611880"/>
          </a:xfrm>
          <a:prstGeom prst="rect">
            <a:avLst/>
          </a:prstGeom>
          <a:solidFill>
            <a:srgbClr val="1E2A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5"/>
          <p:cNvSpPr txBox="1"/>
          <p:nvPr/>
        </p:nvSpPr>
        <p:spPr>
          <a:xfrm>
            <a:off x="640080" y="2487168"/>
            <a:ext cx="32461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EDF"/>
              </a:buClr>
              <a:buSzPts val="950"/>
              <a:buFont typeface="Consolas"/>
              <a:buNone/>
            </a:pPr>
            <a:r>
              <a:rPr b="1" i="0" lang="en-US" sz="950" u="none" cap="none" strike="noStrike">
                <a:solidFill>
                  <a:srgbClr val="F3EEDF"/>
                </a:solidFill>
                <a:latin typeface="Consolas"/>
                <a:ea typeface="Consolas"/>
                <a:cs typeface="Consolas"/>
                <a:sym typeface="Consolas"/>
              </a:rPr>
              <a:t>NURDAĞI, TURKEY · FEB 2023</a:t>
            </a:r>
            <a:endParaRPr b="0" i="0" sz="950" u="none" cap="none" strike="noStrike">
              <a:solidFill>
                <a:schemeClr val="dk1"/>
              </a:solidFill>
              <a:latin typeface="Calibri"/>
              <a:ea typeface="Calibri"/>
              <a:cs typeface="Calibri"/>
              <a:sym typeface="Calibri"/>
            </a:endParaRPr>
          </a:p>
        </p:txBody>
      </p:sp>
      <p:sp>
        <p:nvSpPr>
          <p:cNvPr id="74" name="Google Shape;74;p5"/>
          <p:cNvSpPr txBox="1"/>
          <p:nvPr/>
        </p:nvSpPr>
        <p:spPr>
          <a:xfrm>
            <a:off x="640080" y="2971800"/>
            <a:ext cx="3246120" cy="2468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EDF"/>
              </a:buClr>
              <a:buSzPts val="1100"/>
              <a:buFont typeface="Georgia"/>
              <a:buNone/>
            </a:pPr>
            <a:r>
              <a:rPr b="0" i="1" lang="en-US" sz="1100" u="none" cap="none" strike="noStrike">
                <a:solidFill>
                  <a:srgbClr val="F3EEDF"/>
                </a:solidFill>
                <a:latin typeface="Georgia"/>
                <a:ea typeface="Georgia"/>
                <a:cs typeface="Georgia"/>
                <a:sym typeface="Georgia"/>
              </a:rPr>
              <a:t>“We could hear their voices, they were calling for help,” said Ali Silo, whose two relatives could not be saved — as rescuers raced between thousands of trapped survivors on overwhelmed, damaged networks.</a:t>
            </a:r>
            <a:endParaRPr b="0" i="1" sz="1100" u="none" cap="none" strike="noStrike">
              <a:solidFill>
                <a:srgbClr val="F3EEDF"/>
              </a:solidFill>
              <a:latin typeface="Georgia"/>
              <a:ea typeface="Georgia"/>
              <a:cs typeface="Georgia"/>
              <a:sym typeface="Georgia"/>
            </a:endParaRPr>
          </a:p>
          <a:p>
            <a:pPr indent="0" lvl="0" marL="0" marR="0" rtl="0" algn="l">
              <a:spcBef>
                <a:spcPts val="0"/>
              </a:spcBef>
              <a:spcAft>
                <a:spcPts val="0"/>
              </a:spcAft>
              <a:buClr>
                <a:srgbClr val="F3EEDF"/>
              </a:buClr>
              <a:buSzPts val="1100"/>
              <a:buFont typeface="Georgia"/>
              <a:buNone/>
            </a:pPr>
            <a:r>
              <a:t/>
            </a:r>
            <a:endParaRPr i="1" sz="1100">
              <a:solidFill>
                <a:srgbClr val="F3EEDF"/>
              </a:solidFill>
              <a:latin typeface="Georgia"/>
              <a:ea typeface="Georgia"/>
              <a:cs typeface="Georgia"/>
              <a:sym typeface="Georgia"/>
            </a:endParaRPr>
          </a:p>
          <a:p>
            <a:pPr indent="0" lvl="0" marL="0" marR="0" rtl="0" algn="l">
              <a:spcBef>
                <a:spcPts val="0"/>
              </a:spcBef>
              <a:spcAft>
                <a:spcPts val="0"/>
              </a:spcAft>
              <a:buClr>
                <a:srgbClr val="F3EEDF"/>
              </a:buClr>
              <a:buSzPts val="1100"/>
              <a:buFont typeface="Georgia"/>
              <a:buNone/>
            </a:pPr>
            <a:r>
              <a:t/>
            </a:r>
            <a:endParaRPr i="1" sz="1100">
              <a:solidFill>
                <a:srgbClr val="F3EEDF"/>
              </a:solidFill>
              <a:latin typeface="Georgia"/>
              <a:ea typeface="Georgia"/>
              <a:cs typeface="Georgia"/>
              <a:sym typeface="Georgia"/>
            </a:endParaRPr>
          </a:p>
          <a:p>
            <a:pPr indent="0" lvl="0" marL="0" marR="0" rtl="0" algn="l">
              <a:spcBef>
                <a:spcPts val="0"/>
              </a:spcBef>
              <a:spcAft>
                <a:spcPts val="0"/>
              </a:spcAft>
              <a:buClr>
                <a:srgbClr val="F3EEDF"/>
              </a:buClr>
              <a:buSzPts val="1100"/>
              <a:buFont typeface="Georgia"/>
              <a:buNone/>
            </a:pPr>
            <a:r>
              <a:t/>
            </a:r>
            <a:endParaRPr i="1" sz="1100">
              <a:solidFill>
                <a:srgbClr val="F3EEDF"/>
              </a:solidFill>
              <a:latin typeface="Georgia"/>
              <a:ea typeface="Georgia"/>
              <a:cs typeface="Georgia"/>
              <a:sym typeface="Georgia"/>
            </a:endParaRPr>
          </a:p>
          <a:p>
            <a:pPr indent="0" lvl="0" marL="0" marR="0" rtl="0" algn="l">
              <a:spcBef>
                <a:spcPts val="0"/>
              </a:spcBef>
              <a:spcAft>
                <a:spcPts val="0"/>
              </a:spcAft>
              <a:buClr>
                <a:srgbClr val="F3EEDF"/>
              </a:buClr>
              <a:buSzPts val="1100"/>
              <a:buFont typeface="Georgia"/>
              <a:buNone/>
            </a:pPr>
            <a:r>
              <a:rPr i="1" lang="en-US" sz="1100">
                <a:solidFill>
                  <a:srgbClr val="F3EEDF"/>
                </a:solidFill>
                <a:latin typeface="Georgia"/>
                <a:ea typeface="Georgia"/>
                <a:cs typeface="Georgia"/>
                <a:sym typeface="Georgia"/>
              </a:rPr>
              <a:t>The earthquakes left the emergency management </a:t>
            </a:r>
            <a:r>
              <a:rPr i="1" lang="en-US" sz="1100">
                <a:solidFill>
                  <a:srgbClr val="F3EEDF"/>
                </a:solidFill>
                <a:latin typeface="Georgia"/>
                <a:ea typeface="Georgia"/>
                <a:cs typeface="Georgia"/>
                <a:sym typeface="Georgia"/>
              </a:rPr>
              <a:t>stunned</a:t>
            </a:r>
            <a:r>
              <a:rPr i="1" lang="en-US" sz="1100">
                <a:solidFill>
                  <a:srgbClr val="F3EEDF"/>
                </a:solidFill>
                <a:latin typeface="Georgia"/>
                <a:ea typeface="Georgia"/>
                <a:cs typeface="Georgia"/>
                <a:sym typeface="Georgia"/>
              </a:rPr>
              <a:t> as they were massively overworked, which </a:t>
            </a:r>
            <a:r>
              <a:rPr i="1" lang="en-US" sz="1100">
                <a:solidFill>
                  <a:srgbClr val="F3EEDF"/>
                </a:solidFill>
                <a:latin typeface="Georgia"/>
                <a:ea typeface="Georgia"/>
                <a:cs typeface="Georgia"/>
                <a:sym typeface="Georgia"/>
              </a:rPr>
              <a:t>further</a:t>
            </a:r>
            <a:r>
              <a:rPr i="1" lang="en-US" sz="1100">
                <a:solidFill>
                  <a:srgbClr val="F3EEDF"/>
                </a:solidFill>
                <a:latin typeface="Georgia"/>
                <a:ea typeface="Georgia"/>
                <a:cs typeface="Georgia"/>
                <a:sym typeface="Georgia"/>
              </a:rPr>
              <a:t> reduced their </a:t>
            </a:r>
            <a:r>
              <a:rPr i="1" lang="en-US" sz="1100">
                <a:solidFill>
                  <a:srgbClr val="F3EEDF"/>
                </a:solidFill>
                <a:latin typeface="Georgia"/>
                <a:ea typeface="Georgia"/>
                <a:cs typeface="Georgia"/>
                <a:sym typeface="Georgia"/>
              </a:rPr>
              <a:t>efficiency</a:t>
            </a:r>
            <a:r>
              <a:rPr i="1" lang="en-US" sz="1100">
                <a:solidFill>
                  <a:srgbClr val="F3EEDF"/>
                </a:solidFill>
                <a:latin typeface="Georgia"/>
                <a:ea typeface="Georgia"/>
                <a:cs typeface="Georgia"/>
                <a:sym typeface="Georgia"/>
              </a:rPr>
              <a:t> </a:t>
            </a:r>
            <a:endParaRPr i="1" sz="1100">
              <a:solidFill>
                <a:srgbClr val="F3EEDF"/>
              </a:solidFill>
              <a:latin typeface="Georgia"/>
              <a:ea typeface="Georgia"/>
              <a:cs typeface="Georgia"/>
              <a:sym typeface="Georgia"/>
            </a:endParaRPr>
          </a:p>
        </p:txBody>
      </p:sp>
      <p:sp>
        <p:nvSpPr>
          <p:cNvPr id="75" name="Google Shape;75;p5"/>
          <p:cNvSpPr txBox="1"/>
          <p:nvPr/>
        </p:nvSpPr>
        <p:spPr>
          <a:xfrm>
            <a:off x="640080" y="5577840"/>
            <a:ext cx="32461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EDF"/>
              </a:buClr>
              <a:buSzPts val="800"/>
              <a:buFont typeface="Consolas"/>
              <a:buNone/>
            </a:pPr>
            <a:r>
              <a:rPr b="0" i="0" lang="en-US" sz="800" u="none" cap="none" strike="noStrike">
                <a:solidFill>
                  <a:srgbClr val="F3EEDF"/>
                </a:solidFill>
                <a:latin typeface="Consolas"/>
                <a:ea typeface="Consolas"/>
                <a:cs typeface="Consolas"/>
                <a:sym typeface="Consolas"/>
              </a:rPr>
              <a:t>AP / PBS NewsHour, Feb 2023</a:t>
            </a:r>
            <a:endParaRPr b="0" i="0" sz="800" u="none" cap="none" strike="noStrike">
              <a:solidFill>
                <a:schemeClr val="dk1"/>
              </a:solidFill>
              <a:latin typeface="Calibri"/>
              <a:ea typeface="Calibri"/>
              <a:cs typeface="Calibri"/>
              <a:sym typeface="Calibri"/>
            </a:endParaRPr>
          </a:p>
        </p:txBody>
      </p:sp>
      <p:sp>
        <p:nvSpPr>
          <p:cNvPr id="76" name="Google Shape;76;p5"/>
          <p:cNvSpPr/>
          <p:nvPr/>
        </p:nvSpPr>
        <p:spPr>
          <a:xfrm>
            <a:off x="4251960" y="2331720"/>
            <a:ext cx="3611880" cy="3611880"/>
          </a:xfrm>
          <a:prstGeom prst="rect">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
          <p:cNvSpPr txBox="1"/>
          <p:nvPr/>
        </p:nvSpPr>
        <p:spPr>
          <a:xfrm>
            <a:off x="4434840" y="2487168"/>
            <a:ext cx="32461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EDF"/>
              </a:buClr>
              <a:buSzPts val="950"/>
              <a:buFont typeface="Consolas"/>
              <a:buNone/>
            </a:pPr>
            <a:r>
              <a:rPr b="1" lang="en-US" sz="950">
                <a:solidFill>
                  <a:srgbClr val="F3EEDF"/>
                </a:solidFill>
                <a:latin typeface="Consolas"/>
                <a:ea typeface="Consolas"/>
                <a:cs typeface="Consolas"/>
                <a:sym typeface="Consolas"/>
              </a:rPr>
              <a:t>PARADISE, CALIFORNIA · NOV 2018 </a:t>
            </a:r>
            <a:endParaRPr b="0" i="0" sz="950" u="none" cap="none" strike="noStrike">
              <a:solidFill>
                <a:schemeClr val="dk1"/>
              </a:solidFill>
              <a:latin typeface="Calibri"/>
              <a:ea typeface="Calibri"/>
              <a:cs typeface="Calibri"/>
              <a:sym typeface="Calibri"/>
            </a:endParaRPr>
          </a:p>
        </p:txBody>
      </p:sp>
      <p:sp>
        <p:nvSpPr>
          <p:cNvPr id="78" name="Google Shape;78;p5"/>
          <p:cNvSpPr txBox="1"/>
          <p:nvPr/>
        </p:nvSpPr>
        <p:spPr>
          <a:xfrm>
            <a:off x="4434840" y="2971800"/>
            <a:ext cx="3246120" cy="2468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EDF"/>
              </a:buClr>
              <a:buSzPts val="1100"/>
              <a:buFont typeface="Georgia"/>
              <a:buNone/>
            </a:pPr>
            <a:r>
              <a:rPr i="1" lang="en-US" sz="1100">
                <a:solidFill>
                  <a:srgbClr val="F3EEDF"/>
                </a:solidFill>
                <a:latin typeface="Georgia"/>
                <a:ea typeface="Georgia"/>
                <a:cs typeface="Georgia"/>
                <a:sym typeface="Georgia"/>
              </a:rPr>
              <a:t>"The county's CodeRED phone alert system reached fewer than 30% of subscribed residents. As the fire advanced, seven to nine cell towers went down, jamming what lines remained — 85 people died in California's deadliest wildfire." </a:t>
            </a:r>
            <a:endParaRPr i="1" sz="1100">
              <a:solidFill>
                <a:srgbClr val="F3EEDF"/>
              </a:solidFill>
              <a:latin typeface="Georgia"/>
              <a:ea typeface="Georgia"/>
              <a:cs typeface="Georgia"/>
              <a:sym typeface="Georgia"/>
            </a:endParaRPr>
          </a:p>
          <a:p>
            <a:pPr indent="0" lvl="0" marL="0" marR="0" rtl="0" algn="l">
              <a:spcBef>
                <a:spcPts val="0"/>
              </a:spcBef>
              <a:spcAft>
                <a:spcPts val="0"/>
              </a:spcAft>
              <a:buClr>
                <a:srgbClr val="F3EEDF"/>
              </a:buClr>
              <a:buSzPts val="1100"/>
              <a:buFont typeface="Georgia"/>
              <a:buNone/>
            </a:pPr>
            <a:r>
              <a:t/>
            </a:r>
            <a:endParaRPr i="1" sz="1100">
              <a:solidFill>
                <a:srgbClr val="F3EEDF"/>
              </a:solidFill>
              <a:latin typeface="Georgia"/>
              <a:ea typeface="Georgia"/>
              <a:cs typeface="Georgia"/>
              <a:sym typeface="Georgia"/>
            </a:endParaRPr>
          </a:p>
          <a:p>
            <a:pPr indent="0" lvl="0" marL="0" marR="0" rtl="0" algn="l">
              <a:spcBef>
                <a:spcPts val="0"/>
              </a:spcBef>
              <a:spcAft>
                <a:spcPts val="0"/>
              </a:spcAft>
              <a:buClr>
                <a:srgbClr val="F3EEDF"/>
              </a:buClr>
              <a:buSzPts val="1100"/>
              <a:buFont typeface="Georgia"/>
              <a:buNone/>
            </a:pPr>
            <a:r>
              <a:t/>
            </a:r>
            <a:endParaRPr i="1" sz="1100">
              <a:solidFill>
                <a:srgbClr val="F3EEDF"/>
              </a:solidFill>
              <a:latin typeface="Georgia"/>
              <a:ea typeface="Georgia"/>
              <a:cs typeface="Georgia"/>
              <a:sym typeface="Georgia"/>
            </a:endParaRPr>
          </a:p>
          <a:p>
            <a:pPr indent="0" lvl="0" marL="0" marR="0" rtl="0" algn="l">
              <a:spcBef>
                <a:spcPts val="0"/>
              </a:spcBef>
              <a:spcAft>
                <a:spcPts val="0"/>
              </a:spcAft>
              <a:buClr>
                <a:srgbClr val="F3EEDF"/>
              </a:buClr>
              <a:buSzPts val="1100"/>
              <a:buFont typeface="Georgia"/>
              <a:buNone/>
            </a:pPr>
            <a:r>
              <a:t/>
            </a:r>
            <a:endParaRPr i="1" sz="1100">
              <a:solidFill>
                <a:srgbClr val="F3EEDF"/>
              </a:solidFill>
              <a:latin typeface="Georgia"/>
              <a:ea typeface="Georgia"/>
              <a:cs typeface="Georgia"/>
              <a:sym typeface="Georgia"/>
            </a:endParaRPr>
          </a:p>
          <a:p>
            <a:pPr indent="0" lvl="0" marL="0" marR="0" rtl="0" algn="l">
              <a:spcBef>
                <a:spcPts val="0"/>
              </a:spcBef>
              <a:spcAft>
                <a:spcPts val="0"/>
              </a:spcAft>
              <a:buClr>
                <a:srgbClr val="F3EEDF"/>
              </a:buClr>
              <a:buSzPts val="1100"/>
              <a:buFont typeface="Georgia"/>
              <a:buNone/>
            </a:pPr>
            <a:r>
              <a:rPr i="1" lang="en-US" sz="1100">
                <a:solidFill>
                  <a:srgbClr val="F3EEDF"/>
                </a:solidFill>
                <a:latin typeface="Georgia"/>
                <a:ea typeface="Georgia"/>
                <a:cs typeface="Georgia"/>
                <a:sym typeface="Georgia"/>
              </a:rPr>
              <a:t>The CodeRED phone alert system relied on cell towers which is why they failed as the fires spread. The citizens were left with no information about how the fires are approaching thus making the situation even more scary.</a:t>
            </a:r>
            <a:endParaRPr i="1" sz="1100">
              <a:solidFill>
                <a:srgbClr val="F3EEDF"/>
              </a:solidFill>
              <a:latin typeface="Georgia"/>
              <a:ea typeface="Georgia"/>
              <a:cs typeface="Georgia"/>
              <a:sym typeface="Georgia"/>
            </a:endParaRPr>
          </a:p>
          <a:p>
            <a:pPr indent="0" lvl="0" marL="0" marR="0" rtl="0" algn="l">
              <a:spcBef>
                <a:spcPts val="0"/>
              </a:spcBef>
              <a:spcAft>
                <a:spcPts val="0"/>
              </a:spcAft>
              <a:buClr>
                <a:srgbClr val="F3EEDF"/>
              </a:buClr>
              <a:buSzPts val="1100"/>
              <a:buFont typeface="Georgia"/>
              <a:buNone/>
            </a:pPr>
            <a:r>
              <a:t/>
            </a:r>
            <a:endParaRPr i="1" sz="1100">
              <a:solidFill>
                <a:srgbClr val="F3EEDF"/>
              </a:solidFill>
              <a:latin typeface="Georgia"/>
              <a:ea typeface="Georgia"/>
              <a:cs typeface="Georgia"/>
              <a:sym typeface="Georgia"/>
            </a:endParaRPr>
          </a:p>
          <a:p>
            <a:pPr indent="0" lvl="0" marL="0" marR="0" rtl="0" algn="l">
              <a:spcBef>
                <a:spcPts val="0"/>
              </a:spcBef>
              <a:spcAft>
                <a:spcPts val="0"/>
              </a:spcAft>
              <a:buClr>
                <a:srgbClr val="F3EEDF"/>
              </a:buClr>
              <a:buSzPts val="1100"/>
              <a:buFont typeface="Georgia"/>
              <a:buNone/>
            </a:pPr>
            <a:r>
              <a:t/>
            </a:r>
            <a:endParaRPr i="1" sz="1100">
              <a:solidFill>
                <a:srgbClr val="F3EEDF"/>
              </a:solidFill>
              <a:latin typeface="Georgia"/>
              <a:ea typeface="Georgia"/>
              <a:cs typeface="Georgia"/>
              <a:sym typeface="Georgia"/>
            </a:endParaRPr>
          </a:p>
          <a:p>
            <a:pPr indent="0" lvl="0" marL="0" marR="0" rtl="0" algn="l">
              <a:spcBef>
                <a:spcPts val="0"/>
              </a:spcBef>
              <a:spcAft>
                <a:spcPts val="0"/>
              </a:spcAft>
              <a:buClr>
                <a:srgbClr val="F3EEDF"/>
              </a:buClr>
              <a:buSzPts val="1100"/>
              <a:buFont typeface="Georgia"/>
              <a:buNone/>
            </a:pPr>
            <a:r>
              <a:t/>
            </a:r>
            <a:endParaRPr i="1" sz="1100">
              <a:solidFill>
                <a:srgbClr val="F3EEDF"/>
              </a:solidFill>
              <a:latin typeface="Georgia"/>
              <a:ea typeface="Georgia"/>
              <a:cs typeface="Georgia"/>
              <a:sym typeface="Georgia"/>
            </a:endParaRPr>
          </a:p>
          <a:p>
            <a:pPr indent="0" lvl="0" marL="0" marR="0" rtl="0" algn="l">
              <a:spcBef>
                <a:spcPts val="0"/>
              </a:spcBef>
              <a:spcAft>
                <a:spcPts val="0"/>
              </a:spcAft>
              <a:buClr>
                <a:srgbClr val="F3EEDF"/>
              </a:buClr>
              <a:buSzPts val="1100"/>
              <a:buFont typeface="Georgia"/>
              <a:buNone/>
            </a:pPr>
            <a:r>
              <a:t/>
            </a:r>
            <a:endParaRPr i="1" sz="1100">
              <a:solidFill>
                <a:srgbClr val="F3EEDF"/>
              </a:solidFill>
              <a:latin typeface="Georgia"/>
              <a:ea typeface="Georgia"/>
              <a:cs typeface="Georgia"/>
              <a:sym typeface="Georgia"/>
            </a:endParaRPr>
          </a:p>
          <a:p>
            <a:pPr indent="0" lvl="0" marL="0" marR="0" rtl="0" algn="l">
              <a:spcBef>
                <a:spcPts val="0"/>
              </a:spcBef>
              <a:spcAft>
                <a:spcPts val="0"/>
              </a:spcAft>
              <a:buClr>
                <a:srgbClr val="F3EEDF"/>
              </a:buClr>
              <a:buSzPts val="1100"/>
              <a:buFont typeface="Georgia"/>
              <a:buNone/>
            </a:pPr>
            <a:r>
              <a:t/>
            </a:r>
            <a:endParaRPr i="1" sz="1100">
              <a:solidFill>
                <a:srgbClr val="F3EEDF"/>
              </a:solidFill>
              <a:latin typeface="Georgia"/>
              <a:ea typeface="Georgia"/>
              <a:cs typeface="Georgia"/>
              <a:sym typeface="Georgia"/>
            </a:endParaRPr>
          </a:p>
        </p:txBody>
      </p:sp>
      <p:sp>
        <p:nvSpPr>
          <p:cNvPr id="79" name="Google Shape;79;p5"/>
          <p:cNvSpPr txBox="1"/>
          <p:nvPr/>
        </p:nvSpPr>
        <p:spPr>
          <a:xfrm>
            <a:off x="4434840" y="5577840"/>
            <a:ext cx="32461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EDF"/>
              </a:buClr>
              <a:buSzPts val="800"/>
              <a:buFont typeface="Consolas"/>
              <a:buNone/>
            </a:pPr>
            <a:r>
              <a:rPr lang="en-US" sz="800">
                <a:solidFill>
                  <a:srgbClr val="F3EEDF"/>
                </a:solidFill>
                <a:latin typeface="Consolas"/>
                <a:ea typeface="Consolas"/>
                <a:cs typeface="Consolas"/>
                <a:sym typeface="Consolas"/>
              </a:rPr>
              <a:t>PBS Frontline / LA Times, 2018–2019 </a:t>
            </a:r>
            <a:endParaRPr b="0" i="0" sz="800" u="none" cap="none" strike="noStrike">
              <a:solidFill>
                <a:schemeClr val="dk1"/>
              </a:solidFill>
              <a:latin typeface="Calibri"/>
              <a:ea typeface="Calibri"/>
              <a:cs typeface="Calibri"/>
              <a:sym typeface="Calibri"/>
            </a:endParaRPr>
          </a:p>
        </p:txBody>
      </p:sp>
      <p:sp>
        <p:nvSpPr>
          <p:cNvPr id="80" name="Google Shape;80;p5"/>
          <p:cNvSpPr/>
          <p:nvPr/>
        </p:nvSpPr>
        <p:spPr>
          <a:xfrm>
            <a:off x="8046720" y="2331720"/>
            <a:ext cx="3611880" cy="3611880"/>
          </a:xfrm>
          <a:prstGeom prst="rect">
            <a:avLst/>
          </a:prstGeom>
          <a:solidFill>
            <a:srgbClr val="B32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5"/>
          <p:cNvSpPr txBox="1"/>
          <p:nvPr/>
        </p:nvSpPr>
        <p:spPr>
          <a:xfrm>
            <a:off x="8229600" y="2487168"/>
            <a:ext cx="32461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EDF"/>
              </a:buClr>
              <a:buSzPts val="950"/>
              <a:buFont typeface="Consolas"/>
              <a:buNone/>
            </a:pPr>
            <a:r>
              <a:rPr b="1" i="0" lang="en-US" sz="950" u="none" cap="none" strike="noStrike">
                <a:solidFill>
                  <a:srgbClr val="F3EEDF"/>
                </a:solidFill>
                <a:latin typeface="Consolas"/>
                <a:ea typeface="Consolas"/>
                <a:cs typeface="Consolas"/>
                <a:sym typeface="Consolas"/>
              </a:rPr>
              <a:t>KERALA FLOODS, INDIA · AUG 2018</a:t>
            </a:r>
            <a:endParaRPr b="0" i="0" sz="950" u="none" cap="none" strike="noStrike">
              <a:solidFill>
                <a:schemeClr val="dk1"/>
              </a:solidFill>
              <a:latin typeface="Calibri"/>
              <a:ea typeface="Calibri"/>
              <a:cs typeface="Calibri"/>
              <a:sym typeface="Calibri"/>
            </a:endParaRPr>
          </a:p>
        </p:txBody>
      </p:sp>
      <p:sp>
        <p:nvSpPr>
          <p:cNvPr id="82" name="Google Shape;82;p5"/>
          <p:cNvSpPr txBox="1"/>
          <p:nvPr/>
        </p:nvSpPr>
        <p:spPr>
          <a:xfrm>
            <a:off x="8229600" y="2971800"/>
            <a:ext cx="3246120" cy="2468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EDF"/>
              </a:buClr>
              <a:buSzPts val="1100"/>
              <a:buFont typeface="Georgia"/>
              <a:buNone/>
            </a:pPr>
            <a:r>
              <a:rPr b="0" i="1" lang="en-US" sz="1100" u="none" cap="none" strike="noStrike">
                <a:solidFill>
                  <a:srgbClr val="F3EEDF"/>
                </a:solidFill>
                <a:latin typeface="Georgia"/>
                <a:ea typeface="Georgia"/>
                <a:cs typeface="Georgia"/>
                <a:sym typeface="Georgia"/>
              </a:rPr>
              <a:t>“Traditional modes of communication were ineffective during the flooding as telephone and mobile networks failed. This made it difficult to deal with requests for help and coordinate rescue efforts.” 387 deaths were confirmed statewide.</a:t>
            </a:r>
            <a:endParaRPr b="0" i="1" sz="1100" u="none" cap="none" strike="noStrike">
              <a:solidFill>
                <a:srgbClr val="F3EEDF"/>
              </a:solidFill>
              <a:latin typeface="Georgia"/>
              <a:ea typeface="Georgia"/>
              <a:cs typeface="Georgia"/>
              <a:sym typeface="Georgia"/>
            </a:endParaRPr>
          </a:p>
          <a:p>
            <a:pPr indent="0" lvl="0" marL="0" marR="0" rtl="0" algn="l">
              <a:spcBef>
                <a:spcPts val="0"/>
              </a:spcBef>
              <a:spcAft>
                <a:spcPts val="0"/>
              </a:spcAft>
              <a:buClr>
                <a:srgbClr val="F3EEDF"/>
              </a:buClr>
              <a:buSzPts val="1100"/>
              <a:buFont typeface="Georgia"/>
              <a:buNone/>
            </a:pPr>
            <a:r>
              <a:t/>
            </a:r>
            <a:endParaRPr i="1" sz="1100">
              <a:solidFill>
                <a:srgbClr val="F3EEDF"/>
              </a:solidFill>
              <a:latin typeface="Georgia"/>
              <a:ea typeface="Georgia"/>
              <a:cs typeface="Georgia"/>
              <a:sym typeface="Georgia"/>
            </a:endParaRPr>
          </a:p>
          <a:p>
            <a:pPr indent="0" lvl="0" marL="0" marR="0" rtl="0" algn="l">
              <a:spcBef>
                <a:spcPts val="0"/>
              </a:spcBef>
              <a:spcAft>
                <a:spcPts val="0"/>
              </a:spcAft>
              <a:buClr>
                <a:srgbClr val="F3EEDF"/>
              </a:buClr>
              <a:buSzPts val="1100"/>
              <a:buFont typeface="Georgia"/>
              <a:buNone/>
            </a:pPr>
            <a:r>
              <a:t/>
            </a:r>
            <a:endParaRPr i="1" sz="1100">
              <a:solidFill>
                <a:srgbClr val="F3EEDF"/>
              </a:solidFill>
              <a:latin typeface="Georgia"/>
              <a:ea typeface="Georgia"/>
              <a:cs typeface="Georgia"/>
              <a:sym typeface="Georgia"/>
            </a:endParaRPr>
          </a:p>
          <a:p>
            <a:pPr indent="0" lvl="0" marL="0" marR="0" rtl="0" algn="l">
              <a:spcBef>
                <a:spcPts val="0"/>
              </a:spcBef>
              <a:spcAft>
                <a:spcPts val="0"/>
              </a:spcAft>
              <a:buClr>
                <a:srgbClr val="F3EEDF"/>
              </a:buClr>
              <a:buSzPts val="1100"/>
              <a:buFont typeface="Georgia"/>
              <a:buNone/>
            </a:pPr>
            <a:r>
              <a:rPr i="1" lang="en-US" sz="1100">
                <a:solidFill>
                  <a:srgbClr val="F3EEDF"/>
                </a:solidFill>
                <a:latin typeface="Georgia"/>
                <a:ea typeface="Georgia"/>
                <a:cs typeface="Georgia"/>
                <a:sym typeface="Georgia"/>
              </a:rPr>
              <a:t>The </a:t>
            </a:r>
            <a:r>
              <a:rPr i="1" lang="en-US" sz="1100">
                <a:solidFill>
                  <a:srgbClr val="F3EEDF"/>
                </a:solidFill>
                <a:latin typeface="Georgia"/>
                <a:ea typeface="Georgia"/>
                <a:cs typeface="Georgia"/>
                <a:sym typeface="Georgia"/>
              </a:rPr>
              <a:t>power lines</a:t>
            </a:r>
            <a:r>
              <a:rPr i="1" lang="en-US" sz="1100">
                <a:solidFill>
                  <a:srgbClr val="F3EEDF"/>
                </a:solidFill>
                <a:latin typeface="Georgia"/>
                <a:ea typeface="Georgia"/>
                <a:cs typeface="Georgia"/>
                <a:sym typeface="Georgia"/>
              </a:rPr>
              <a:t> being cut and roads being flooded further stranded the survivors alone and hopeless with no way to contact anyone else</a:t>
            </a:r>
            <a:endParaRPr i="1" sz="1100">
              <a:solidFill>
                <a:srgbClr val="F3EEDF"/>
              </a:solidFill>
              <a:latin typeface="Georgia"/>
              <a:ea typeface="Georgia"/>
              <a:cs typeface="Georgia"/>
              <a:sym typeface="Georgia"/>
            </a:endParaRPr>
          </a:p>
        </p:txBody>
      </p:sp>
      <p:sp>
        <p:nvSpPr>
          <p:cNvPr id="83" name="Google Shape;83;p5"/>
          <p:cNvSpPr txBox="1"/>
          <p:nvPr/>
        </p:nvSpPr>
        <p:spPr>
          <a:xfrm>
            <a:off x="8229600" y="5577840"/>
            <a:ext cx="32461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EDF"/>
              </a:buClr>
              <a:buSzPts val="800"/>
              <a:buFont typeface="Consolas"/>
              <a:buNone/>
            </a:pPr>
            <a:r>
              <a:rPr b="0" i="0" lang="en-US" sz="800" u="none" cap="none" strike="noStrike">
                <a:solidFill>
                  <a:srgbClr val="F3EEDF"/>
                </a:solidFill>
                <a:latin typeface="Consolas"/>
                <a:ea typeface="Consolas"/>
                <a:cs typeface="Consolas"/>
                <a:sym typeface="Consolas"/>
              </a:rPr>
              <a:t>Peer-reviewed case study, IEEE India Info</a:t>
            </a:r>
            <a:endParaRPr b="0" i="0" sz="800" u="none" cap="none" strike="noStrike">
              <a:solidFill>
                <a:schemeClr val="dk1"/>
              </a:solidFill>
              <a:latin typeface="Calibri"/>
              <a:ea typeface="Calibri"/>
              <a:cs typeface="Calibri"/>
              <a:sym typeface="Calibri"/>
            </a:endParaRPr>
          </a:p>
        </p:txBody>
      </p:sp>
      <p:cxnSp>
        <p:nvCxnSpPr>
          <p:cNvPr id="84" name="Google Shape;84;p5"/>
          <p:cNvCxnSpPr/>
          <p:nvPr/>
        </p:nvCxnSpPr>
        <p:spPr>
          <a:xfrm>
            <a:off x="457200" y="6400800"/>
            <a:ext cx="11274552" cy="0"/>
          </a:xfrm>
          <a:prstGeom prst="straightConnector1">
            <a:avLst/>
          </a:prstGeom>
          <a:noFill/>
          <a:ln cap="flat" cmpd="sng" w="12700">
            <a:solidFill>
              <a:srgbClr val="8A8270"/>
            </a:solidFill>
            <a:prstDash val="solid"/>
            <a:round/>
            <a:headEnd len="sm" w="sm" type="none"/>
            <a:tailEnd len="sm" w="sm" type="none"/>
          </a:ln>
        </p:spPr>
      </p:cxnSp>
      <p:sp>
        <p:nvSpPr>
          <p:cNvPr id="85" name="Google Shape;85;p5"/>
          <p:cNvSpPr txBox="1"/>
          <p:nvPr/>
        </p:nvSpPr>
        <p:spPr>
          <a:xfrm>
            <a:off x="457200" y="649224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270"/>
              </a:buClr>
              <a:buSzPts val="850"/>
              <a:buFont typeface="Consolas"/>
              <a:buNone/>
            </a:pPr>
            <a:r>
              <a:rPr b="1" i="0" lang="en-US" sz="850" u="none" cap="none" strike="noStrike">
                <a:solidFill>
                  <a:srgbClr val="8A8270"/>
                </a:solidFill>
                <a:latin typeface="Consolas"/>
                <a:ea typeface="Consolas"/>
                <a:cs typeface="Consolas"/>
                <a:sym typeface="Consolas"/>
              </a:rPr>
              <a:t>NONE OF THESE NETWORKS FAILED FOR LACK OF WILL — THEY FAILED BECAUSE COORDINATION DEPENDED ON INFRASTRUCTURE THE DISASTER HAD ALREADY TAKEN DOWN.</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6D5"/>
        </a:solidFill>
      </p:bgPr>
    </p:bg>
    <p:spTree>
      <p:nvGrpSpPr>
        <p:cNvPr id="90" name="Shape 90"/>
        <p:cNvGrpSpPr/>
        <p:nvPr/>
      </p:nvGrpSpPr>
      <p:grpSpPr>
        <a:xfrm>
          <a:off x="0" y="0"/>
          <a:ext cx="0" cy="0"/>
          <a:chOff x="0" y="0"/>
          <a:chExt cx="0" cy="0"/>
        </a:xfrm>
      </p:grpSpPr>
      <p:sp>
        <p:nvSpPr>
          <p:cNvPr id="91" name="Google Shape;91;p6"/>
          <p:cNvSpPr txBox="1"/>
          <p:nvPr/>
        </p:nvSpPr>
        <p:spPr>
          <a:xfrm>
            <a:off x="457200" y="3200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1000"/>
              <a:buFont typeface="Consolas"/>
              <a:buNone/>
            </a:pPr>
            <a:r>
              <a:rPr b="1" i="0" lang="en-US" sz="1000" u="none" cap="none" strike="noStrike">
                <a:solidFill>
                  <a:srgbClr val="232323"/>
                </a:solidFill>
                <a:latin typeface="Consolas"/>
                <a:ea typeface="Consolas"/>
                <a:cs typeface="Consolas"/>
                <a:sym typeface="Consolas"/>
              </a:rPr>
              <a:t>THE BRIEF</a:t>
            </a:r>
            <a:endParaRPr b="0" i="0" sz="1000" u="none" cap="none" strike="noStrike">
              <a:solidFill>
                <a:schemeClr val="dk1"/>
              </a:solidFill>
              <a:latin typeface="Calibri"/>
              <a:ea typeface="Calibri"/>
              <a:cs typeface="Calibri"/>
              <a:sym typeface="Calibri"/>
            </a:endParaRPr>
          </a:p>
        </p:txBody>
      </p:sp>
      <p:sp>
        <p:nvSpPr>
          <p:cNvPr id="92" name="Google Shape;92;p6"/>
          <p:cNvSpPr txBox="1"/>
          <p:nvPr/>
        </p:nvSpPr>
        <p:spPr>
          <a:xfrm>
            <a:off x="7159752" y="320040"/>
            <a:ext cx="45720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32323"/>
              </a:buClr>
              <a:buSzPts val="1000"/>
              <a:buFont typeface="Consolas"/>
              <a:buNone/>
            </a:pPr>
            <a:r>
              <a:rPr b="1" i="0" lang="en-US" sz="1000" u="none" cap="none" strike="noStrike">
                <a:solidFill>
                  <a:srgbClr val="232323"/>
                </a:solidFill>
                <a:latin typeface="Consolas"/>
                <a:ea typeface="Consolas"/>
                <a:cs typeface="Consolas"/>
                <a:sym typeface="Consolas"/>
              </a:rPr>
              <a:t>CONCEPT + WHY</a:t>
            </a:r>
            <a:endParaRPr b="0" i="0" sz="1000" u="none" cap="none" strike="noStrike">
              <a:solidFill>
                <a:schemeClr val="dk1"/>
              </a:solidFill>
              <a:latin typeface="Calibri"/>
              <a:ea typeface="Calibri"/>
              <a:cs typeface="Calibri"/>
              <a:sym typeface="Calibri"/>
            </a:endParaRPr>
          </a:p>
        </p:txBody>
      </p:sp>
      <p:cxnSp>
        <p:nvCxnSpPr>
          <p:cNvPr id="93" name="Google Shape;93;p6"/>
          <p:cNvCxnSpPr/>
          <p:nvPr/>
        </p:nvCxnSpPr>
        <p:spPr>
          <a:xfrm>
            <a:off x="457200" y="685800"/>
            <a:ext cx="11274552" cy="0"/>
          </a:xfrm>
          <a:prstGeom prst="straightConnector1">
            <a:avLst/>
          </a:prstGeom>
          <a:noFill/>
          <a:ln cap="flat" cmpd="sng" w="12700">
            <a:solidFill>
              <a:srgbClr val="232323"/>
            </a:solidFill>
            <a:prstDash val="solid"/>
            <a:round/>
            <a:headEnd len="sm" w="sm" type="none"/>
            <a:tailEnd len="sm" w="sm" type="none"/>
          </a:ln>
        </p:spPr>
      </p:cxnSp>
      <p:sp>
        <p:nvSpPr>
          <p:cNvPr id="94" name="Google Shape;94;p6"/>
          <p:cNvSpPr txBox="1"/>
          <p:nvPr/>
        </p:nvSpPr>
        <p:spPr>
          <a:xfrm>
            <a:off x="457200" y="1005840"/>
            <a:ext cx="6217920" cy="2377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3400"/>
              <a:buFont typeface="Georgia"/>
              <a:buNone/>
            </a:pPr>
            <a:r>
              <a:rPr b="1" i="0" lang="en-US" sz="3400" u="none" cap="none" strike="noStrike">
                <a:solidFill>
                  <a:srgbClr val="232323"/>
                </a:solidFill>
                <a:latin typeface="Georgia"/>
                <a:ea typeface="Georgia"/>
                <a:cs typeface="Georgia"/>
                <a:sym typeface="Georgia"/>
              </a:rPr>
              <a:t>Keep </a:t>
            </a:r>
            <a:r>
              <a:rPr b="0" i="1" lang="en-US" sz="3400" u="none" cap="none" strike="noStrike">
                <a:solidFill>
                  <a:srgbClr val="0F6E56"/>
                </a:solidFill>
                <a:latin typeface="Georgia"/>
                <a:ea typeface="Georgia"/>
                <a:cs typeface="Georgia"/>
                <a:sym typeface="Georgia"/>
              </a:rPr>
              <a:t>living</a:t>
            </a:r>
            <a:r>
              <a:rPr b="1" i="0" lang="en-US" sz="3400" u="none" cap="none" strike="noStrike">
                <a:solidFill>
                  <a:srgbClr val="232323"/>
                </a:solidFill>
                <a:latin typeface="Georgia"/>
                <a:ea typeface="Georgia"/>
                <a:cs typeface="Georgia"/>
                <a:sym typeface="Georgia"/>
              </a:rPr>
              <a:t>, keep</a:t>
            </a:r>
            <a:br>
              <a:rPr b="1" i="0" lang="en-US" sz="3400" u="none" cap="none" strike="noStrike">
                <a:solidFill>
                  <a:srgbClr val="232323"/>
                </a:solidFill>
                <a:latin typeface="Georgia"/>
                <a:ea typeface="Georgia"/>
                <a:cs typeface="Georgia"/>
                <a:sym typeface="Georgia"/>
              </a:rPr>
            </a:br>
            <a:r>
              <a:rPr b="1" i="0" lang="en-US" sz="3400" u="none" cap="none" strike="noStrike">
                <a:solidFill>
                  <a:srgbClr val="232323"/>
                </a:solidFill>
                <a:latin typeface="Georgia"/>
                <a:ea typeface="Georgia"/>
                <a:cs typeface="Georgia"/>
                <a:sym typeface="Georgia"/>
              </a:rPr>
              <a:t>remembering, keep</a:t>
            </a:r>
            <a:br>
              <a:rPr b="1" i="0" lang="en-US" sz="3400" u="none" cap="none" strike="noStrike">
                <a:solidFill>
                  <a:srgbClr val="232323"/>
                </a:solidFill>
                <a:latin typeface="Georgia"/>
                <a:ea typeface="Georgia"/>
                <a:cs typeface="Georgia"/>
                <a:sym typeface="Georgia"/>
              </a:rPr>
            </a:br>
            <a:r>
              <a:rPr b="0" i="1" lang="en-US" sz="3400" u="none" cap="none" strike="noStrike">
                <a:solidFill>
                  <a:srgbClr val="B3261E"/>
                </a:solidFill>
                <a:latin typeface="Georgia"/>
                <a:ea typeface="Georgia"/>
                <a:cs typeface="Georgia"/>
                <a:sym typeface="Georgia"/>
              </a:rPr>
              <a:t>recovering.</a:t>
            </a:r>
            <a:endParaRPr b="0" i="0" sz="3400" u="none" cap="none" strike="noStrike">
              <a:solidFill>
                <a:schemeClr val="dk1"/>
              </a:solidFill>
              <a:latin typeface="Calibri"/>
              <a:ea typeface="Calibri"/>
              <a:cs typeface="Calibri"/>
              <a:sym typeface="Calibri"/>
            </a:endParaRPr>
          </a:p>
        </p:txBody>
      </p:sp>
      <p:sp>
        <p:nvSpPr>
          <p:cNvPr id="95" name="Google Shape;95;p6"/>
          <p:cNvSpPr/>
          <p:nvPr/>
        </p:nvSpPr>
        <p:spPr>
          <a:xfrm>
            <a:off x="7040880" y="960120"/>
            <a:ext cx="4663440" cy="2834640"/>
          </a:xfrm>
          <a:prstGeom prst="rect">
            <a:avLst/>
          </a:prstGeom>
          <a:solidFill>
            <a:srgbClr val="1E2A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6"/>
          <p:cNvSpPr txBox="1"/>
          <p:nvPr/>
        </p:nvSpPr>
        <p:spPr>
          <a:xfrm>
            <a:off x="7269480" y="114300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270"/>
              </a:buClr>
              <a:buSzPts val="1000"/>
              <a:buFont typeface="Consolas"/>
              <a:buNone/>
            </a:pPr>
            <a:r>
              <a:rPr b="1" i="0" lang="en-US" sz="1000" u="none" cap="none" strike="noStrike">
                <a:solidFill>
                  <a:srgbClr val="8A8270"/>
                </a:solidFill>
                <a:latin typeface="Consolas"/>
                <a:ea typeface="Consolas"/>
                <a:cs typeface="Consolas"/>
                <a:sym typeface="Consolas"/>
              </a:rPr>
              <a:t>WHY THIS EXISTS</a:t>
            </a:r>
            <a:endParaRPr b="0" i="0" sz="1000" u="none" cap="none" strike="noStrike">
              <a:solidFill>
                <a:schemeClr val="dk1"/>
              </a:solidFill>
              <a:latin typeface="Calibri"/>
              <a:ea typeface="Calibri"/>
              <a:cs typeface="Calibri"/>
              <a:sym typeface="Calibri"/>
            </a:endParaRPr>
          </a:p>
        </p:txBody>
      </p:sp>
      <p:sp>
        <p:nvSpPr>
          <p:cNvPr id="97" name="Google Shape;97;p6"/>
          <p:cNvSpPr txBox="1"/>
          <p:nvPr/>
        </p:nvSpPr>
        <p:spPr>
          <a:xfrm>
            <a:off x="7269480" y="1463040"/>
            <a:ext cx="4206240" cy="1280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1500"/>
              <a:buFont typeface="Georgia"/>
              <a:buNone/>
            </a:pPr>
            <a:r>
              <a:rPr b="0" i="0" lang="en-US" sz="1500" u="none" cap="none" strike="noStrike">
                <a:solidFill>
                  <a:srgbClr val="F3EEDF"/>
                </a:solidFill>
                <a:latin typeface="Georgia"/>
                <a:ea typeface="Georgia"/>
                <a:cs typeface="Georgia"/>
                <a:sym typeface="Georgia"/>
              </a:rPr>
              <a:t>Every phone already carries the tools to </a:t>
            </a:r>
            <a:r>
              <a:rPr b="0" i="1" lang="en-US" sz="1500" u="none" cap="none" strike="noStrike">
                <a:solidFill>
                  <a:srgbClr val="B3261E"/>
                </a:solidFill>
                <a:latin typeface="Georgia"/>
                <a:ea typeface="Georgia"/>
                <a:cs typeface="Georgia"/>
                <a:sym typeface="Georgia"/>
              </a:rPr>
              <a:t>save a thought</a:t>
            </a:r>
            <a:r>
              <a:rPr b="0" i="0" lang="en-US" sz="1500" u="none" cap="none" strike="noStrike">
                <a:solidFill>
                  <a:srgbClr val="F3EEDF"/>
                </a:solidFill>
                <a:latin typeface="Georgia"/>
                <a:ea typeface="Georgia"/>
                <a:cs typeface="Georgia"/>
                <a:sym typeface="Georgia"/>
              </a:rPr>
              <a:t> and to </a:t>
            </a:r>
            <a:r>
              <a:rPr b="0" i="1" lang="en-US" sz="1500" u="none" cap="none" strike="noStrike">
                <a:solidFill>
                  <a:srgbClr val="B3261E"/>
                </a:solidFill>
                <a:latin typeface="Georgia"/>
                <a:ea typeface="Georgia"/>
                <a:cs typeface="Georgia"/>
                <a:sym typeface="Georgia"/>
              </a:rPr>
              <a:t>save a life</a:t>
            </a:r>
            <a:r>
              <a:rPr b="0" i="0" lang="en-US" sz="1500" u="none" cap="none" strike="noStrike">
                <a:solidFill>
                  <a:srgbClr val="F3EEDF"/>
                </a:solidFill>
                <a:latin typeface="Georgia"/>
                <a:ea typeface="Georgia"/>
                <a:cs typeface="Georgia"/>
                <a:sym typeface="Georgia"/>
              </a:rPr>
              <a:t>. Most days it is not asked to do either.</a:t>
            </a:r>
            <a:endParaRPr b="0" i="0" sz="1500" u="none" cap="none" strike="noStrike">
              <a:solidFill>
                <a:schemeClr val="dk1"/>
              </a:solidFill>
              <a:latin typeface="Calibri"/>
              <a:ea typeface="Calibri"/>
              <a:cs typeface="Calibri"/>
              <a:sym typeface="Calibri"/>
            </a:endParaRPr>
          </a:p>
        </p:txBody>
      </p:sp>
      <p:sp>
        <p:nvSpPr>
          <p:cNvPr id="98" name="Google Shape;98;p6"/>
          <p:cNvSpPr txBox="1"/>
          <p:nvPr/>
        </p:nvSpPr>
        <p:spPr>
          <a:xfrm>
            <a:off x="7269480" y="3383280"/>
            <a:ext cx="4206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270"/>
              </a:buClr>
              <a:buSzPts val="950"/>
              <a:buFont typeface="Consolas"/>
              <a:buNone/>
            </a:pPr>
            <a:r>
              <a:rPr b="0" i="0" lang="en-US" sz="950" u="none" cap="none" strike="noStrike">
                <a:solidFill>
                  <a:srgbClr val="8A8270"/>
                </a:solidFill>
                <a:latin typeface="Consolas"/>
                <a:ea typeface="Consolas"/>
                <a:cs typeface="Consolas"/>
                <a:sym typeface="Consolas"/>
              </a:rPr>
              <a:t>Resilience is built long before the disaster.</a:t>
            </a:r>
            <a:endParaRPr b="0" i="0" sz="950" u="none" cap="none" strike="noStrike">
              <a:solidFill>
                <a:schemeClr val="dk1"/>
              </a:solidFill>
              <a:latin typeface="Calibri"/>
              <a:ea typeface="Calibri"/>
              <a:cs typeface="Calibri"/>
              <a:sym typeface="Calibri"/>
            </a:endParaRPr>
          </a:p>
        </p:txBody>
      </p:sp>
      <p:cxnSp>
        <p:nvCxnSpPr>
          <p:cNvPr id="99" name="Google Shape;99;p6"/>
          <p:cNvCxnSpPr/>
          <p:nvPr/>
        </p:nvCxnSpPr>
        <p:spPr>
          <a:xfrm>
            <a:off x="457200" y="3977640"/>
            <a:ext cx="4754880" cy="0"/>
          </a:xfrm>
          <a:prstGeom prst="straightConnector1">
            <a:avLst/>
          </a:prstGeom>
          <a:noFill/>
          <a:ln cap="flat" cmpd="sng" w="12700">
            <a:solidFill>
              <a:srgbClr val="8A8270"/>
            </a:solidFill>
            <a:prstDash val="solid"/>
            <a:round/>
            <a:headEnd len="sm" w="sm" type="none"/>
            <a:tailEnd len="sm" w="sm" type="none"/>
          </a:ln>
        </p:spPr>
      </p:cxnSp>
      <p:sp>
        <p:nvSpPr>
          <p:cNvPr id="100" name="Google Shape;100;p6"/>
          <p:cNvSpPr txBox="1"/>
          <p:nvPr/>
        </p:nvSpPr>
        <p:spPr>
          <a:xfrm>
            <a:off x="457200" y="411480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E56"/>
              </a:buClr>
              <a:buSzPts val="1000"/>
              <a:buFont typeface="Consolas"/>
              <a:buNone/>
            </a:pPr>
            <a:r>
              <a:rPr b="1" i="0" lang="en-US" sz="1000" u="none" cap="none" strike="noStrike">
                <a:solidFill>
                  <a:srgbClr val="0F6E56"/>
                </a:solidFill>
                <a:latin typeface="Consolas"/>
                <a:ea typeface="Consolas"/>
                <a:cs typeface="Consolas"/>
                <a:sym typeface="Consolas"/>
              </a:rPr>
              <a:t>IN ONE SENTENCE</a:t>
            </a:r>
            <a:endParaRPr b="0" i="0" sz="1000" u="none" cap="none" strike="noStrike">
              <a:solidFill>
                <a:schemeClr val="dk1"/>
              </a:solidFill>
              <a:latin typeface="Calibri"/>
              <a:ea typeface="Calibri"/>
              <a:cs typeface="Calibri"/>
              <a:sym typeface="Calibri"/>
            </a:endParaRPr>
          </a:p>
        </p:txBody>
      </p:sp>
      <p:sp>
        <p:nvSpPr>
          <p:cNvPr id="101" name="Google Shape;101;p6"/>
          <p:cNvSpPr txBox="1"/>
          <p:nvPr/>
        </p:nvSpPr>
        <p:spPr>
          <a:xfrm>
            <a:off x="457200" y="4434840"/>
            <a:ext cx="82296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1500"/>
              <a:buFont typeface="Georgia"/>
              <a:buNone/>
            </a:pPr>
            <a:r>
              <a:rPr b="0" i="1" lang="en-US" sz="1500" u="none" cap="none" strike="noStrike">
                <a:solidFill>
                  <a:srgbClr val="232323"/>
                </a:solidFill>
                <a:latin typeface="Georgia"/>
                <a:ea typeface="Georgia"/>
                <a:cs typeface="Georgia"/>
                <a:sym typeface="Georgia"/>
              </a:rPr>
              <a:t>A local-first AI app that captures daily life daily, supports you through emergencies daily, and reconnects cleanly when the world comes back online.</a:t>
            </a:r>
            <a:endParaRPr b="0" i="0" sz="1500" u="none" cap="none" strike="noStrike">
              <a:solidFill>
                <a:schemeClr val="dk1"/>
              </a:solidFill>
              <a:latin typeface="Calibri"/>
              <a:ea typeface="Calibri"/>
              <a:cs typeface="Calibri"/>
              <a:sym typeface="Calibri"/>
            </a:endParaRPr>
          </a:p>
        </p:txBody>
      </p:sp>
      <p:sp>
        <p:nvSpPr>
          <p:cNvPr id="102" name="Google Shape;102;p6"/>
          <p:cNvSpPr/>
          <p:nvPr/>
        </p:nvSpPr>
        <p:spPr>
          <a:xfrm>
            <a:off x="457200" y="5486400"/>
            <a:ext cx="3611880" cy="914400"/>
          </a:xfrm>
          <a:prstGeom prst="rect">
            <a:avLst/>
          </a:prstGeom>
          <a:solidFill>
            <a:srgbClr val="E2D8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6"/>
          <p:cNvSpPr txBox="1"/>
          <p:nvPr/>
        </p:nvSpPr>
        <p:spPr>
          <a:xfrm>
            <a:off x="640080" y="5577840"/>
            <a:ext cx="3291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270"/>
              </a:buClr>
              <a:buSzPts val="900"/>
              <a:buFont typeface="Consolas"/>
              <a:buNone/>
            </a:pPr>
            <a:r>
              <a:rPr b="1" i="0" lang="en-US" sz="900" u="none" cap="none" strike="noStrike">
                <a:solidFill>
                  <a:srgbClr val="8A8270"/>
                </a:solidFill>
                <a:latin typeface="Consolas"/>
                <a:ea typeface="Consolas"/>
                <a:cs typeface="Consolas"/>
                <a:sym typeface="Consolas"/>
              </a:rPr>
              <a:t>Daily Life</a:t>
            </a:r>
            <a:endParaRPr b="0" i="0" sz="900" u="none" cap="none" strike="noStrike">
              <a:solidFill>
                <a:schemeClr val="dk1"/>
              </a:solidFill>
              <a:latin typeface="Calibri"/>
              <a:ea typeface="Calibri"/>
              <a:cs typeface="Calibri"/>
              <a:sym typeface="Calibri"/>
            </a:endParaRPr>
          </a:p>
        </p:txBody>
      </p:sp>
      <p:sp>
        <p:nvSpPr>
          <p:cNvPr id="104" name="Google Shape;104;p6"/>
          <p:cNvSpPr txBox="1"/>
          <p:nvPr/>
        </p:nvSpPr>
        <p:spPr>
          <a:xfrm>
            <a:off x="640080" y="5852160"/>
            <a:ext cx="32918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323"/>
              </a:buClr>
              <a:buSzPts val="1100"/>
              <a:buFont typeface="Calibri"/>
              <a:buNone/>
            </a:pPr>
            <a:r>
              <a:rPr b="1" i="0" lang="en-US" sz="1100" u="none" cap="none" strike="noStrike">
                <a:solidFill>
                  <a:srgbClr val="232323"/>
                </a:solidFill>
                <a:latin typeface="Calibri"/>
                <a:ea typeface="Calibri"/>
                <a:cs typeface="Calibri"/>
                <a:sym typeface="Calibri"/>
              </a:rPr>
              <a:t>Capture ideas. Reflect. Organize. Search everything, even offline.</a:t>
            </a:r>
            <a:endParaRPr b="0" i="0" sz="1100" u="none" cap="none" strike="noStrike">
              <a:solidFill>
                <a:schemeClr val="dk1"/>
              </a:solidFill>
              <a:latin typeface="Calibri"/>
              <a:ea typeface="Calibri"/>
              <a:cs typeface="Calibri"/>
              <a:sym typeface="Calibri"/>
            </a:endParaRPr>
          </a:p>
        </p:txBody>
      </p:sp>
      <p:sp>
        <p:nvSpPr>
          <p:cNvPr id="105" name="Google Shape;105;p6"/>
          <p:cNvSpPr/>
          <p:nvPr/>
        </p:nvSpPr>
        <p:spPr>
          <a:xfrm>
            <a:off x="4251960" y="5486400"/>
            <a:ext cx="3611880" cy="914400"/>
          </a:xfrm>
          <a:prstGeom prst="rect">
            <a:avLst/>
          </a:prstGeom>
          <a:solidFill>
            <a:srgbClr val="B32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6"/>
          <p:cNvSpPr txBox="1"/>
          <p:nvPr/>
        </p:nvSpPr>
        <p:spPr>
          <a:xfrm>
            <a:off x="4434840" y="5577840"/>
            <a:ext cx="3291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900"/>
              <a:buFont typeface="Consolas"/>
              <a:buNone/>
            </a:pPr>
            <a:r>
              <a:rPr b="1" i="0" lang="en-US" sz="900" u="none" cap="none" strike="noStrike">
                <a:solidFill>
                  <a:srgbClr val="F3EEDF"/>
                </a:solidFill>
                <a:latin typeface="Consolas"/>
                <a:ea typeface="Consolas"/>
                <a:cs typeface="Consolas"/>
                <a:sym typeface="Consolas"/>
              </a:rPr>
              <a:t>Disaster</a:t>
            </a:r>
            <a:endParaRPr b="0" i="0" sz="900" u="none" cap="none" strike="noStrike">
              <a:solidFill>
                <a:schemeClr val="dk1"/>
              </a:solidFill>
              <a:latin typeface="Calibri"/>
              <a:ea typeface="Calibri"/>
              <a:cs typeface="Calibri"/>
              <a:sym typeface="Calibri"/>
            </a:endParaRPr>
          </a:p>
        </p:txBody>
      </p:sp>
      <p:sp>
        <p:nvSpPr>
          <p:cNvPr id="107" name="Google Shape;107;p6"/>
          <p:cNvSpPr txBox="1"/>
          <p:nvPr/>
        </p:nvSpPr>
        <p:spPr>
          <a:xfrm>
            <a:off x="4434840" y="5852160"/>
            <a:ext cx="32918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EDF"/>
              </a:buClr>
              <a:buSzPts val="1100"/>
              <a:buFont typeface="Calibri"/>
              <a:buNone/>
            </a:pPr>
            <a:r>
              <a:rPr b="1" i="0" lang="en-US" sz="1100" u="none" cap="none" strike="noStrike">
                <a:solidFill>
                  <a:srgbClr val="F3EEDF"/>
                </a:solidFill>
                <a:latin typeface="Calibri"/>
                <a:ea typeface="Calibri"/>
                <a:cs typeface="Calibri"/>
                <a:sym typeface="Calibri"/>
              </a:rPr>
              <a:t>Log incidents, supplies, triage. Chat peer-to-peer. Get AI guidance.</a:t>
            </a:r>
            <a:endParaRPr b="0" i="0" sz="1100" u="none" cap="none" strike="noStrike">
              <a:solidFill>
                <a:schemeClr val="dk1"/>
              </a:solidFill>
              <a:latin typeface="Calibri"/>
              <a:ea typeface="Calibri"/>
              <a:cs typeface="Calibri"/>
              <a:sym typeface="Calibri"/>
            </a:endParaRPr>
          </a:p>
        </p:txBody>
      </p:sp>
      <p:sp>
        <p:nvSpPr>
          <p:cNvPr id="108" name="Google Shape;108;p6"/>
          <p:cNvSpPr/>
          <p:nvPr/>
        </p:nvSpPr>
        <p:spPr>
          <a:xfrm>
            <a:off x="8046720" y="5486400"/>
            <a:ext cx="3611880" cy="914400"/>
          </a:xfrm>
          <a:prstGeom prst="rect">
            <a:avLst/>
          </a:prstGeom>
          <a:solidFill>
            <a:srgbClr val="1E2A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6"/>
          <p:cNvSpPr txBox="1"/>
          <p:nvPr/>
        </p:nvSpPr>
        <p:spPr>
          <a:xfrm>
            <a:off x="8229600" y="5577840"/>
            <a:ext cx="3291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900"/>
              <a:buFont typeface="Consolas"/>
              <a:buNone/>
            </a:pPr>
            <a:r>
              <a:rPr b="1" i="0" lang="en-US" sz="900" u="none" cap="none" strike="noStrike">
                <a:solidFill>
                  <a:srgbClr val="F3EEDF"/>
                </a:solidFill>
                <a:latin typeface="Consolas"/>
                <a:ea typeface="Consolas"/>
                <a:cs typeface="Consolas"/>
                <a:sym typeface="Consolas"/>
              </a:rPr>
              <a:t>Recovery</a:t>
            </a:r>
            <a:endParaRPr b="0" i="0" sz="900" u="none" cap="none" strike="noStrike">
              <a:solidFill>
                <a:schemeClr val="dk1"/>
              </a:solidFill>
              <a:latin typeface="Calibri"/>
              <a:ea typeface="Calibri"/>
              <a:cs typeface="Calibri"/>
              <a:sym typeface="Calibri"/>
            </a:endParaRPr>
          </a:p>
        </p:txBody>
      </p:sp>
      <p:sp>
        <p:nvSpPr>
          <p:cNvPr id="110" name="Google Shape;110;p6"/>
          <p:cNvSpPr txBox="1"/>
          <p:nvPr/>
        </p:nvSpPr>
        <p:spPr>
          <a:xfrm>
            <a:off x="8229600" y="5852160"/>
            <a:ext cx="32918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EDF"/>
              </a:buClr>
              <a:buSzPts val="1100"/>
              <a:buFont typeface="Calibri"/>
              <a:buNone/>
            </a:pPr>
            <a:r>
              <a:rPr b="1" i="0" lang="en-US" sz="1100" u="none" cap="none" strike="noStrike">
                <a:solidFill>
                  <a:srgbClr val="F3EEDF"/>
                </a:solidFill>
                <a:latin typeface="Calibri"/>
                <a:ea typeface="Calibri"/>
                <a:cs typeface="Calibri"/>
                <a:sym typeface="Calibri"/>
              </a:rPr>
              <a:t>Encrypted local-first storage. Sync with conflict resolution when net returns.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6D5"/>
        </a:solidFill>
      </p:bgPr>
    </p:bg>
    <p:spTree>
      <p:nvGrpSpPr>
        <p:cNvPr id="115" name="Shape 115"/>
        <p:cNvGrpSpPr/>
        <p:nvPr/>
      </p:nvGrpSpPr>
      <p:grpSpPr>
        <a:xfrm>
          <a:off x="0" y="0"/>
          <a:ext cx="0" cy="0"/>
          <a:chOff x="0" y="0"/>
          <a:chExt cx="0" cy="0"/>
        </a:xfrm>
      </p:grpSpPr>
      <p:sp>
        <p:nvSpPr>
          <p:cNvPr id="116" name="Google Shape;116;p7"/>
          <p:cNvSpPr txBox="1"/>
          <p:nvPr/>
        </p:nvSpPr>
        <p:spPr>
          <a:xfrm>
            <a:off x="457200" y="3200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1000"/>
              <a:buFont typeface="Consolas"/>
              <a:buNone/>
            </a:pPr>
            <a:r>
              <a:rPr b="1" i="0" lang="en-US" sz="1000" u="none" cap="none" strike="noStrike">
                <a:solidFill>
                  <a:srgbClr val="232323"/>
                </a:solidFill>
                <a:latin typeface="Consolas"/>
                <a:ea typeface="Consolas"/>
                <a:cs typeface="Consolas"/>
                <a:sym typeface="Consolas"/>
              </a:rPr>
              <a:t>ANATOMY OF THE APP</a:t>
            </a:r>
            <a:endParaRPr b="0" i="0" sz="1000" u="none" cap="none" strike="noStrike">
              <a:solidFill>
                <a:schemeClr val="dk1"/>
              </a:solidFill>
              <a:latin typeface="Calibri"/>
              <a:ea typeface="Calibri"/>
              <a:cs typeface="Calibri"/>
              <a:sym typeface="Calibri"/>
            </a:endParaRPr>
          </a:p>
        </p:txBody>
      </p:sp>
      <p:sp>
        <p:nvSpPr>
          <p:cNvPr id="117" name="Google Shape;117;p7"/>
          <p:cNvSpPr txBox="1"/>
          <p:nvPr/>
        </p:nvSpPr>
        <p:spPr>
          <a:xfrm>
            <a:off x="7159752" y="320040"/>
            <a:ext cx="45720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32323"/>
              </a:buClr>
              <a:buSzPts val="1000"/>
              <a:buFont typeface="Consolas"/>
              <a:buNone/>
            </a:pPr>
            <a:r>
              <a:rPr b="1" i="0" lang="en-US" sz="1000" u="none" cap="none" strike="noStrike">
                <a:solidFill>
                  <a:srgbClr val="232323"/>
                </a:solidFill>
                <a:latin typeface="Consolas"/>
                <a:ea typeface="Consolas"/>
                <a:cs typeface="Consolas"/>
                <a:sym typeface="Consolas"/>
              </a:rPr>
              <a:t>FIVE MODULES</a:t>
            </a:r>
            <a:endParaRPr b="0" i="0" sz="1000" u="none" cap="none" strike="noStrike">
              <a:solidFill>
                <a:schemeClr val="dk1"/>
              </a:solidFill>
              <a:latin typeface="Calibri"/>
              <a:ea typeface="Calibri"/>
              <a:cs typeface="Calibri"/>
              <a:sym typeface="Calibri"/>
            </a:endParaRPr>
          </a:p>
        </p:txBody>
      </p:sp>
      <p:cxnSp>
        <p:nvCxnSpPr>
          <p:cNvPr id="118" name="Google Shape;118;p7"/>
          <p:cNvCxnSpPr/>
          <p:nvPr/>
        </p:nvCxnSpPr>
        <p:spPr>
          <a:xfrm>
            <a:off x="457200" y="685800"/>
            <a:ext cx="11274552" cy="0"/>
          </a:xfrm>
          <a:prstGeom prst="straightConnector1">
            <a:avLst/>
          </a:prstGeom>
          <a:noFill/>
          <a:ln cap="flat" cmpd="sng" w="12700">
            <a:solidFill>
              <a:srgbClr val="232323"/>
            </a:solidFill>
            <a:prstDash val="solid"/>
            <a:round/>
            <a:headEnd len="sm" w="sm" type="none"/>
            <a:tailEnd len="sm" w="sm" type="none"/>
          </a:ln>
        </p:spPr>
      </p:cxnSp>
      <p:sp>
        <p:nvSpPr>
          <p:cNvPr id="119" name="Google Shape;119;p7"/>
          <p:cNvSpPr txBox="1"/>
          <p:nvPr/>
        </p:nvSpPr>
        <p:spPr>
          <a:xfrm>
            <a:off x="457200" y="1005840"/>
            <a:ext cx="86868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2800"/>
              <a:buFont typeface="Georgia"/>
              <a:buNone/>
            </a:pPr>
            <a:r>
              <a:rPr b="1" i="0" lang="en-US" sz="2800" u="none" cap="none" strike="noStrike">
                <a:solidFill>
                  <a:srgbClr val="232323"/>
                </a:solidFill>
                <a:latin typeface="Georgia"/>
                <a:ea typeface="Georgia"/>
                <a:cs typeface="Georgia"/>
                <a:sym typeface="Georgia"/>
              </a:rPr>
              <a:t>Five modules that compose </a:t>
            </a:r>
            <a:r>
              <a:rPr b="0" i="1" lang="en-US" sz="2800" u="none" cap="none" strike="noStrike">
                <a:solidFill>
                  <a:srgbClr val="B3261E"/>
                </a:solidFill>
                <a:latin typeface="Georgia"/>
                <a:ea typeface="Georgia"/>
                <a:cs typeface="Georgia"/>
                <a:sym typeface="Georgia"/>
              </a:rPr>
              <a:t>one companion</a:t>
            </a:r>
            <a:r>
              <a:rPr b="1" i="0" lang="en-US" sz="2800" u="none" cap="none" strike="noStrike">
                <a:solidFill>
                  <a:srgbClr val="232323"/>
                </a:solidFill>
                <a:latin typeface="Georgia"/>
                <a:ea typeface="Georgia"/>
                <a:cs typeface="Georgia"/>
                <a:sym typeface="Georgia"/>
              </a:rPr>
              <a:t>.</a:t>
            </a:r>
            <a:endParaRPr b="0" i="0" sz="2800" u="none" cap="none" strike="noStrike">
              <a:solidFill>
                <a:schemeClr val="dk1"/>
              </a:solidFill>
              <a:latin typeface="Calibri"/>
              <a:ea typeface="Calibri"/>
              <a:cs typeface="Calibri"/>
              <a:sym typeface="Calibri"/>
            </a:endParaRPr>
          </a:p>
        </p:txBody>
      </p:sp>
      <p:sp>
        <p:nvSpPr>
          <p:cNvPr id="120" name="Google Shape;120;p7"/>
          <p:cNvSpPr txBox="1"/>
          <p:nvPr/>
        </p:nvSpPr>
        <p:spPr>
          <a:xfrm>
            <a:off x="10515600" y="822960"/>
            <a:ext cx="1188720" cy="11887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32323"/>
              </a:buClr>
              <a:buSzPts val="6000"/>
              <a:buFont typeface="Georgia"/>
              <a:buNone/>
            </a:pPr>
            <a:r>
              <a:rPr b="1" i="0" lang="en-US" sz="6000" u="none" cap="none" strike="noStrike">
                <a:solidFill>
                  <a:srgbClr val="232323"/>
                </a:solidFill>
                <a:latin typeface="Georgia"/>
                <a:ea typeface="Georgia"/>
                <a:cs typeface="Georgia"/>
                <a:sym typeface="Georgia"/>
              </a:rPr>
              <a:t>5</a:t>
            </a:r>
            <a:endParaRPr b="0" i="0" sz="6000" u="none" cap="none" strike="noStrike">
              <a:solidFill>
                <a:schemeClr val="dk1"/>
              </a:solidFill>
              <a:latin typeface="Calibri"/>
              <a:ea typeface="Calibri"/>
              <a:cs typeface="Calibri"/>
              <a:sym typeface="Calibri"/>
            </a:endParaRPr>
          </a:p>
        </p:txBody>
      </p:sp>
      <p:sp>
        <p:nvSpPr>
          <p:cNvPr id="121" name="Google Shape;121;p7"/>
          <p:cNvSpPr txBox="1"/>
          <p:nvPr/>
        </p:nvSpPr>
        <p:spPr>
          <a:xfrm>
            <a:off x="9784080" y="1965960"/>
            <a:ext cx="23774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8270"/>
              </a:buClr>
              <a:buSzPts val="850"/>
              <a:buFont typeface="Consolas"/>
              <a:buNone/>
            </a:pPr>
            <a:r>
              <a:rPr b="0" i="0" lang="en-US" sz="850" u="none" cap="none" strike="noStrike">
                <a:solidFill>
                  <a:srgbClr val="8A8270"/>
                </a:solidFill>
                <a:latin typeface="Consolas"/>
                <a:ea typeface="Consolas"/>
                <a:cs typeface="Consolas"/>
                <a:sym typeface="Consolas"/>
              </a:rPr>
              <a:t>Modules, One Device</a:t>
            </a:r>
            <a:endParaRPr b="0" i="0" sz="850" u="none" cap="none" strike="noStrike">
              <a:solidFill>
                <a:schemeClr val="dk1"/>
              </a:solidFill>
              <a:latin typeface="Calibri"/>
              <a:ea typeface="Calibri"/>
              <a:cs typeface="Calibri"/>
              <a:sym typeface="Calibri"/>
            </a:endParaRPr>
          </a:p>
        </p:txBody>
      </p:sp>
      <p:sp>
        <p:nvSpPr>
          <p:cNvPr id="122" name="Google Shape;122;p7"/>
          <p:cNvSpPr/>
          <p:nvPr/>
        </p:nvSpPr>
        <p:spPr>
          <a:xfrm>
            <a:off x="457200" y="2514600"/>
            <a:ext cx="3566160" cy="2148840"/>
          </a:xfrm>
          <a:prstGeom prst="rect">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7"/>
          <p:cNvSpPr txBox="1"/>
          <p:nvPr/>
        </p:nvSpPr>
        <p:spPr>
          <a:xfrm>
            <a:off x="685800" y="2679192"/>
            <a:ext cx="1371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261E"/>
              </a:buClr>
              <a:buSzPts val="2200"/>
              <a:buFont typeface="Consolas"/>
              <a:buNone/>
            </a:pPr>
            <a:r>
              <a:rPr b="1" i="0" lang="en-US" sz="2200" u="none" cap="none" strike="noStrike">
                <a:solidFill>
                  <a:srgbClr val="B3261E"/>
                </a:solidFill>
                <a:latin typeface="Consolas"/>
                <a:ea typeface="Consolas"/>
                <a:cs typeface="Consolas"/>
                <a:sym typeface="Consolas"/>
              </a:rPr>
              <a:t>01</a:t>
            </a:r>
            <a:endParaRPr b="0" i="0" sz="2200" u="none" cap="none" strike="noStrike">
              <a:solidFill>
                <a:schemeClr val="dk1"/>
              </a:solidFill>
              <a:latin typeface="Calibri"/>
              <a:ea typeface="Calibri"/>
              <a:cs typeface="Calibri"/>
              <a:sym typeface="Calibri"/>
            </a:endParaRPr>
          </a:p>
        </p:txBody>
      </p:sp>
      <p:sp>
        <p:nvSpPr>
          <p:cNvPr id="124" name="Google Shape;124;p7"/>
          <p:cNvSpPr txBox="1"/>
          <p:nvPr/>
        </p:nvSpPr>
        <p:spPr>
          <a:xfrm>
            <a:off x="685800" y="3200400"/>
            <a:ext cx="310896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EDF"/>
              </a:buClr>
              <a:buSzPts val="1700"/>
              <a:buFont typeface="Georgia"/>
              <a:buNone/>
            </a:pPr>
            <a:r>
              <a:rPr b="1" i="0" lang="en-US" sz="1700" u="none" cap="none" strike="noStrike">
                <a:solidFill>
                  <a:srgbClr val="F3EEDF"/>
                </a:solidFill>
                <a:latin typeface="Georgia"/>
                <a:ea typeface="Georgia"/>
                <a:cs typeface="Georgia"/>
                <a:sym typeface="Georgia"/>
              </a:rPr>
              <a:t>Daily</a:t>
            </a:r>
            <a:endParaRPr b="0" i="0" sz="1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3EEDF"/>
              </a:buClr>
              <a:buSzPts val="1700"/>
              <a:buFont typeface="Georgia"/>
              <a:buNone/>
            </a:pPr>
            <a:r>
              <a:rPr b="1" i="0" lang="en-US" sz="1700" u="none" cap="none" strike="noStrike">
                <a:solidFill>
                  <a:srgbClr val="F3EEDF"/>
                </a:solidFill>
                <a:latin typeface="Georgia"/>
                <a:ea typeface="Georgia"/>
                <a:cs typeface="Georgia"/>
                <a:sym typeface="Georgia"/>
              </a:rPr>
              <a:t>Life Logs</a:t>
            </a:r>
            <a:endParaRPr b="0" i="0" sz="1700" u="none" cap="none" strike="noStrike">
              <a:solidFill>
                <a:schemeClr val="dk1"/>
              </a:solidFill>
              <a:latin typeface="Calibri"/>
              <a:ea typeface="Calibri"/>
              <a:cs typeface="Calibri"/>
              <a:sym typeface="Calibri"/>
            </a:endParaRPr>
          </a:p>
        </p:txBody>
      </p:sp>
      <p:sp>
        <p:nvSpPr>
          <p:cNvPr id="125" name="Google Shape;125;p7"/>
          <p:cNvSpPr txBox="1"/>
          <p:nvPr/>
        </p:nvSpPr>
        <p:spPr>
          <a:xfrm>
            <a:off x="685800" y="3886200"/>
            <a:ext cx="310896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EDF"/>
              </a:buClr>
              <a:buSzPts val="1000"/>
              <a:buFont typeface="Calibri"/>
              <a:buNone/>
            </a:pPr>
            <a:r>
              <a:rPr b="0" i="0" lang="en-US" sz="1000" u="none" cap="none" strike="noStrike">
                <a:solidFill>
                  <a:srgbClr val="F3EEDF"/>
                </a:solidFill>
                <a:latin typeface="Calibri"/>
                <a:ea typeface="Calibri"/>
                <a:cs typeface="Calibri"/>
                <a:sym typeface="Calibri"/>
              </a:rPr>
              <a:t>Journaling. Idea capture. AI sorts entries into work, personal, creative. A searchable offline knowledge base.</a:t>
            </a:r>
            <a:endParaRPr b="0" i="0" sz="1000" u="none" cap="none" strike="noStrike">
              <a:solidFill>
                <a:schemeClr val="dk1"/>
              </a:solidFill>
              <a:latin typeface="Calibri"/>
              <a:ea typeface="Calibri"/>
              <a:cs typeface="Calibri"/>
              <a:sym typeface="Calibri"/>
            </a:endParaRPr>
          </a:p>
        </p:txBody>
      </p:sp>
      <p:sp>
        <p:nvSpPr>
          <p:cNvPr id="126" name="Google Shape;126;p7"/>
          <p:cNvSpPr/>
          <p:nvPr/>
        </p:nvSpPr>
        <p:spPr>
          <a:xfrm>
            <a:off x="4114800" y="2514600"/>
            <a:ext cx="3566160" cy="2148840"/>
          </a:xfrm>
          <a:prstGeom prst="rect">
            <a:avLst/>
          </a:prstGeom>
          <a:solidFill>
            <a:srgbClr val="B32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
          <p:cNvSpPr txBox="1"/>
          <p:nvPr/>
        </p:nvSpPr>
        <p:spPr>
          <a:xfrm>
            <a:off x="4343400" y="2679192"/>
            <a:ext cx="1371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261E"/>
              </a:buClr>
              <a:buSzPts val="2200"/>
              <a:buFont typeface="Consolas"/>
              <a:buNone/>
            </a:pPr>
            <a:r>
              <a:rPr b="1" i="0" lang="en-US" sz="2200" u="none" cap="none" strike="noStrike">
                <a:solidFill>
                  <a:srgbClr val="B3261E"/>
                </a:solidFill>
                <a:latin typeface="Consolas"/>
                <a:ea typeface="Consolas"/>
                <a:cs typeface="Consolas"/>
                <a:sym typeface="Consolas"/>
              </a:rPr>
              <a:t>02</a:t>
            </a:r>
            <a:endParaRPr b="0" i="0" sz="2200" u="none" cap="none" strike="noStrike">
              <a:solidFill>
                <a:schemeClr val="dk1"/>
              </a:solidFill>
              <a:latin typeface="Calibri"/>
              <a:ea typeface="Calibri"/>
              <a:cs typeface="Calibri"/>
              <a:sym typeface="Calibri"/>
            </a:endParaRPr>
          </a:p>
        </p:txBody>
      </p:sp>
      <p:sp>
        <p:nvSpPr>
          <p:cNvPr id="128" name="Google Shape;128;p7"/>
          <p:cNvSpPr txBox="1"/>
          <p:nvPr/>
        </p:nvSpPr>
        <p:spPr>
          <a:xfrm>
            <a:off x="4343400" y="3200400"/>
            <a:ext cx="310896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EDF"/>
              </a:buClr>
              <a:buSzPts val="1700"/>
              <a:buFont typeface="Georgia"/>
              <a:buNone/>
            </a:pPr>
            <a:r>
              <a:rPr b="1" i="0" lang="en-US" sz="1700" u="none" cap="none" strike="noStrike">
                <a:solidFill>
                  <a:srgbClr val="F3EEDF"/>
                </a:solidFill>
                <a:latin typeface="Georgia"/>
                <a:ea typeface="Georgia"/>
                <a:cs typeface="Georgia"/>
                <a:sym typeface="Georgia"/>
              </a:rPr>
              <a:t>Disaster</a:t>
            </a:r>
            <a:endParaRPr b="0" i="0" sz="1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3EEDF"/>
              </a:buClr>
              <a:buSzPts val="1700"/>
              <a:buFont typeface="Georgia"/>
              <a:buNone/>
            </a:pPr>
            <a:r>
              <a:rPr b="1" i="0" lang="en-US" sz="1700" u="none" cap="none" strike="noStrike">
                <a:solidFill>
                  <a:srgbClr val="F3EEDF"/>
                </a:solidFill>
                <a:latin typeface="Georgia"/>
                <a:ea typeface="Georgia"/>
                <a:cs typeface="Georgia"/>
                <a:sym typeface="Georgia"/>
              </a:rPr>
              <a:t>Logs</a:t>
            </a:r>
            <a:endParaRPr b="0" i="0" sz="1700" u="none" cap="none" strike="noStrike">
              <a:solidFill>
                <a:schemeClr val="dk1"/>
              </a:solidFill>
              <a:latin typeface="Calibri"/>
              <a:ea typeface="Calibri"/>
              <a:cs typeface="Calibri"/>
              <a:sym typeface="Calibri"/>
            </a:endParaRPr>
          </a:p>
        </p:txBody>
      </p:sp>
      <p:sp>
        <p:nvSpPr>
          <p:cNvPr id="129" name="Google Shape;129;p7"/>
          <p:cNvSpPr txBox="1"/>
          <p:nvPr/>
        </p:nvSpPr>
        <p:spPr>
          <a:xfrm>
            <a:off x="4343400" y="3886200"/>
            <a:ext cx="310896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EDF"/>
              </a:buClr>
              <a:buSzPts val="1000"/>
              <a:buFont typeface="Calibri"/>
              <a:buNone/>
            </a:pPr>
            <a:r>
              <a:rPr b="0" i="0" lang="en-US" sz="1000" u="none" cap="none" strike="noStrike">
                <a:solidFill>
                  <a:srgbClr val="F3EEDF"/>
                </a:solidFill>
                <a:latin typeface="Calibri"/>
                <a:ea typeface="Calibri"/>
                <a:cs typeface="Calibri"/>
                <a:sym typeface="Calibri"/>
              </a:rPr>
              <a:t>Supplies, casualties, incidents, triage notes. AI summarises for situational awareness when seconds matter.</a:t>
            </a:r>
            <a:endParaRPr b="0" i="0" sz="1000" u="none" cap="none" strike="noStrike">
              <a:solidFill>
                <a:schemeClr val="dk1"/>
              </a:solidFill>
              <a:latin typeface="Calibri"/>
              <a:ea typeface="Calibri"/>
              <a:cs typeface="Calibri"/>
              <a:sym typeface="Calibri"/>
            </a:endParaRPr>
          </a:p>
        </p:txBody>
      </p:sp>
      <p:sp>
        <p:nvSpPr>
          <p:cNvPr id="130" name="Google Shape;130;p7"/>
          <p:cNvSpPr/>
          <p:nvPr/>
        </p:nvSpPr>
        <p:spPr>
          <a:xfrm>
            <a:off x="7772400" y="2514600"/>
            <a:ext cx="3959352" cy="2148840"/>
          </a:xfrm>
          <a:prstGeom prst="rect">
            <a:avLst/>
          </a:prstGeom>
          <a:solidFill>
            <a:srgbClr val="E2D8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7"/>
          <p:cNvSpPr txBox="1"/>
          <p:nvPr/>
        </p:nvSpPr>
        <p:spPr>
          <a:xfrm>
            <a:off x="8001000" y="2679192"/>
            <a:ext cx="1371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E56"/>
              </a:buClr>
              <a:buSzPts val="2200"/>
              <a:buFont typeface="Consolas"/>
              <a:buNone/>
            </a:pPr>
            <a:r>
              <a:rPr b="1" i="0" lang="en-US" sz="2200" u="none" cap="none" strike="noStrike">
                <a:solidFill>
                  <a:srgbClr val="0F6E56"/>
                </a:solidFill>
                <a:latin typeface="Consolas"/>
                <a:ea typeface="Consolas"/>
                <a:cs typeface="Consolas"/>
                <a:sym typeface="Consolas"/>
              </a:rPr>
              <a:t>03</a:t>
            </a:r>
            <a:endParaRPr b="0" i="0" sz="2200" u="none" cap="none" strike="noStrike">
              <a:solidFill>
                <a:schemeClr val="dk1"/>
              </a:solidFill>
              <a:latin typeface="Calibri"/>
              <a:ea typeface="Calibri"/>
              <a:cs typeface="Calibri"/>
              <a:sym typeface="Calibri"/>
            </a:endParaRPr>
          </a:p>
        </p:txBody>
      </p:sp>
      <p:sp>
        <p:nvSpPr>
          <p:cNvPr id="132" name="Google Shape;132;p7"/>
          <p:cNvSpPr txBox="1"/>
          <p:nvPr/>
        </p:nvSpPr>
        <p:spPr>
          <a:xfrm>
            <a:off x="8001000" y="3200400"/>
            <a:ext cx="3502152"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323"/>
              </a:buClr>
              <a:buSzPts val="1700"/>
              <a:buFont typeface="Georgia"/>
              <a:buNone/>
            </a:pPr>
            <a:r>
              <a:rPr b="1" i="0" lang="en-US" sz="1700" u="none" cap="none" strike="noStrike">
                <a:solidFill>
                  <a:srgbClr val="232323"/>
                </a:solidFill>
                <a:latin typeface="Georgia"/>
                <a:ea typeface="Georgia"/>
                <a:cs typeface="Georgia"/>
                <a:sym typeface="Georgia"/>
              </a:rPr>
              <a:t>Offline Chat</a:t>
            </a:r>
            <a:endParaRPr b="0" i="0" sz="1700" u="none" cap="none" strike="noStrike">
              <a:solidFill>
                <a:schemeClr val="dk1"/>
              </a:solidFill>
              <a:latin typeface="Calibri"/>
              <a:ea typeface="Calibri"/>
              <a:cs typeface="Calibri"/>
              <a:sym typeface="Calibri"/>
            </a:endParaRPr>
          </a:p>
        </p:txBody>
      </p:sp>
      <p:sp>
        <p:nvSpPr>
          <p:cNvPr id="133" name="Google Shape;133;p7"/>
          <p:cNvSpPr txBox="1"/>
          <p:nvPr/>
        </p:nvSpPr>
        <p:spPr>
          <a:xfrm>
            <a:off x="8001000" y="3886200"/>
            <a:ext cx="3502152"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323"/>
              </a:buClr>
              <a:buSzPts val="1000"/>
              <a:buFont typeface="Calibri"/>
              <a:buNone/>
            </a:pPr>
            <a:r>
              <a:rPr b="0" i="0" lang="en-US" sz="1000" u="none" cap="none" strike="noStrike">
                <a:solidFill>
                  <a:srgbClr val="232323"/>
                </a:solidFill>
                <a:latin typeface="Calibri"/>
                <a:ea typeface="Calibri"/>
                <a:cs typeface="Calibri"/>
                <a:sym typeface="Calibri"/>
              </a:rPr>
              <a:t>Peer-to-peer messaging without internet. The AI joins the room to provide guidance and reminders, even mid-blackout.</a:t>
            </a:r>
            <a:endParaRPr b="0" i="0" sz="1000" u="none" cap="none" strike="noStrike">
              <a:solidFill>
                <a:schemeClr val="dk1"/>
              </a:solidFill>
              <a:latin typeface="Calibri"/>
              <a:ea typeface="Calibri"/>
              <a:cs typeface="Calibri"/>
              <a:sym typeface="Calibri"/>
            </a:endParaRPr>
          </a:p>
        </p:txBody>
      </p:sp>
      <p:sp>
        <p:nvSpPr>
          <p:cNvPr id="134" name="Google Shape;134;p7"/>
          <p:cNvSpPr/>
          <p:nvPr/>
        </p:nvSpPr>
        <p:spPr>
          <a:xfrm>
            <a:off x="457200" y="4754880"/>
            <a:ext cx="5120640" cy="1600200"/>
          </a:xfrm>
          <a:prstGeom prst="rect">
            <a:avLst/>
          </a:prstGeom>
          <a:solidFill>
            <a:srgbClr val="1E2A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7"/>
          <p:cNvSpPr txBox="1"/>
          <p:nvPr/>
        </p:nvSpPr>
        <p:spPr>
          <a:xfrm>
            <a:off x="685800" y="4919472"/>
            <a:ext cx="1371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261E"/>
              </a:buClr>
              <a:buSzPts val="2200"/>
              <a:buFont typeface="Consolas"/>
              <a:buNone/>
            </a:pPr>
            <a:r>
              <a:rPr b="1" i="0" lang="en-US" sz="2200" u="none" cap="none" strike="noStrike">
                <a:solidFill>
                  <a:srgbClr val="B3261E"/>
                </a:solidFill>
                <a:latin typeface="Consolas"/>
                <a:ea typeface="Consolas"/>
                <a:cs typeface="Consolas"/>
                <a:sym typeface="Consolas"/>
              </a:rPr>
              <a:t>04</a:t>
            </a:r>
            <a:endParaRPr b="0" i="0" sz="2200" u="none" cap="none" strike="noStrike">
              <a:solidFill>
                <a:schemeClr val="dk1"/>
              </a:solidFill>
              <a:latin typeface="Calibri"/>
              <a:ea typeface="Calibri"/>
              <a:cs typeface="Calibri"/>
              <a:sym typeface="Calibri"/>
            </a:endParaRPr>
          </a:p>
        </p:txBody>
      </p:sp>
      <p:sp>
        <p:nvSpPr>
          <p:cNvPr id="136" name="Google Shape;136;p7"/>
          <p:cNvSpPr txBox="1"/>
          <p:nvPr/>
        </p:nvSpPr>
        <p:spPr>
          <a:xfrm>
            <a:off x="685800" y="5303520"/>
            <a:ext cx="46634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EDF"/>
              </a:buClr>
              <a:buSzPts val="1700"/>
              <a:buFont typeface="Georgia"/>
              <a:buNone/>
            </a:pPr>
            <a:r>
              <a:rPr b="1" i="0" lang="en-US" sz="1700" u="none" cap="none" strike="noStrike">
                <a:solidFill>
                  <a:srgbClr val="F3EEDF"/>
                </a:solidFill>
                <a:latin typeface="Georgia"/>
                <a:ea typeface="Georgia"/>
                <a:cs typeface="Georgia"/>
                <a:sym typeface="Georgia"/>
              </a:rPr>
              <a:t>AI Companion</a:t>
            </a:r>
            <a:endParaRPr b="0" i="0" sz="1700" u="none" cap="none" strike="noStrike">
              <a:solidFill>
                <a:schemeClr val="dk1"/>
              </a:solidFill>
              <a:latin typeface="Calibri"/>
              <a:ea typeface="Calibri"/>
              <a:cs typeface="Calibri"/>
              <a:sym typeface="Calibri"/>
            </a:endParaRPr>
          </a:p>
        </p:txBody>
      </p:sp>
      <p:sp>
        <p:nvSpPr>
          <p:cNvPr id="137" name="Google Shape;137;p7"/>
          <p:cNvSpPr txBox="1"/>
          <p:nvPr/>
        </p:nvSpPr>
        <p:spPr>
          <a:xfrm>
            <a:off x="685800" y="571500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EDF"/>
              </a:buClr>
              <a:buSzPts val="1000"/>
              <a:buFont typeface="Calibri"/>
              <a:buNone/>
            </a:pPr>
            <a:r>
              <a:rPr b="0" i="0" lang="en-US" sz="1000" u="none" cap="none" strike="noStrike">
                <a:solidFill>
                  <a:srgbClr val="F3EEDF"/>
                </a:solidFill>
                <a:latin typeface="Calibri"/>
                <a:ea typeface="Calibri"/>
                <a:cs typeface="Calibri"/>
                <a:sym typeface="Calibri"/>
              </a:rPr>
              <a:t>Summarises daily logs (“here are your top three ideas today”). Provides morale support in emergencies. Suggests triage priorities and next steps.</a:t>
            </a:r>
            <a:endParaRPr b="0" i="0" sz="1000" u="none" cap="none" strike="noStrike">
              <a:solidFill>
                <a:schemeClr val="dk1"/>
              </a:solidFill>
              <a:latin typeface="Calibri"/>
              <a:ea typeface="Calibri"/>
              <a:cs typeface="Calibri"/>
              <a:sym typeface="Calibri"/>
            </a:endParaRPr>
          </a:p>
        </p:txBody>
      </p:sp>
      <p:sp>
        <p:nvSpPr>
          <p:cNvPr id="138" name="Google Shape;138;p7"/>
          <p:cNvSpPr/>
          <p:nvPr/>
        </p:nvSpPr>
        <p:spPr>
          <a:xfrm>
            <a:off x="5669280" y="4754880"/>
            <a:ext cx="6062472" cy="1600200"/>
          </a:xfrm>
          <a:prstGeom prst="rect">
            <a:avLst/>
          </a:prstGeom>
          <a:solidFill>
            <a:srgbClr val="EEE6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7"/>
          <p:cNvSpPr txBox="1"/>
          <p:nvPr/>
        </p:nvSpPr>
        <p:spPr>
          <a:xfrm>
            <a:off x="5897880" y="4919472"/>
            <a:ext cx="1371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E56"/>
              </a:buClr>
              <a:buSzPts val="2200"/>
              <a:buFont typeface="Consolas"/>
              <a:buNone/>
            </a:pPr>
            <a:r>
              <a:rPr b="1" i="0" lang="en-US" sz="2200" u="none" cap="none" strike="noStrike">
                <a:solidFill>
                  <a:srgbClr val="0F6E56"/>
                </a:solidFill>
                <a:latin typeface="Consolas"/>
                <a:ea typeface="Consolas"/>
                <a:cs typeface="Consolas"/>
                <a:sym typeface="Consolas"/>
              </a:rPr>
              <a:t>05</a:t>
            </a:r>
            <a:endParaRPr b="0" i="0" sz="2200" u="none" cap="none" strike="noStrike">
              <a:solidFill>
                <a:schemeClr val="dk1"/>
              </a:solidFill>
              <a:latin typeface="Calibri"/>
              <a:ea typeface="Calibri"/>
              <a:cs typeface="Calibri"/>
              <a:sym typeface="Calibri"/>
            </a:endParaRPr>
          </a:p>
        </p:txBody>
      </p:sp>
      <p:sp>
        <p:nvSpPr>
          <p:cNvPr id="140" name="Google Shape;140;p7"/>
          <p:cNvSpPr txBox="1"/>
          <p:nvPr/>
        </p:nvSpPr>
        <p:spPr>
          <a:xfrm>
            <a:off x="5897880" y="5303520"/>
            <a:ext cx="5605272"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323"/>
              </a:buClr>
              <a:buSzPts val="1700"/>
              <a:buFont typeface="Georgia"/>
              <a:buNone/>
            </a:pPr>
            <a:r>
              <a:rPr b="1" i="0" lang="en-US" sz="1700" u="none" cap="none" strike="noStrike">
                <a:solidFill>
                  <a:srgbClr val="232323"/>
                </a:solidFill>
                <a:latin typeface="Georgia"/>
                <a:ea typeface="Georgia"/>
                <a:cs typeface="Georgia"/>
                <a:sym typeface="Georgia"/>
              </a:rPr>
              <a:t>Resilient Sync</a:t>
            </a:r>
            <a:endParaRPr b="0" i="0" sz="1700" u="none" cap="none" strike="noStrike">
              <a:solidFill>
                <a:schemeClr val="dk1"/>
              </a:solidFill>
              <a:latin typeface="Calibri"/>
              <a:ea typeface="Calibri"/>
              <a:cs typeface="Calibri"/>
              <a:sym typeface="Calibri"/>
            </a:endParaRPr>
          </a:p>
        </p:txBody>
      </p:sp>
      <p:sp>
        <p:nvSpPr>
          <p:cNvPr id="141" name="Google Shape;141;p7"/>
          <p:cNvSpPr txBox="1"/>
          <p:nvPr/>
        </p:nvSpPr>
        <p:spPr>
          <a:xfrm>
            <a:off x="5897880" y="5715000"/>
            <a:ext cx="5605272"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323"/>
              </a:buClr>
              <a:buSzPts val="1000"/>
              <a:buFont typeface="Calibri"/>
              <a:buNone/>
            </a:pPr>
            <a:r>
              <a:rPr b="0" i="0" lang="en-US" sz="1000" u="none" cap="none" strike="noStrike">
                <a:solidFill>
                  <a:srgbClr val="232323"/>
                </a:solidFill>
                <a:latin typeface="Calibri"/>
                <a:ea typeface="Calibri"/>
                <a:cs typeface="Calibri"/>
                <a:sym typeface="Calibri"/>
              </a:rPr>
              <a:t>Auto-syncs when the internet returns. Conflict resolution via CRDTs and vector clocks, so nothing gets lost even if many people edited offline at once.</a:t>
            </a:r>
            <a:endParaRPr b="0" i="0" sz="1000" u="none" cap="none" strike="noStrike">
              <a:solidFill>
                <a:schemeClr val="dk1"/>
              </a:solidFill>
              <a:latin typeface="Calibri"/>
              <a:ea typeface="Calibri"/>
              <a:cs typeface="Calibri"/>
              <a:sym typeface="Calibri"/>
            </a:endParaRPr>
          </a:p>
        </p:txBody>
      </p:sp>
      <p:cxnSp>
        <p:nvCxnSpPr>
          <p:cNvPr id="142" name="Google Shape;142;p7"/>
          <p:cNvCxnSpPr/>
          <p:nvPr/>
        </p:nvCxnSpPr>
        <p:spPr>
          <a:xfrm>
            <a:off x="457200" y="6400800"/>
            <a:ext cx="11274552" cy="0"/>
          </a:xfrm>
          <a:prstGeom prst="straightConnector1">
            <a:avLst/>
          </a:prstGeom>
          <a:noFill/>
          <a:ln cap="flat" cmpd="sng" w="12700">
            <a:solidFill>
              <a:srgbClr val="8A8270"/>
            </a:solidFill>
            <a:prstDash val="solid"/>
            <a:round/>
            <a:headEnd len="sm" w="sm" type="none"/>
            <a:tailEnd len="sm" w="sm" type="none"/>
          </a:ln>
        </p:spPr>
      </p:cxnSp>
      <p:sp>
        <p:nvSpPr>
          <p:cNvPr id="143" name="Google Shape;143;p7"/>
          <p:cNvSpPr txBox="1"/>
          <p:nvPr/>
        </p:nvSpPr>
        <p:spPr>
          <a:xfrm>
            <a:off x="457200" y="649224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270"/>
              </a:buClr>
              <a:buSzPts val="850"/>
              <a:buFont typeface="Consolas"/>
              <a:buNone/>
            </a:pPr>
            <a:r>
              <a:rPr b="1" i="0" lang="en-US" sz="850" u="none" cap="none" strike="noStrike">
                <a:solidFill>
                  <a:srgbClr val="8A8270"/>
                </a:solidFill>
                <a:latin typeface="Consolas"/>
                <a:ea typeface="Consolas"/>
                <a:cs typeface="Consolas"/>
                <a:sym typeface="Consolas"/>
              </a:rPr>
              <a:t>EACH MODULE SHIPS WITH THE DAILY BUILD. EACH MODULE IS CRITICAL DURING THE WORST DAY.</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6D5"/>
        </a:solidFill>
      </p:bgPr>
    </p:bg>
    <p:spTree>
      <p:nvGrpSpPr>
        <p:cNvPr id="148" name="Shape 148"/>
        <p:cNvGrpSpPr/>
        <p:nvPr/>
      </p:nvGrpSpPr>
      <p:grpSpPr>
        <a:xfrm>
          <a:off x="0" y="0"/>
          <a:ext cx="0" cy="0"/>
          <a:chOff x="0" y="0"/>
          <a:chExt cx="0" cy="0"/>
        </a:xfrm>
      </p:grpSpPr>
      <p:sp>
        <p:nvSpPr>
          <p:cNvPr id="149" name="Google Shape;149;p8"/>
          <p:cNvSpPr/>
          <p:nvPr/>
        </p:nvSpPr>
        <p:spPr>
          <a:xfrm>
            <a:off x="0" y="0"/>
            <a:ext cx="3931920" cy="6858000"/>
          </a:xfrm>
          <a:prstGeom prst="rect">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8"/>
          <p:cNvSpPr txBox="1"/>
          <p:nvPr/>
        </p:nvSpPr>
        <p:spPr>
          <a:xfrm>
            <a:off x="365760" y="3200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1000"/>
              <a:buFont typeface="Consolas"/>
              <a:buNone/>
            </a:pPr>
            <a:r>
              <a:rPr b="1" i="0" lang="en-US" sz="1000" u="none" cap="none" strike="noStrike">
                <a:solidFill>
                  <a:srgbClr val="F3EEDF"/>
                </a:solidFill>
                <a:latin typeface="Consolas"/>
                <a:ea typeface="Consolas"/>
                <a:cs typeface="Consolas"/>
                <a:sym typeface="Consolas"/>
              </a:rPr>
              <a:t>MODE · A</a:t>
            </a:r>
            <a:endParaRPr b="0" i="0" sz="1000" u="none" cap="none" strike="noStrike">
              <a:solidFill>
                <a:schemeClr val="dk1"/>
              </a:solidFill>
              <a:latin typeface="Calibri"/>
              <a:ea typeface="Calibri"/>
              <a:cs typeface="Calibri"/>
              <a:sym typeface="Calibri"/>
            </a:endParaRPr>
          </a:p>
        </p:txBody>
      </p:sp>
      <p:sp>
        <p:nvSpPr>
          <p:cNvPr id="151" name="Google Shape;151;p8"/>
          <p:cNvSpPr txBox="1"/>
          <p:nvPr/>
        </p:nvSpPr>
        <p:spPr>
          <a:xfrm>
            <a:off x="365760" y="1920240"/>
            <a:ext cx="329184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4400"/>
              <a:buFont typeface="Georgia"/>
              <a:buNone/>
            </a:pPr>
            <a:r>
              <a:rPr b="1" i="0" lang="en-US" sz="4400" u="none" cap="none" strike="noStrike">
                <a:solidFill>
                  <a:srgbClr val="F3EEDF"/>
                </a:solidFill>
                <a:latin typeface="Georgia"/>
                <a:ea typeface="Georgia"/>
                <a:cs typeface="Georgia"/>
                <a:sym typeface="Georgia"/>
              </a:rPr>
              <a:t>Daily.</a:t>
            </a:r>
            <a:endParaRPr b="0" i="0" sz="4400" u="none" cap="none" strike="noStrike">
              <a:solidFill>
                <a:schemeClr val="dk1"/>
              </a:solidFill>
              <a:latin typeface="Calibri"/>
              <a:ea typeface="Calibri"/>
              <a:cs typeface="Calibri"/>
              <a:sym typeface="Calibri"/>
            </a:endParaRPr>
          </a:p>
        </p:txBody>
      </p:sp>
      <p:sp>
        <p:nvSpPr>
          <p:cNvPr id="152" name="Google Shape;152;p8"/>
          <p:cNvSpPr txBox="1"/>
          <p:nvPr/>
        </p:nvSpPr>
        <p:spPr>
          <a:xfrm>
            <a:off x="365760" y="2926080"/>
            <a:ext cx="32918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EDF"/>
              </a:buClr>
              <a:buSzPts val="1300"/>
              <a:buFont typeface="Georgia"/>
              <a:buNone/>
            </a:pPr>
            <a:r>
              <a:rPr b="0" i="1" lang="en-US" sz="1300" u="none" cap="none" strike="noStrike">
                <a:solidFill>
                  <a:srgbClr val="F3EEDF"/>
                </a:solidFill>
                <a:latin typeface="Georgia"/>
                <a:ea typeface="Georgia"/>
                <a:cs typeface="Georgia"/>
                <a:sym typeface="Georgia"/>
              </a:rPr>
              <a:t>Higher draw. Bigger AI. Built for the days you have in body.</a:t>
            </a:r>
            <a:endParaRPr b="0" i="0" sz="1300" u="none" cap="none" strike="noStrike">
              <a:solidFill>
                <a:schemeClr val="dk1"/>
              </a:solidFill>
              <a:latin typeface="Calibri"/>
              <a:ea typeface="Calibri"/>
              <a:cs typeface="Calibri"/>
              <a:sym typeface="Calibri"/>
            </a:endParaRPr>
          </a:p>
        </p:txBody>
      </p:sp>
      <p:sp>
        <p:nvSpPr>
          <p:cNvPr id="153" name="Google Shape;153;p8"/>
          <p:cNvSpPr txBox="1"/>
          <p:nvPr/>
        </p:nvSpPr>
        <p:spPr>
          <a:xfrm>
            <a:off x="365760" y="48463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1000"/>
              <a:buFont typeface="Consolas"/>
              <a:buNone/>
            </a:pPr>
            <a:r>
              <a:rPr b="1" i="0" lang="en-US" sz="1000" u="none" cap="none" strike="noStrike">
                <a:solidFill>
                  <a:srgbClr val="F3EEDF"/>
                </a:solidFill>
                <a:latin typeface="Consolas"/>
                <a:ea typeface="Consolas"/>
                <a:cs typeface="Consolas"/>
                <a:sym typeface="Consolas"/>
              </a:rPr>
              <a:t>POWER PROFILE</a:t>
            </a:r>
            <a:endParaRPr b="0" i="0" sz="1000" u="none" cap="none" strike="noStrike">
              <a:solidFill>
                <a:schemeClr val="dk1"/>
              </a:solidFill>
              <a:latin typeface="Calibri"/>
              <a:ea typeface="Calibri"/>
              <a:cs typeface="Calibri"/>
              <a:sym typeface="Calibri"/>
            </a:endParaRPr>
          </a:p>
        </p:txBody>
      </p:sp>
      <p:sp>
        <p:nvSpPr>
          <p:cNvPr id="154" name="Google Shape;154;p8"/>
          <p:cNvSpPr txBox="1"/>
          <p:nvPr/>
        </p:nvSpPr>
        <p:spPr>
          <a:xfrm>
            <a:off x="365760" y="5120640"/>
            <a:ext cx="32918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4000"/>
              <a:buFont typeface="Georgia"/>
              <a:buNone/>
            </a:pPr>
            <a:r>
              <a:rPr b="1" i="1" lang="en-US" sz="4000" u="none" cap="none" strike="noStrike">
                <a:solidFill>
                  <a:srgbClr val="F3EEDF"/>
                </a:solidFill>
                <a:latin typeface="Georgia"/>
                <a:ea typeface="Georgia"/>
                <a:cs typeface="Georgia"/>
                <a:sym typeface="Georgia"/>
              </a:rPr>
              <a:t>~100%</a:t>
            </a:r>
            <a:endParaRPr b="0" i="0" sz="4000" u="none" cap="none" strike="noStrike">
              <a:solidFill>
                <a:schemeClr val="dk1"/>
              </a:solidFill>
              <a:latin typeface="Calibri"/>
              <a:ea typeface="Calibri"/>
              <a:cs typeface="Calibri"/>
              <a:sym typeface="Calibri"/>
            </a:endParaRPr>
          </a:p>
        </p:txBody>
      </p:sp>
      <p:sp>
        <p:nvSpPr>
          <p:cNvPr id="155" name="Google Shape;155;p8"/>
          <p:cNvSpPr txBox="1"/>
          <p:nvPr/>
        </p:nvSpPr>
        <p:spPr>
          <a:xfrm>
            <a:off x="365760" y="6035040"/>
            <a:ext cx="33832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EDF"/>
              </a:buClr>
              <a:buSzPts val="950"/>
              <a:buFont typeface="Consolas"/>
              <a:buNone/>
            </a:pPr>
            <a:r>
              <a:rPr b="0" i="0" lang="en-US" sz="950" u="none" cap="none" strike="noStrike">
                <a:solidFill>
                  <a:srgbClr val="F3EEDF"/>
                </a:solidFill>
                <a:latin typeface="Consolas"/>
                <a:ea typeface="Consolas"/>
                <a:cs typeface="Consolas"/>
                <a:sym typeface="Consolas"/>
              </a:rPr>
              <a:t>Background sync on. Foreground AI on. Notifications on.</a:t>
            </a:r>
            <a:endParaRPr b="0" i="0" sz="950" u="none" cap="none" strike="noStrike">
              <a:solidFill>
                <a:schemeClr val="dk1"/>
              </a:solidFill>
              <a:latin typeface="Calibri"/>
              <a:ea typeface="Calibri"/>
              <a:cs typeface="Calibri"/>
              <a:sym typeface="Calibri"/>
            </a:endParaRPr>
          </a:p>
        </p:txBody>
      </p:sp>
      <p:sp>
        <p:nvSpPr>
          <p:cNvPr id="156" name="Google Shape;156;p8"/>
          <p:cNvSpPr txBox="1"/>
          <p:nvPr/>
        </p:nvSpPr>
        <p:spPr>
          <a:xfrm>
            <a:off x="10058400" y="3200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270"/>
              </a:buClr>
              <a:buSzPts val="1000"/>
              <a:buFont typeface="Consolas"/>
              <a:buNone/>
            </a:pPr>
            <a:r>
              <a:rPr b="1" i="0" lang="en-US" sz="1000" u="none" cap="none" strike="noStrike">
                <a:solidFill>
                  <a:srgbClr val="8A8270"/>
                </a:solidFill>
                <a:latin typeface="Consolas"/>
                <a:ea typeface="Consolas"/>
                <a:cs typeface="Consolas"/>
                <a:sym typeface="Consolas"/>
              </a:rPr>
              <a:t>FOR EVERYDAY</a:t>
            </a:r>
            <a:endParaRPr b="0" i="0" sz="1000" u="none" cap="none" strike="noStrike">
              <a:solidFill>
                <a:schemeClr val="dk1"/>
              </a:solidFill>
              <a:latin typeface="Calibri"/>
              <a:ea typeface="Calibri"/>
              <a:cs typeface="Calibri"/>
              <a:sym typeface="Calibri"/>
            </a:endParaRPr>
          </a:p>
        </p:txBody>
      </p:sp>
      <p:cxnSp>
        <p:nvCxnSpPr>
          <p:cNvPr id="157" name="Google Shape;157;p8"/>
          <p:cNvCxnSpPr/>
          <p:nvPr/>
        </p:nvCxnSpPr>
        <p:spPr>
          <a:xfrm>
            <a:off x="4206240" y="685800"/>
            <a:ext cx="7498080" cy="0"/>
          </a:xfrm>
          <a:prstGeom prst="straightConnector1">
            <a:avLst/>
          </a:prstGeom>
          <a:noFill/>
          <a:ln cap="flat" cmpd="sng" w="12700">
            <a:solidFill>
              <a:srgbClr val="8A8270"/>
            </a:solidFill>
            <a:prstDash val="solid"/>
            <a:round/>
            <a:headEnd len="sm" w="sm" type="none"/>
            <a:tailEnd len="sm" w="sm" type="none"/>
          </a:ln>
        </p:spPr>
      </p:cxnSp>
      <p:sp>
        <p:nvSpPr>
          <p:cNvPr id="158" name="Google Shape;158;p8"/>
          <p:cNvSpPr txBox="1"/>
          <p:nvPr/>
        </p:nvSpPr>
        <p:spPr>
          <a:xfrm>
            <a:off x="4206240" y="10058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261E"/>
              </a:buClr>
              <a:buSzPts val="1000"/>
              <a:buFont typeface="Consolas"/>
              <a:buNone/>
            </a:pPr>
            <a:r>
              <a:rPr b="1" i="0" lang="en-US" sz="1000" u="none" cap="none" strike="noStrike">
                <a:solidFill>
                  <a:srgbClr val="B3261E"/>
                </a:solidFill>
                <a:latin typeface="Consolas"/>
                <a:ea typeface="Consolas"/>
                <a:cs typeface="Consolas"/>
                <a:sym typeface="Consolas"/>
              </a:rPr>
              <a:t>WHAT IT DOES FOR YOU ON A QUIET DAY</a:t>
            </a:r>
            <a:endParaRPr b="0" i="0" sz="1000" u="none" cap="none" strike="noStrike">
              <a:solidFill>
                <a:schemeClr val="dk1"/>
              </a:solidFill>
              <a:latin typeface="Calibri"/>
              <a:ea typeface="Calibri"/>
              <a:cs typeface="Calibri"/>
              <a:sym typeface="Calibri"/>
            </a:endParaRPr>
          </a:p>
        </p:txBody>
      </p:sp>
      <p:sp>
        <p:nvSpPr>
          <p:cNvPr id="159" name="Google Shape;159;p8"/>
          <p:cNvSpPr txBox="1"/>
          <p:nvPr/>
        </p:nvSpPr>
        <p:spPr>
          <a:xfrm>
            <a:off x="4206240" y="1371600"/>
            <a:ext cx="749808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2600"/>
              <a:buFont typeface="Georgia"/>
              <a:buNone/>
            </a:pPr>
            <a:r>
              <a:rPr b="1" i="0" lang="en-US" sz="2600" u="none" cap="none" strike="noStrike">
                <a:solidFill>
                  <a:srgbClr val="232323"/>
                </a:solidFill>
                <a:latin typeface="Georgia"/>
                <a:ea typeface="Georgia"/>
                <a:cs typeface="Georgia"/>
                <a:sym typeface="Georgia"/>
              </a:rPr>
              <a:t>Keeps your thinking in </a:t>
            </a:r>
            <a:r>
              <a:rPr b="0" i="1" lang="en-US" sz="2600" u="none" cap="none" strike="noStrike">
                <a:solidFill>
                  <a:srgbClr val="0F6E56"/>
                </a:solidFill>
                <a:latin typeface="Georgia"/>
                <a:ea typeface="Georgia"/>
                <a:cs typeface="Georgia"/>
                <a:sym typeface="Georgia"/>
              </a:rPr>
              <a:t>shape</a:t>
            </a:r>
            <a:r>
              <a:rPr b="1" i="0" lang="en-US" sz="2600" u="none" cap="none" strike="noStrike">
                <a:solidFill>
                  <a:srgbClr val="232323"/>
                </a:solidFill>
                <a:latin typeface="Georgia"/>
                <a:ea typeface="Georgia"/>
                <a:cs typeface="Georgia"/>
                <a:sym typeface="Georgia"/>
              </a:rPr>
              <a:t>. Keeps your day </a:t>
            </a:r>
            <a:r>
              <a:rPr b="0" i="1" lang="en-US" sz="2600" u="none" cap="none" strike="noStrike">
                <a:solidFill>
                  <a:srgbClr val="B3261E"/>
                </a:solidFill>
                <a:latin typeface="Georgia"/>
                <a:ea typeface="Georgia"/>
                <a:cs typeface="Georgia"/>
                <a:sym typeface="Georgia"/>
              </a:rPr>
              <a:t>searchable</a:t>
            </a:r>
            <a:r>
              <a:rPr b="1" i="0" lang="en-US" sz="2600" u="none" cap="none" strike="noStrike">
                <a:solidFill>
                  <a:srgbClr val="232323"/>
                </a:solidFill>
                <a:latin typeface="Georgia"/>
                <a:ea typeface="Georgia"/>
                <a:cs typeface="Georgia"/>
                <a:sym typeface="Georgia"/>
              </a:rPr>
              <a:t>.</a:t>
            </a:r>
            <a:endParaRPr b="0" i="0" sz="2600" u="none" cap="none" strike="noStrike">
              <a:solidFill>
                <a:schemeClr val="dk1"/>
              </a:solidFill>
              <a:latin typeface="Calibri"/>
              <a:ea typeface="Calibri"/>
              <a:cs typeface="Calibri"/>
              <a:sym typeface="Calibri"/>
            </a:endParaRPr>
          </a:p>
        </p:txBody>
      </p:sp>
      <p:sp>
        <p:nvSpPr>
          <p:cNvPr id="160" name="Google Shape;160;p8"/>
          <p:cNvSpPr/>
          <p:nvPr/>
        </p:nvSpPr>
        <p:spPr>
          <a:xfrm>
            <a:off x="4206240" y="2514600"/>
            <a:ext cx="7498080" cy="548640"/>
          </a:xfrm>
          <a:prstGeom prst="rect">
            <a:avLst/>
          </a:prstGeom>
          <a:solidFill>
            <a:srgbClr val="E2D8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8"/>
          <p:cNvSpPr txBox="1"/>
          <p:nvPr/>
        </p:nvSpPr>
        <p:spPr>
          <a:xfrm>
            <a:off x="4389120" y="2587752"/>
            <a:ext cx="4572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E56"/>
              </a:buClr>
              <a:buSzPts val="1800"/>
              <a:buFont typeface="Georgia"/>
              <a:buNone/>
            </a:pPr>
            <a:r>
              <a:rPr b="0" i="1" lang="en-US" sz="1800" u="none" cap="none" strike="noStrike">
                <a:solidFill>
                  <a:srgbClr val="0F6E56"/>
                </a:solidFill>
                <a:latin typeface="Georgia"/>
                <a:ea typeface="Georgia"/>
                <a:cs typeface="Georgia"/>
                <a:sym typeface="Georgia"/>
              </a:rPr>
              <a:t>1</a:t>
            </a:r>
            <a:endParaRPr b="0" i="0" sz="1800" u="none" cap="none" strike="noStrike">
              <a:solidFill>
                <a:schemeClr val="dk1"/>
              </a:solidFill>
              <a:latin typeface="Calibri"/>
              <a:ea typeface="Calibri"/>
              <a:cs typeface="Calibri"/>
              <a:sym typeface="Calibri"/>
            </a:endParaRPr>
          </a:p>
        </p:txBody>
      </p:sp>
      <p:sp>
        <p:nvSpPr>
          <p:cNvPr id="162" name="Google Shape;162;p8"/>
          <p:cNvSpPr txBox="1"/>
          <p:nvPr/>
        </p:nvSpPr>
        <p:spPr>
          <a:xfrm>
            <a:off x="4937760" y="256032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1300"/>
              <a:buFont typeface="Georgia"/>
              <a:buNone/>
            </a:pPr>
            <a:r>
              <a:rPr b="1" i="0" lang="en-US" sz="1300" u="none" cap="none" strike="noStrike">
                <a:solidFill>
                  <a:srgbClr val="232323"/>
                </a:solidFill>
                <a:latin typeface="Georgia"/>
                <a:ea typeface="Georgia"/>
                <a:cs typeface="Georgia"/>
                <a:sym typeface="Georgia"/>
              </a:rPr>
              <a:t>Capture &amp; journal offline</a:t>
            </a:r>
            <a:endParaRPr b="0" i="0" sz="1300" u="none" cap="none" strike="noStrike">
              <a:solidFill>
                <a:schemeClr val="dk1"/>
              </a:solidFill>
              <a:latin typeface="Calibri"/>
              <a:ea typeface="Calibri"/>
              <a:cs typeface="Calibri"/>
              <a:sym typeface="Calibri"/>
            </a:endParaRPr>
          </a:p>
        </p:txBody>
      </p:sp>
      <p:sp>
        <p:nvSpPr>
          <p:cNvPr id="163" name="Google Shape;163;p8"/>
          <p:cNvSpPr txBox="1"/>
          <p:nvPr/>
        </p:nvSpPr>
        <p:spPr>
          <a:xfrm>
            <a:off x="4937760" y="2807208"/>
            <a:ext cx="6583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950"/>
              <a:buFont typeface="Calibri"/>
              <a:buNone/>
            </a:pPr>
            <a:r>
              <a:rPr b="0" i="0" lang="en-US" sz="950" u="none" cap="none" strike="noStrike">
                <a:solidFill>
                  <a:srgbClr val="232323"/>
                </a:solidFill>
                <a:latin typeface="Calibri"/>
                <a:ea typeface="Calibri"/>
                <a:cs typeface="Calibri"/>
                <a:sym typeface="Calibri"/>
              </a:rPr>
              <a:t>Type, voice, sketch. Save entries even on a cramped subway with no signal.</a:t>
            </a:r>
            <a:endParaRPr b="0" i="0" sz="950" u="none" cap="none" strike="noStrike">
              <a:solidFill>
                <a:schemeClr val="dk1"/>
              </a:solidFill>
              <a:latin typeface="Calibri"/>
              <a:ea typeface="Calibri"/>
              <a:cs typeface="Calibri"/>
              <a:sym typeface="Calibri"/>
            </a:endParaRPr>
          </a:p>
        </p:txBody>
      </p:sp>
      <p:sp>
        <p:nvSpPr>
          <p:cNvPr id="164" name="Google Shape;164;p8"/>
          <p:cNvSpPr/>
          <p:nvPr/>
        </p:nvSpPr>
        <p:spPr>
          <a:xfrm>
            <a:off x="4206240" y="3172968"/>
            <a:ext cx="7498080" cy="548640"/>
          </a:xfrm>
          <a:prstGeom prst="rect">
            <a:avLst/>
          </a:prstGeom>
          <a:solidFill>
            <a:srgbClr val="EEE6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8"/>
          <p:cNvSpPr txBox="1"/>
          <p:nvPr/>
        </p:nvSpPr>
        <p:spPr>
          <a:xfrm>
            <a:off x="4389120" y="3246120"/>
            <a:ext cx="4572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E56"/>
              </a:buClr>
              <a:buSzPts val="1800"/>
              <a:buFont typeface="Georgia"/>
              <a:buNone/>
            </a:pPr>
            <a:r>
              <a:rPr b="0" i="1" lang="en-US" sz="1800" u="none" cap="none" strike="noStrike">
                <a:solidFill>
                  <a:srgbClr val="0F6E56"/>
                </a:solidFill>
                <a:latin typeface="Georgia"/>
                <a:ea typeface="Georgia"/>
                <a:cs typeface="Georgia"/>
                <a:sym typeface="Georgia"/>
              </a:rPr>
              <a:t>2</a:t>
            </a:r>
            <a:endParaRPr b="0" i="0" sz="1800" u="none" cap="none" strike="noStrike">
              <a:solidFill>
                <a:schemeClr val="dk1"/>
              </a:solidFill>
              <a:latin typeface="Calibri"/>
              <a:ea typeface="Calibri"/>
              <a:cs typeface="Calibri"/>
              <a:sym typeface="Calibri"/>
            </a:endParaRPr>
          </a:p>
        </p:txBody>
      </p:sp>
      <p:sp>
        <p:nvSpPr>
          <p:cNvPr id="166" name="Google Shape;166;p8"/>
          <p:cNvSpPr txBox="1"/>
          <p:nvPr/>
        </p:nvSpPr>
        <p:spPr>
          <a:xfrm>
            <a:off x="4937760" y="3218688"/>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1300"/>
              <a:buFont typeface="Georgia"/>
              <a:buNone/>
            </a:pPr>
            <a:r>
              <a:rPr b="1" i="0" lang="en-US" sz="1300" u="none" cap="none" strike="noStrike">
                <a:solidFill>
                  <a:srgbClr val="232323"/>
                </a:solidFill>
                <a:latin typeface="Georgia"/>
                <a:ea typeface="Georgia"/>
                <a:cs typeface="Georgia"/>
                <a:sym typeface="Georgia"/>
              </a:rPr>
              <a:t>Auto-categorise &amp; summarise</a:t>
            </a:r>
            <a:endParaRPr b="0" i="0" sz="1300" u="none" cap="none" strike="noStrike">
              <a:solidFill>
                <a:schemeClr val="dk1"/>
              </a:solidFill>
              <a:latin typeface="Calibri"/>
              <a:ea typeface="Calibri"/>
              <a:cs typeface="Calibri"/>
              <a:sym typeface="Calibri"/>
            </a:endParaRPr>
          </a:p>
        </p:txBody>
      </p:sp>
      <p:sp>
        <p:nvSpPr>
          <p:cNvPr id="167" name="Google Shape;167;p8"/>
          <p:cNvSpPr txBox="1"/>
          <p:nvPr/>
        </p:nvSpPr>
        <p:spPr>
          <a:xfrm>
            <a:off x="4937760" y="3465576"/>
            <a:ext cx="6583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950"/>
              <a:buFont typeface="Calibri"/>
              <a:buNone/>
            </a:pPr>
            <a:r>
              <a:rPr b="0" i="0" lang="en-US" sz="950" u="none" cap="none" strike="noStrike">
                <a:solidFill>
                  <a:srgbClr val="232323"/>
                </a:solidFill>
                <a:latin typeface="Calibri"/>
                <a:ea typeface="Calibri"/>
                <a:cs typeface="Calibri"/>
                <a:sym typeface="Calibri"/>
              </a:rPr>
              <a:t>AI splits entries into work, personal, and creative. At day’s end you get a recap.</a:t>
            </a:r>
            <a:endParaRPr b="0" i="0" sz="950" u="none" cap="none" strike="noStrike">
              <a:solidFill>
                <a:schemeClr val="dk1"/>
              </a:solidFill>
              <a:latin typeface="Calibri"/>
              <a:ea typeface="Calibri"/>
              <a:cs typeface="Calibri"/>
              <a:sym typeface="Calibri"/>
            </a:endParaRPr>
          </a:p>
        </p:txBody>
      </p:sp>
      <p:sp>
        <p:nvSpPr>
          <p:cNvPr id="168" name="Google Shape;168;p8"/>
          <p:cNvSpPr/>
          <p:nvPr/>
        </p:nvSpPr>
        <p:spPr>
          <a:xfrm>
            <a:off x="4206240" y="3831336"/>
            <a:ext cx="7498080" cy="548640"/>
          </a:xfrm>
          <a:prstGeom prst="rect">
            <a:avLst/>
          </a:prstGeom>
          <a:solidFill>
            <a:srgbClr val="E2D8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8"/>
          <p:cNvSpPr txBox="1"/>
          <p:nvPr/>
        </p:nvSpPr>
        <p:spPr>
          <a:xfrm>
            <a:off x="4389120" y="3904488"/>
            <a:ext cx="4572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E56"/>
              </a:buClr>
              <a:buSzPts val="1800"/>
              <a:buFont typeface="Georgia"/>
              <a:buNone/>
            </a:pPr>
            <a:r>
              <a:rPr b="0" i="1" lang="en-US" sz="1800" u="none" cap="none" strike="noStrike">
                <a:solidFill>
                  <a:srgbClr val="0F6E56"/>
                </a:solidFill>
                <a:latin typeface="Georgia"/>
                <a:ea typeface="Georgia"/>
                <a:cs typeface="Georgia"/>
                <a:sym typeface="Georgia"/>
              </a:rPr>
              <a:t>3</a:t>
            </a:r>
            <a:endParaRPr b="0" i="0" sz="1800" u="none" cap="none" strike="noStrike">
              <a:solidFill>
                <a:schemeClr val="dk1"/>
              </a:solidFill>
              <a:latin typeface="Calibri"/>
              <a:ea typeface="Calibri"/>
              <a:cs typeface="Calibri"/>
              <a:sym typeface="Calibri"/>
            </a:endParaRPr>
          </a:p>
        </p:txBody>
      </p:sp>
      <p:sp>
        <p:nvSpPr>
          <p:cNvPr id="170" name="Google Shape;170;p8"/>
          <p:cNvSpPr txBox="1"/>
          <p:nvPr/>
        </p:nvSpPr>
        <p:spPr>
          <a:xfrm>
            <a:off x="4937760" y="3877056"/>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1300"/>
              <a:buFont typeface="Georgia"/>
              <a:buNone/>
            </a:pPr>
            <a:r>
              <a:rPr b="1" i="0" lang="en-US" sz="1300" u="none" cap="none" strike="noStrike">
                <a:solidFill>
                  <a:srgbClr val="232323"/>
                </a:solidFill>
                <a:latin typeface="Georgia"/>
                <a:ea typeface="Georgia"/>
                <a:cs typeface="Georgia"/>
                <a:sym typeface="Georgia"/>
              </a:rPr>
              <a:t>Search the offline knowledge base</a:t>
            </a:r>
            <a:endParaRPr b="0" i="0" sz="1300" u="none" cap="none" strike="noStrike">
              <a:solidFill>
                <a:schemeClr val="dk1"/>
              </a:solidFill>
              <a:latin typeface="Calibri"/>
              <a:ea typeface="Calibri"/>
              <a:cs typeface="Calibri"/>
              <a:sym typeface="Calibri"/>
            </a:endParaRPr>
          </a:p>
        </p:txBody>
      </p:sp>
      <p:sp>
        <p:nvSpPr>
          <p:cNvPr id="171" name="Google Shape;171;p8"/>
          <p:cNvSpPr txBox="1"/>
          <p:nvPr/>
        </p:nvSpPr>
        <p:spPr>
          <a:xfrm>
            <a:off x="4937760" y="4123944"/>
            <a:ext cx="6583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950"/>
              <a:buFont typeface="Calibri"/>
              <a:buNone/>
            </a:pPr>
            <a:r>
              <a:rPr b="0" i="0" lang="en-US" sz="950" u="none" cap="none" strike="noStrike">
                <a:solidFill>
                  <a:srgbClr val="232323"/>
                </a:solidFill>
                <a:latin typeface="Calibri"/>
                <a:ea typeface="Calibri"/>
                <a:cs typeface="Calibri"/>
                <a:sym typeface="Calibri"/>
              </a:rPr>
              <a:t>Find that one idea from three Tuesdays ago, in milliseconds, in a tunnel.</a:t>
            </a:r>
            <a:endParaRPr b="0" i="0" sz="950" u="none" cap="none" strike="noStrike">
              <a:solidFill>
                <a:schemeClr val="dk1"/>
              </a:solidFill>
              <a:latin typeface="Calibri"/>
              <a:ea typeface="Calibri"/>
              <a:cs typeface="Calibri"/>
              <a:sym typeface="Calibri"/>
            </a:endParaRPr>
          </a:p>
        </p:txBody>
      </p:sp>
      <p:sp>
        <p:nvSpPr>
          <p:cNvPr id="172" name="Google Shape;172;p8"/>
          <p:cNvSpPr/>
          <p:nvPr/>
        </p:nvSpPr>
        <p:spPr>
          <a:xfrm>
            <a:off x="4206240" y="4709160"/>
            <a:ext cx="5120640" cy="1051560"/>
          </a:xfrm>
          <a:prstGeom prst="rect">
            <a:avLst/>
          </a:prstGeom>
          <a:solidFill>
            <a:srgbClr val="1E2A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8"/>
          <p:cNvSpPr txBox="1"/>
          <p:nvPr/>
        </p:nvSpPr>
        <p:spPr>
          <a:xfrm>
            <a:off x="4389120" y="4828032"/>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270"/>
              </a:buClr>
              <a:buSzPts val="850"/>
              <a:buFont typeface="Consolas"/>
              <a:buNone/>
            </a:pPr>
            <a:r>
              <a:rPr b="0" i="0" lang="en-US" sz="850" u="none" cap="none" strike="noStrike">
                <a:solidFill>
                  <a:srgbClr val="8A8270"/>
                </a:solidFill>
                <a:latin typeface="Consolas"/>
                <a:ea typeface="Consolas"/>
                <a:cs typeface="Consolas"/>
                <a:sym typeface="Consolas"/>
              </a:rPr>
              <a:t>Tue · Today, in Summary</a:t>
            </a:r>
            <a:endParaRPr b="0" i="0" sz="850" u="none" cap="none" strike="noStrike">
              <a:solidFill>
                <a:schemeClr val="dk1"/>
              </a:solidFill>
              <a:latin typeface="Calibri"/>
              <a:ea typeface="Calibri"/>
              <a:cs typeface="Calibri"/>
              <a:sym typeface="Calibri"/>
            </a:endParaRPr>
          </a:p>
        </p:txBody>
      </p:sp>
      <p:sp>
        <p:nvSpPr>
          <p:cNvPr id="174" name="Google Shape;174;p8"/>
          <p:cNvSpPr txBox="1"/>
          <p:nvPr/>
        </p:nvSpPr>
        <p:spPr>
          <a:xfrm>
            <a:off x="4389120" y="5120640"/>
            <a:ext cx="47548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EDF"/>
              </a:buClr>
              <a:buSzPts val="1300"/>
              <a:buFont typeface="Georgia"/>
              <a:buNone/>
            </a:pPr>
            <a:r>
              <a:rPr b="1" i="1" lang="en-US" sz="1300" u="none" cap="none" strike="noStrike">
                <a:solidFill>
                  <a:srgbClr val="F3EEDF"/>
                </a:solidFill>
                <a:latin typeface="Georgia"/>
                <a:ea typeface="Georgia"/>
                <a:cs typeface="Georgia"/>
                <a:sym typeface="Georgia"/>
              </a:rPr>
              <a:t>“Three big ideas, two reflections, one unfinished sketch. Tap to revisit.”</a:t>
            </a:r>
            <a:endParaRPr b="0" i="0" sz="1300" u="none" cap="none" strike="noStrike">
              <a:solidFill>
                <a:schemeClr val="dk1"/>
              </a:solidFill>
              <a:latin typeface="Calibri"/>
              <a:ea typeface="Calibri"/>
              <a:cs typeface="Calibri"/>
              <a:sym typeface="Calibri"/>
            </a:endParaRPr>
          </a:p>
        </p:txBody>
      </p:sp>
      <p:sp>
        <p:nvSpPr>
          <p:cNvPr id="175" name="Google Shape;175;p8"/>
          <p:cNvSpPr txBox="1"/>
          <p:nvPr/>
        </p:nvSpPr>
        <p:spPr>
          <a:xfrm>
            <a:off x="9509760" y="470916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261E"/>
              </a:buClr>
              <a:buSzPts val="1000"/>
              <a:buFont typeface="Consolas"/>
              <a:buNone/>
            </a:pPr>
            <a:r>
              <a:rPr b="1" i="0" lang="en-US" sz="1000" u="none" cap="none" strike="noStrike">
                <a:solidFill>
                  <a:srgbClr val="B3261E"/>
                </a:solidFill>
                <a:latin typeface="Consolas"/>
                <a:ea typeface="Consolas"/>
                <a:cs typeface="Consolas"/>
                <a:sym typeface="Consolas"/>
              </a:rPr>
              <a:t>DESIGNED FOR</a:t>
            </a:r>
            <a:endParaRPr b="0" i="0" sz="1000" u="none" cap="none" strike="noStrike">
              <a:solidFill>
                <a:schemeClr val="dk1"/>
              </a:solidFill>
              <a:latin typeface="Calibri"/>
              <a:ea typeface="Calibri"/>
              <a:cs typeface="Calibri"/>
              <a:sym typeface="Calibri"/>
            </a:endParaRPr>
          </a:p>
        </p:txBody>
      </p:sp>
      <p:sp>
        <p:nvSpPr>
          <p:cNvPr id="176" name="Google Shape;176;p8"/>
          <p:cNvSpPr txBox="1"/>
          <p:nvPr/>
        </p:nvSpPr>
        <p:spPr>
          <a:xfrm>
            <a:off x="9509760" y="4983480"/>
            <a:ext cx="219456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323"/>
              </a:buClr>
              <a:buSzPts val="1000"/>
              <a:buFont typeface="Calibri"/>
              <a:buNone/>
            </a:pPr>
            <a:r>
              <a:rPr b="0" i="0" lang="en-US" sz="1000" u="none" cap="none" strike="noStrike">
                <a:solidFill>
                  <a:srgbClr val="232323"/>
                </a:solidFill>
                <a:latin typeface="Calibri"/>
                <a:ea typeface="Calibri"/>
                <a:cs typeface="Calibri"/>
                <a:sym typeface="Calibri"/>
              </a:rPr>
              <a:t>Writers, founders, students, researchers, care-givers, anyone whose thoughts matter more than their connection.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6D5"/>
        </a:solidFill>
      </p:bgPr>
    </p:bg>
    <p:spTree>
      <p:nvGrpSpPr>
        <p:cNvPr id="181" name="Shape 181"/>
        <p:cNvGrpSpPr/>
        <p:nvPr/>
      </p:nvGrpSpPr>
      <p:grpSpPr>
        <a:xfrm>
          <a:off x="0" y="0"/>
          <a:ext cx="0" cy="0"/>
          <a:chOff x="0" y="0"/>
          <a:chExt cx="0" cy="0"/>
        </a:xfrm>
      </p:grpSpPr>
      <p:sp>
        <p:nvSpPr>
          <p:cNvPr id="182" name="Google Shape;182;p9"/>
          <p:cNvSpPr/>
          <p:nvPr/>
        </p:nvSpPr>
        <p:spPr>
          <a:xfrm>
            <a:off x="8229600" y="0"/>
            <a:ext cx="3959352" cy="6858000"/>
          </a:xfrm>
          <a:prstGeom prst="rect">
            <a:avLst/>
          </a:prstGeom>
          <a:solidFill>
            <a:srgbClr val="B32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9"/>
          <p:cNvSpPr txBox="1"/>
          <p:nvPr/>
        </p:nvSpPr>
        <p:spPr>
          <a:xfrm>
            <a:off x="365760" y="3200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1000"/>
              <a:buFont typeface="Consolas"/>
              <a:buNone/>
            </a:pPr>
            <a:r>
              <a:rPr b="1" i="0" lang="en-US" sz="1000" u="none" cap="none" strike="noStrike">
                <a:solidFill>
                  <a:srgbClr val="232323"/>
                </a:solidFill>
                <a:latin typeface="Consolas"/>
                <a:ea typeface="Consolas"/>
                <a:cs typeface="Consolas"/>
                <a:sym typeface="Consolas"/>
              </a:rPr>
              <a:t>MODE · B</a:t>
            </a:r>
            <a:endParaRPr b="0" i="0" sz="1000" u="none" cap="none" strike="noStrike">
              <a:solidFill>
                <a:schemeClr val="dk1"/>
              </a:solidFill>
              <a:latin typeface="Calibri"/>
              <a:ea typeface="Calibri"/>
              <a:cs typeface="Calibri"/>
              <a:sym typeface="Calibri"/>
            </a:endParaRPr>
          </a:p>
        </p:txBody>
      </p:sp>
      <p:sp>
        <p:nvSpPr>
          <p:cNvPr id="184" name="Google Shape;184;p9"/>
          <p:cNvSpPr txBox="1"/>
          <p:nvPr/>
        </p:nvSpPr>
        <p:spPr>
          <a:xfrm>
            <a:off x="8503920" y="3200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1000"/>
              <a:buFont typeface="Consolas"/>
              <a:buNone/>
            </a:pPr>
            <a:r>
              <a:rPr b="1" i="0" lang="en-US" sz="1000" u="none" cap="none" strike="noStrike">
                <a:solidFill>
                  <a:srgbClr val="F3EEDF"/>
                </a:solidFill>
                <a:latin typeface="Consolas"/>
                <a:ea typeface="Consolas"/>
                <a:cs typeface="Consolas"/>
                <a:sym typeface="Consolas"/>
              </a:rPr>
              <a:t>FOR THE WORST DAY</a:t>
            </a:r>
            <a:endParaRPr b="0" i="0" sz="1000" u="none" cap="none" strike="noStrike">
              <a:solidFill>
                <a:schemeClr val="dk1"/>
              </a:solidFill>
              <a:latin typeface="Calibri"/>
              <a:ea typeface="Calibri"/>
              <a:cs typeface="Calibri"/>
              <a:sym typeface="Calibri"/>
            </a:endParaRPr>
          </a:p>
        </p:txBody>
      </p:sp>
      <p:cxnSp>
        <p:nvCxnSpPr>
          <p:cNvPr id="185" name="Google Shape;185;p9"/>
          <p:cNvCxnSpPr/>
          <p:nvPr/>
        </p:nvCxnSpPr>
        <p:spPr>
          <a:xfrm>
            <a:off x="365760" y="685800"/>
            <a:ext cx="7680960" cy="0"/>
          </a:xfrm>
          <a:prstGeom prst="straightConnector1">
            <a:avLst/>
          </a:prstGeom>
          <a:noFill/>
          <a:ln cap="flat" cmpd="sng" w="12700">
            <a:solidFill>
              <a:srgbClr val="8A8270"/>
            </a:solidFill>
            <a:prstDash val="solid"/>
            <a:round/>
            <a:headEnd len="sm" w="sm" type="none"/>
            <a:tailEnd len="sm" w="sm" type="none"/>
          </a:ln>
        </p:spPr>
      </p:cxnSp>
      <p:sp>
        <p:nvSpPr>
          <p:cNvPr id="186" name="Google Shape;186;p9"/>
          <p:cNvSpPr txBox="1"/>
          <p:nvPr/>
        </p:nvSpPr>
        <p:spPr>
          <a:xfrm>
            <a:off x="365760" y="10058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261E"/>
              </a:buClr>
              <a:buSzPts val="1000"/>
              <a:buFont typeface="Consolas"/>
              <a:buNone/>
            </a:pPr>
            <a:r>
              <a:rPr b="1" i="0" lang="en-US" sz="1000" u="none" cap="none" strike="noStrike">
                <a:solidFill>
                  <a:srgbClr val="B3261E"/>
                </a:solidFill>
                <a:latin typeface="Consolas"/>
                <a:ea typeface="Consolas"/>
                <a:cs typeface="Consolas"/>
                <a:sym typeface="Consolas"/>
              </a:rPr>
              <a:t>WHAT IT DOES FOR YOU ON A BROKEN DAY</a:t>
            </a:r>
            <a:endParaRPr b="0" i="0" sz="1000" u="none" cap="none" strike="noStrike">
              <a:solidFill>
                <a:schemeClr val="dk1"/>
              </a:solidFill>
              <a:latin typeface="Calibri"/>
              <a:ea typeface="Calibri"/>
              <a:cs typeface="Calibri"/>
              <a:sym typeface="Calibri"/>
            </a:endParaRPr>
          </a:p>
        </p:txBody>
      </p:sp>
      <p:sp>
        <p:nvSpPr>
          <p:cNvPr id="187" name="Google Shape;187;p9"/>
          <p:cNvSpPr txBox="1"/>
          <p:nvPr/>
        </p:nvSpPr>
        <p:spPr>
          <a:xfrm>
            <a:off x="365760" y="1371600"/>
            <a:ext cx="76809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2400"/>
              <a:buFont typeface="Georgia"/>
              <a:buNone/>
            </a:pPr>
            <a:r>
              <a:rPr b="1" i="0" lang="en-US" sz="2400" u="none" cap="none" strike="noStrike">
                <a:solidFill>
                  <a:srgbClr val="232323"/>
                </a:solidFill>
                <a:latin typeface="Georgia"/>
                <a:ea typeface="Georgia"/>
                <a:cs typeface="Georgia"/>
                <a:sym typeface="Georgia"/>
              </a:rPr>
              <a:t>Logs the facts. Keeps the room </a:t>
            </a:r>
            <a:r>
              <a:rPr b="0" i="1" lang="en-US" sz="2400" u="none" cap="none" strike="noStrike">
                <a:solidFill>
                  <a:srgbClr val="B3261E"/>
                </a:solidFill>
                <a:latin typeface="Georgia"/>
                <a:ea typeface="Georgia"/>
                <a:cs typeface="Georgia"/>
                <a:sym typeface="Georgia"/>
              </a:rPr>
              <a:t>talking</a:t>
            </a:r>
            <a:r>
              <a:rPr b="1" i="0" lang="en-US" sz="2400" u="none" cap="none" strike="noStrike">
                <a:solidFill>
                  <a:srgbClr val="232323"/>
                </a:solidFill>
                <a:latin typeface="Georgia"/>
                <a:ea typeface="Georgia"/>
                <a:cs typeface="Georgia"/>
                <a:sym typeface="Georgia"/>
              </a:rPr>
              <a:t>. Keeps you </a:t>
            </a:r>
            <a:r>
              <a:rPr b="0" i="1" lang="en-US" sz="2400" u="none" cap="none" strike="noStrike">
                <a:solidFill>
                  <a:srgbClr val="0F6E56"/>
                </a:solidFill>
                <a:latin typeface="Georgia"/>
                <a:ea typeface="Georgia"/>
                <a:cs typeface="Georgia"/>
                <a:sym typeface="Georgia"/>
              </a:rPr>
              <a:t>okay</a:t>
            </a:r>
            <a:r>
              <a:rPr b="1" i="0" lang="en-US" sz="2400" u="none" cap="none" strike="noStrike">
                <a:solidFill>
                  <a:srgbClr val="232323"/>
                </a:solidFill>
                <a:latin typeface="Georgia"/>
                <a:ea typeface="Georgia"/>
                <a:cs typeface="Georgia"/>
                <a:sym typeface="Georgia"/>
              </a:rPr>
              <a:t>.</a:t>
            </a:r>
            <a:endParaRPr b="0" i="0" sz="2400" u="none" cap="none" strike="noStrike">
              <a:solidFill>
                <a:schemeClr val="dk1"/>
              </a:solidFill>
              <a:latin typeface="Calibri"/>
              <a:ea typeface="Calibri"/>
              <a:cs typeface="Calibri"/>
              <a:sym typeface="Calibri"/>
            </a:endParaRPr>
          </a:p>
        </p:txBody>
      </p:sp>
      <p:sp>
        <p:nvSpPr>
          <p:cNvPr id="188" name="Google Shape;188;p9"/>
          <p:cNvSpPr/>
          <p:nvPr/>
        </p:nvSpPr>
        <p:spPr>
          <a:xfrm>
            <a:off x="365760" y="2514600"/>
            <a:ext cx="3566160" cy="960120"/>
          </a:xfrm>
          <a:prstGeom prst="rect">
            <a:avLst/>
          </a:prstGeom>
          <a:solidFill>
            <a:srgbClr val="EEE6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9"/>
          <p:cNvSpPr txBox="1"/>
          <p:nvPr/>
        </p:nvSpPr>
        <p:spPr>
          <a:xfrm>
            <a:off x="548640" y="2606040"/>
            <a:ext cx="320040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323"/>
              </a:buClr>
              <a:buSzPts val="1200"/>
              <a:buFont typeface="Georgia"/>
              <a:buNone/>
            </a:pPr>
            <a:r>
              <a:rPr b="1" i="0" lang="en-US" sz="1200" u="none" cap="none" strike="noStrike">
                <a:solidFill>
                  <a:srgbClr val="232323"/>
                </a:solidFill>
                <a:latin typeface="Georgia"/>
                <a:ea typeface="Georgia"/>
                <a:cs typeface="Georgia"/>
                <a:sym typeface="Georgia"/>
              </a:rPr>
              <a:t>Log incidents, supplies, triage,</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32323"/>
              </a:buClr>
              <a:buSzPts val="1200"/>
              <a:buFont typeface="Georgia"/>
              <a:buNone/>
            </a:pPr>
            <a:r>
              <a:rPr b="1" i="0" lang="en-US" sz="1200" u="none" cap="none" strike="noStrike">
                <a:solidFill>
                  <a:srgbClr val="232323"/>
                </a:solidFill>
                <a:latin typeface="Georgia"/>
                <a:ea typeface="Georgia"/>
                <a:cs typeface="Georgia"/>
                <a:sym typeface="Georgia"/>
              </a:rPr>
              <a:t>casualties</a:t>
            </a:r>
            <a:endParaRPr b="0" i="0" sz="1200" u="none" cap="none" strike="noStrike">
              <a:solidFill>
                <a:schemeClr val="dk1"/>
              </a:solidFill>
              <a:latin typeface="Calibri"/>
              <a:ea typeface="Calibri"/>
              <a:cs typeface="Calibri"/>
              <a:sym typeface="Calibri"/>
            </a:endParaRPr>
          </a:p>
        </p:txBody>
      </p:sp>
      <p:sp>
        <p:nvSpPr>
          <p:cNvPr id="190" name="Google Shape;190;p9"/>
          <p:cNvSpPr txBox="1"/>
          <p:nvPr/>
        </p:nvSpPr>
        <p:spPr>
          <a:xfrm>
            <a:off x="548640" y="3108960"/>
            <a:ext cx="32004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323"/>
              </a:buClr>
              <a:buSzPts val="900"/>
              <a:buFont typeface="Calibri"/>
              <a:buNone/>
            </a:pPr>
            <a:r>
              <a:rPr b="0" i="0" lang="en-US" sz="900" u="none" cap="none" strike="noStrike">
                <a:solidFill>
                  <a:srgbClr val="232323"/>
                </a:solidFill>
                <a:latin typeface="Calibri"/>
                <a:ea typeface="Calibri"/>
                <a:cs typeface="Calibri"/>
                <a:sym typeface="Calibri"/>
              </a:rPr>
              <a:t>Tag a record in a few taps. AI summarises the whole field on demand.</a:t>
            </a:r>
            <a:endParaRPr b="0" i="0" sz="900" u="none" cap="none" strike="noStrike">
              <a:solidFill>
                <a:schemeClr val="dk1"/>
              </a:solidFill>
              <a:latin typeface="Calibri"/>
              <a:ea typeface="Calibri"/>
              <a:cs typeface="Calibri"/>
              <a:sym typeface="Calibri"/>
            </a:endParaRPr>
          </a:p>
        </p:txBody>
      </p:sp>
      <p:sp>
        <p:nvSpPr>
          <p:cNvPr id="191" name="Google Shape;191;p9"/>
          <p:cNvSpPr/>
          <p:nvPr/>
        </p:nvSpPr>
        <p:spPr>
          <a:xfrm>
            <a:off x="4114800" y="2514600"/>
            <a:ext cx="3566160" cy="960120"/>
          </a:xfrm>
          <a:prstGeom prst="rect">
            <a:avLst/>
          </a:prstGeom>
          <a:solidFill>
            <a:srgbClr val="E2D8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9"/>
          <p:cNvSpPr txBox="1"/>
          <p:nvPr/>
        </p:nvSpPr>
        <p:spPr>
          <a:xfrm>
            <a:off x="4297680" y="2606040"/>
            <a:ext cx="320040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323"/>
              </a:buClr>
              <a:buSzPts val="1200"/>
              <a:buFont typeface="Georgia"/>
              <a:buNone/>
            </a:pPr>
            <a:r>
              <a:rPr b="1" i="0" lang="en-US" sz="1200" u="none" cap="none" strike="noStrike">
                <a:solidFill>
                  <a:srgbClr val="232323"/>
                </a:solidFill>
                <a:latin typeface="Georgia"/>
                <a:ea typeface="Georgia"/>
                <a:cs typeface="Georgia"/>
                <a:sym typeface="Georgia"/>
              </a:rPr>
              <a:t>Peer-to-peer chat without towers</a:t>
            </a:r>
            <a:endParaRPr b="0" i="0" sz="1200" u="none" cap="none" strike="noStrike">
              <a:solidFill>
                <a:schemeClr val="dk1"/>
              </a:solidFill>
              <a:latin typeface="Calibri"/>
              <a:ea typeface="Calibri"/>
              <a:cs typeface="Calibri"/>
              <a:sym typeface="Calibri"/>
            </a:endParaRPr>
          </a:p>
        </p:txBody>
      </p:sp>
      <p:sp>
        <p:nvSpPr>
          <p:cNvPr id="193" name="Google Shape;193;p9"/>
          <p:cNvSpPr txBox="1"/>
          <p:nvPr/>
        </p:nvSpPr>
        <p:spPr>
          <a:xfrm>
            <a:off x="4297680" y="3108960"/>
            <a:ext cx="32004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323"/>
              </a:buClr>
              <a:buSzPts val="900"/>
              <a:buFont typeface="Calibri"/>
              <a:buNone/>
            </a:pPr>
            <a:r>
              <a:rPr b="0" i="0" lang="en-US" sz="900" u="none" cap="none" strike="noStrike">
                <a:solidFill>
                  <a:srgbClr val="232323"/>
                </a:solidFill>
                <a:latin typeface="Calibri"/>
                <a:ea typeface="Calibri"/>
                <a:cs typeface="Calibri"/>
                <a:sym typeface="Calibri"/>
              </a:rPr>
              <a:t>Mesh through other phones. Buildings, basements, blackout — still reachable.</a:t>
            </a:r>
            <a:endParaRPr b="0" i="0" sz="900" u="none" cap="none" strike="noStrike">
              <a:solidFill>
                <a:schemeClr val="dk1"/>
              </a:solidFill>
              <a:latin typeface="Calibri"/>
              <a:ea typeface="Calibri"/>
              <a:cs typeface="Calibri"/>
              <a:sym typeface="Calibri"/>
            </a:endParaRPr>
          </a:p>
        </p:txBody>
      </p:sp>
      <p:sp>
        <p:nvSpPr>
          <p:cNvPr id="194" name="Google Shape;194;p9"/>
          <p:cNvSpPr/>
          <p:nvPr/>
        </p:nvSpPr>
        <p:spPr>
          <a:xfrm>
            <a:off x="365760" y="3566160"/>
            <a:ext cx="3566160" cy="960120"/>
          </a:xfrm>
          <a:prstGeom prst="rect">
            <a:avLst/>
          </a:prstGeom>
          <a:solidFill>
            <a:srgbClr val="EEE6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9"/>
          <p:cNvSpPr txBox="1"/>
          <p:nvPr/>
        </p:nvSpPr>
        <p:spPr>
          <a:xfrm>
            <a:off x="548640" y="3657600"/>
            <a:ext cx="320040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323"/>
              </a:buClr>
              <a:buSzPts val="1200"/>
              <a:buFont typeface="Georgia"/>
              <a:buNone/>
            </a:pPr>
            <a:r>
              <a:rPr b="1" i="0" lang="en-US" sz="1200" u="none" cap="none" strike="noStrike">
                <a:solidFill>
                  <a:srgbClr val="232323"/>
                </a:solidFill>
                <a:latin typeface="Georgia"/>
                <a:ea typeface="Georgia"/>
                <a:cs typeface="Georgia"/>
                <a:sym typeface="Georgia"/>
              </a:rPr>
              <a:t>AI suggestions on triage priorities</a:t>
            </a:r>
            <a:endParaRPr b="0" i="0" sz="1200" u="none" cap="none" strike="noStrike">
              <a:solidFill>
                <a:schemeClr val="dk1"/>
              </a:solidFill>
              <a:latin typeface="Calibri"/>
              <a:ea typeface="Calibri"/>
              <a:cs typeface="Calibri"/>
              <a:sym typeface="Calibri"/>
            </a:endParaRPr>
          </a:p>
        </p:txBody>
      </p:sp>
      <p:sp>
        <p:nvSpPr>
          <p:cNvPr id="196" name="Google Shape;196;p9"/>
          <p:cNvSpPr txBox="1"/>
          <p:nvPr/>
        </p:nvSpPr>
        <p:spPr>
          <a:xfrm>
            <a:off x="548640" y="4160520"/>
            <a:ext cx="32004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323"/>
              </a:buClr>
              <a:buSzPts val="900"/>
              <a:buFont typeface="Calibri"/>
              <a:buNone/>
            </a:pPr>
            <a:r>
              <a:rPr b="0" i="0" lang="en-US" sz="900" u="none" cap="none" strike="noStrike">
                <a:solidFill>
                  <a:srgbClr val="232323"/>
                </a:solidFill>
                <a:latin typeface="Calibri"/>
                <a:ea typeface="Calibri"/>
                <a:cs typeface="Calibri"/>
                <a:sym typeface="Calibri"/>
              </a:rPr>
              <a:t>Pulls from your logs and surfaces the next step you should consider first.</a:t>
            </a:r>
            <a:endParaRPr b="0" i="0" sz="900" u="none" cap="none" strike="noStrike">
              <a:solidFill>
                <a:schemeClr val="dk1"/>
              </a:solidFill>
              <a:latin typeface="Calibri"/>
              <a:ea typeface="Calibri"/>
              <a:cs typeface="Calibri"/>
              <a:sym typeface="Calibri"/>
            </a:endParaRPr>
          </a:p>
        </p:txBody>
      </p:sp>
      <p:sp>
        <p:nvSpPr>
          <p:cNvPr id="197" name="Google Shape;197;p9"/>
          <p:cNvSpPr/>
          <p:nvPr/>
        </p:nvSpPr>
        <p:spPr>
          <a:xfrm>
            <a:off x="4114800" y="3566160"/>
            <a:ext cx="3566160" cy="960120"/>
          </a:xfrm>
          <a:prstGeom prst="rect">
            <a:avLst/>
          </a:prstGeom>
          <a:solidFill>
            <a:srgbClr val="1E2A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9"/>
          <p:cNvSpPr txBox="1"/>
          <p:nvPr/>
        </p:nvSpPr>
        <p:spPr>
          <a:xfrm>
            <a:off x="4297680" y="3657600"/>
            <a:ext cx="320040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EDF"/>
              </a:buClr>
              <a:buSzPts val="1200"/>
              <a:buFont typeface="Georgia"/>
              <a:buNone/>
            </a:pPr>
            <a:r>
              <a:rPr b="1" i="0" lang="en-US" sz="1200" u="none" cap="none" strike="noStrike">
                <a:solidFill>
                  <a:srgbClr val="F3EEDF"/>
                </a:solidFill>
                <a:latin typeface="Georgia"/>
                <a:ea typeface="Georgia"/>
                <a:cs typeface="Georgia"/>
                <a:sym typeface="Georgia"/>
              </a:rPr>
              <a:t>Morale: a small steady voice</a:t>
            </a:r>
            <a:endParaRPr b="0" i="0" sz="1200" u="none" cap="none" strike="noStrike">
              <a:solidFill>
                <a:schemeClr val="dk1"/>
              </a:solidFill>
              <a:latin typeface="Calibri"/>
              <a:ea typeface="Calibri"/>
              <a:cs typeface="Calibri"/>
              <a:sym typeface="Calibri"/>
            </a:endParaRPr>
          </a:p>
        </p:txBody>
      </p:sp>
      <p:sp>
        <p:nvSpPr>
          <p:cNvPr id="199" name="Google Shape;199;p9"/>
          <p:cNvSpPr txBox="1"/>
          <p:nvPr/>
        </p:nvSpPr>
        <p:spPr>
          <a:xfrm>
            <a:off x="4297680" y="4160520"/>
            <a:ext cx="32004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EDF"/>
              </a:buClr>
              <a:buSzPts val="900"/>
              <a:buFont typeface="Calibri"/>
              <a:buNone/>
            </a:pPr>
            <a:r>
              <a:rPr b="0" i="0" lang="en-US" sz="900" u="none" cap="none" strike="noStrike">
                <a:solidFill>
                  <a:srgbClr val="F3EEDF"/>
                </a:solidFill>
                <a:latin typeface="Calibri"/>
                <a:ea typeface="Calibri"/>
                <a:cs typeface="Calibri"/>
                <a:sym typeface="Calibri"/>
              </a:rPr>
              <a:t>Quiet reminders. Breathing pauses. Permission to keep going one more step.</a:t>
            </a:r>
            <a:endParaRPr b="0" i="0" sz="900" u="none" cap="none" strike="noStrike">
              <a:solidFill>
                <a:schemeClr val="dk1"/>
              </a:solidFill>
              <a:latin typeface="Calibri"/>
              <a:ea typeface="Calibri"/>
              <a:cs typeface="Calibri"/>
              <a:sym typeface="Calibri"/>
            </a:endParaRPr>
          </a:p>
        </p:txBody>
      </p:sp>
      <p:cxnSp>
        <p:nvCxnSpPr>
          <p:cNvPr id="200" name="Google Shape;200;p9"/>
          <p:cNvCxnSpPr/>
          <p:nvPr/>
        </p:nvCxnSpPr>
        <p:spPr>
          <a:xfrm>
            <a:off x="365760" y="4709160"/>
            <a:ext cx="7680960" cy="0"/>
          </a:xfrm>
          <a:prstGeom prst="straightConnector1">
            <a:avLst/>
          </a:prstGeom>
          <a:noFill/>
          <a:ln cap="flat" cmpd="sng" w="12700">
            <a:solidFill>
              <a:srgbClr val="8A8270"/>
            </a:solidFill>
            <a:prstDash val="solid"/>
            <a:round/>
            <a:headEnd len="sm" w="sm" type="none"/>
            <a:tailEnd len="sm" w="sm" type="none"/>
          </a:ln>
        </p:spPr>
      </p:cxnSp>
      <p:sp>
        <p:nvSpPr>
          <p:cNvPr id="201" name="Google Shape;201;p9"/>
          <p:cNvSpPr txBox="1"/>
          <p:nvPr/>
        </p:nvSpPr>
        <p:spPr>
          <a:xfrm>
            <a:off x="365760" y="4892040"/>
            <a:ext cx="768096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323"/>
              </a:buClr>
              <a:buSzPts val="1300"/>
              <a:buFont typeface="Georgia"/>
              <a:buNone/>
            </a:pPr>
            <a:r>
              <a:rPr b="0" i="1" lang="en-US" sz="1300" u="none" cap="none" strike="noStrike">
                <a:solidFill>
                  <a:srgbClr val="232323"/>
                </a:solidFill>
                <a:latin typeface="Georgia"/>
                <a:ea typeface="Georgia"/>
                <a:cs typeface="Georgia"/>
                <a:sym typeface="Georgia"/>
              </a:rPr>
              <a:t>The AI is patient. The model is local. Battery is conserved. Every tap is one-handed. Nothing requires a thought you do not have.</a:t>
            </a:r>
            <a:endParaRPr b="0" i="0" sz="1300" u="none" cap="none" strike="noStrike">
              <a:solidFill>
                <a:schemeClr val="dk1"/>
              </a:solidFill>
              <a:latin typeface="Calibri"/>
              <a:ea typeface="Calibri"/>
              <a:cs typeface="Calibri"/>
              <a:sym typeface="Calibri"/>
            </a:endParaRPr>
          </a:p>
        </p:txBody>
      </p:sp>
      <p:sp>
        <p:nvSpPr>
          <p:cNvPr id="202" name="Google Shape;202;p9"/>
          <p:cNvSpPr txBox="1"/>
          <p:nvPr/>
        </p:nvSpPr>
        <p:spPr>
          <a:xfrm>
            <a:off x="8503920" y="14630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1000"/>
              <a:buFont typeface="Consolas"/>
              <a:buNone/>
            </a:pPr>
            <a:r>
              <a:rPr b="1" i="0" lang="en-US" sz="1000" u="none" cap="none" strike="noStrike">
                <a:solidFill>
                  <a:srgbClr val="F3EEDF"/>
                </a:solidFill>
                <a:latin typeface="Consolas"/>
                <a:ea typeface="Consolas"/>
                <a:cs typeface="Consolas"/>
                <a:sym typeface="Consolas"/>
              </a:rPr>
              <a:t>B MODE</a:t>
            </a:r>
            <a:endParaRPr b="0" i="0" sz="1000" u="none" cap="none" strike="noStrike">
              <a:solidFill>
                <a:schemeClr val="dk1"/>
              </a:solidFill>
              <a:latin typeface="Calibri"/>
              <a:ea typeface="Calibri"/>
              <a:cs typeface="Calibri"/>
              <a:sym typeface="Calibri"/>
            </a:endParaRPr>
          </a:p>
        </p:txBody>
      </p:sp>
      <p:sp>
        <p:nvSpPr>
          <p:cNvPr id="203" name="Google Shape;203;p9"/>
          <p:cNvSpPr txBox="1"/>
          <p:nvPr/>
        </p:nvSpPr>
        <p:spPr>
          <a:xfrm>
            <a:off x="8503920" y="1828800"/>
            <a:ext cx="3291840" cy="1920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4000"/>
              <a:buFont typeface="Georgia"/>
              <a:buNone/>
            </a:pPr>
            <a:r>
              <a:rPr b="1" i="0" lang="en-US" sz="4000" u="none" cap="none" strike="noStrike">
                <a:solidFill>
                  <a:srgbClr val="F3EEDF"/>
                </a:solidFill>
                <a:latin typeface="Georgia"/>
                <a:ea typeface="Georgia"/>
                <a:cs typeface="Georgia"/>
                <a:sym typeface="Georgia"/>
              </a:rPr>
              <a:t>Emer-</a:t>
            </a:r>
            <a:endParaRPr b="0" i="0" sz="4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3EEDF"/>
              </a:buClr>
              <a:buSzPts val="4000"/>
              <a:buFont typeface="Georgia"/>
              <a:buNone/>
            </a:pPr>
            <a:r>
              <a:rPr b="1" i="0" lang="en-US" sz="4000" u="none" cap="none" strike="noStrike">
                <a:solidFill>
                  <a:srgbClr val="F3EEDF"/>
                </a:solidFill>
                <a:latin typeface="Georgia"/>
                <a:ea typeface="Georgia"/>
                <a:cs typeface="Georgia"/>
                <a:sym typeface="Georgia"/>
              </a:rPr>
              <a:t>gency.</a:t>
            </a:r>
            <a:endParaRPr b="0" i="0" sz="4000" u="none" cap="none" strike="noStrike">
              <a:solidFill>
                <a:schemeClr val="dk1"/>
              </a:solidFill>
              <a:latin typeface="Calibri"/>
              <a:ea typeface="Calibri"/>
              <a:cs typeface="Calibri"/>
              <a:sym typeface="Calibri"/>
            </a:endParaRPr>
          </a:p>
        </p:txBody>
      </p:sp>
      <p:sp>
        <p:nvSpPr>
          <p:cNvPr id="204" name="Google Shape;204;p9"/>
          <p:cNvSpPr txBox="1"/>
          <p:nvPr/>
        </p:nvSpPr>
        <p:spPr>
          <a:xfrm>
            <a:off x="8503920" y="3749040"/>
            <a:ext cx="32918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EDF"/>
              </a:buClr>
              <a:buSzPts val="1200"/>
              <a:buFont typeface="Georgia"/>
              <a:buNone/>
            </a:pPr>
            <a:r>
              <a:rPr b="0" i="1" lang="en-US" sz="1200" u="none" cap="none" strike="noStrike">
                <a:solidFill>
                  <a:srgbClr val="F3EEDF"/>
                </a:solidFill>
                <a:latin typeface="Georgia"/>
                <a:ea typeface="Georgia"/>
                <a:cs typeface="Georgia"/>
                <a:sym typeface="Georgia"/>
              </a:rPr>
              <a:t>Lower draw. Tighter AI. Built for the days you have to keep.</a:t>
            </a:r>
            <a:endParaRPr b="0" i="0" sz="1200" u="none" cap="none" strike="noStrike">
              <a:solidFill>
                <a:schemeClr val="dk1"/>
              </a:solidFill>
              <a:latin typeface="Calibri"/>
              <a:ea typeface="Calibri"/>
              <a:cs typeface="Calibri"/>
              <a:sym typeface="Calibri"/>
            </a:endParaRPr>
          </a:p>
        </p:txBody>
      </p:sp>
      <p:sp>
        <p:nvSpPr>
          <p:cNvPr id="205" name="Google Shape;205;p9"/>
          <p:cNvSpPr txBox="1"/>
          <p:nvPr/>
        </p:nvSpPr>
        <p:spPr>
          <a:xfrm>
            <a:off x="8503920" y="502920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1000"/>
              <a:buFont typeface="Consolas"/>
              <a:buNone/>
            </a:pPr>
            <a:r>
              <a:rPr b="1" i="0" lang="en-US" sz="1000" u="none" cap="none" strike="noStrike">
                <a:solidFill>
                  <a:srgbClr val="F3EEDF"/>
                </a:solidFill>
                <a:latin typeface="Consolas"/>
                <a:ea typeface="Consolas"/>
                <a:cs typeface="Consolas"/>
                <a:sym typeface="Consolas"/>
              </a:rPr>
              <a:t>POWER PROFILE</a:t>
            </a:r>
            <a:endParaRPr b="0" i="0" sz="1000" u="none" cap="none" strike="noStrike">
              <a:solidFill>
                <a:schemeClr val="dk1"/>
              </a:solidFill>
              <a:latin typeface="Calibri"/>
              <a:ea typeface="Calibri"/>
              <a:cs typeface="Calibri"/>
              <a:sym typeface="Calibri"/>
            </a:endParaRPr>
          </a:p>
        </p:txBody>
      </p:sp>
      <p:sp>
        <p:nvSpPr>
          <p:cNvPr id="206" name="Google Shape;206;p9"/>
          <p:cNvSpPr txBox="1"/>
          <p:nvPr/>
        </p:nvSpPr>
        <p:spPr>
          <a:xfrm>
            <a:off x="8503920" y="5303520"/>
            <a:ext cx="32918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3600"/>
              <a:buFont typeface="Georgia"/>
              <a:buNone/>
            </a:pPr>
            <a:r>
              <a:rPr b="1" i="1" lang="en-US" sz="3600" u="none" cap="none" strike="noStrike">
                <a:solidFill>
                  <a:srgbClr val="F3EEDF"/>
                </a:solidFill>
                <a:latin typeface="Georgia"/>
                <a:ea typeface="Georgia"/>
                <a:cs typeface="Georgia"/>
                <a:sym typeface="Georgia"/>
              </a:rPr>
              <a:t>~40%</a:t>
            </a:r>
            <a:endParaRPr b="0" i="0" sz="3600" u="none" cap="none" strike="noStrike">
              <a:solidFill>
                <a:schemeClr val="dk1"/>
              </a:solidFill>
              <a:latin typeface="Calibri"/>
              <a:ea typeface="Calibri"/>
              <a:cs typeface="Calibri"/>
              <a:sym typeface="Calibri"/>
            </a:endParaRPr>
          </a:p>
        </p:txBody>
      </p:sp>
      <p:sp>
        <p:nvSpPr>
          <p:cNvPr id="207" name="Google Shape;207;p9"/>
          <p:cNvSpPr txBox="1"/>
          <p:nvPr/>
        </p:nvSpPr>
        <p:spPr>
          <a:xfrm>
            <a:off x="8503920" y="6035040"/>
            <a:ext cx="338328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EDF"/>
              </a:buClr>
              <a:buSzPts val="900"/>
              <a:buFont typeface="Consolas"/>
              <a:buNone/>
            </a:pPr>
            <a:r>
              <a:rPr b="0" i="0" lang="en-US" sz="900" u="none" cap="none" strike="noStrike">
                <a:solidFill>
                  <a:srgbClr val="F3EEDF"/>
                </a:solidFill>
                <a:latin typeface="Consolas"/>
                <a:ea typeface="Consolas"/>
                <a:cs typeface="Consolas"/>
                <a:sym typeface="Consolas"/>
              </a:rPr>
              <a:t>Background sync paused. Smaller model. Screen brightness clamped. Mesh radio kept warm.</a:t>
            </a:r>
            <a:endParaRPr b="0" i="0" sz="900" u="none" cap="none" strike="noStrike">
              <a:solidFill>
                <a:schemeClr val="dk1"/>
              </a:solidFill>
              <a:latin typeface="Calibri"/>
              <a:ea typeface="Calibri"/>
              <a:cs typeface="Calibri"/>
              <a:sym typeface="Calibri"/>
            </a:endParaRPr>
          </a:p>
        </p:txBody>
      </p:sp>
      <p:cxnSp>
        <p:nvCxnSpPr>
          <p:cNvPr id="208" name="Google Shape;208;p9"/>
          <p:cNvCxnSpPr/>
          <p:nvPr/>
        </p:nvCxnSpPr>
        <p:spPr>
          <a:xfrm>
            <a:off x="457200" y="6400800"/>
            <a:ext cx="11274552" cy="0"/>
          </a:xfrm>
          <a:prstGeom prst="straightConnector1">
            <a:avLst/>
          </a:prstGeom>
          <a:noFill/>
          <a:ln cap="flat" cmpd="sng" w="12700">
            <a:solidFill>
              <a:srgbClr val="8A8270"/>
            </a:solidFill>
            <a:prstDash val="solid"/>
            <a:round/>
            <a:headEnd len="sm" w="sm" type="none"/>
            <a:tailEnd len="sm" w="sm" type="none"/>
          </a:ln>
        </p:spPr>
      </p:cxnSp>
      <p:sp>
        <p:nvSpPr>
          <p:cNvPr id="209" name="Google Shape;209;p9"/>
          <p:cNvSpPr txBox="1"/>
          <p:nvPr/>
        </p:nvSpPr>
        <p:spPr>
          <a:xfrm>
            <a:off x="457200" y="649224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270"/>
              </a:buClr>
              <a:buSzPts val="850"/>
              <a:buFont typeface="Consolas"/>
              <a:buNone/>
            </a:pPr>
            <a:r>
              <a:rPr b="1" i="0" lang="en-US" sz="850" u="none" cap="none" strike="noStrike">
                <a:solidFill>
                  <a:srgbClr val="8A8270"/>
                </a:solidFill>
                <a:latin typeface="Consolas"/>
                <a:ea typeface="Consolas"/>
                <a:cs typeface="Consolas"/>
                <a:sym typeface="Consolas"/>
              </a:rPr>
              <a:t>AUTO-ENGAGES WHEN MOTION + SIGNAL LOSS EXCEEDS A THRESHOLD. MANUAL TOGGLE IN ONE SWIPE.</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6D5"/>
        </a:solidFill>
      </p:bgPr>
    </p:bg>
    <p:spTree>
      <p:nvGrpSpPr>
        <p:cNvPr id="214" name="Shape 214"/>
        <p:cNvGrpSpPr/>
        <p:nvPr/>
      </p:nvGrpSpPr>
      <p:grpSpPr>
        <a:xfrm>
          <a:off x="0" y="0"/>
          <a:ext cx="0" cy="0"/>
          <a:chOff x="0" y="0"/>
          <a:chExt cx="0" cy="0"/>
        </a:xfrm>
      </p:grpSpPr>
      <p:sp>
        <p:nvSpPr>
          <p:cNvPr id="215" name="Google Shape;215;p10"/>
          <p:cNvSpPr txBox="1"/>
          <p:nvPr/>
        </p:nvSpPr>
        <p:spPr>
          <a:xfrm>
            <a:off x="457200" y="3200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1000"/>
              <a:buFont typeface="Consolas"/>
              <a:buNone/>
            </a:pPr>
            <a:r>
              <a:rPr b="1" i="0" lang="en-US" sz="1000" u="none" cap="none" strike="noStrike">
                <a:solidFill>
                  <a:srgbClr val="232323"/>
                </a:solidFill>
                <a:latin typeface="Consolas"/>
                <a:ea typeface="Consolas"/>
                <a:cs typeface="Consolas"/>
                <a:sym typeface="Consolas"/>
              </a:rPr>
              <a:t>THE APP</a:t>
            </a:r>
            <a:endParaRPr b="0" i="0" sz="1000" u="none" cap="none" strike="noStrike">
              <a:solidFill>
                <a:schemeClr val="dk1"/>
              </a:solidFill>
              <a:latin typeface="Calibri"/>
              <a:ea typeface="Calibri"/>
              <a:cs typeface="Calibri"/>
              <a:sym typeface="Calibri"/>
            </a:endParaRPr>
          </a:p>
        </p:txBody>
      </p:sp>
      <p:sp>
        <p:nvSpPr>
          <p:cNvPr id="216" name="Google Shape;216;p10"/>
          <p:cNvSpPr txBox="1"/>
          <p:nvPr/>
        </p:nvSpPr>
        <p:spPr>
          <a:xfrm>
            <a:off x="7159752" y="320040"/>
            <a:ext cx="45720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32323"/>
              </a:buClr>
              <a:buSzPts val="1000"/>
              <a:buFont typeface="Consolas"/>
              <a:buNone/>
            </a:pPr>
            <a:r>
              <a:rPr b="1" i="0" lang="en-US" sz="1000" u="none" cap="none" strike="noStrike">
                <a:solidFill>
                  <a:srgbClr val="232323"/>
                </a:solidFill>
                <a:latin typeface="Consolas"/>
                <a:ea typeface="Consolas"/>
                <a:cs typeface="Consolas"/>
                <a:sym typeface="Consolas"/>
              </a:rPr>
              <a:t>DAILY VS. DISASTER ZONE</a:t>
            </a:r>
            <a:endParaRPr b="0" i="0" sz="1000" u="none" cap="none" strike="noStrike">
              <a:solidFill>
                <a:schemeClr val="dk1"/>
              </a:solidFill>
              <a:latin typeface="Calibri"/>
              <a:ea typeface="Calibri"/>
              <a:cs typeface="Calibri"/>
              <a:sym typeface="Calibri"/>
            </a:endParaRPr>
          </a:p>
        </p:txBody>
      </p:sp>
      <p:cxnSp>
        <p:nvCxnSpPr>
          <p:cNvPr id="217" name="Google Shape;217;p10"/>
          <p:cNvCxnSpPr/>
          <p:nvPr/>
        </p:nvCxnSpPr>
        <p:spPr>
          <a:xfrm>
            <a:off x="457200" y="685800"/>
            <a:ext cx="11274552" cy="0"/>
          </a:xfrm>
          <a:prstGeom prst="straightConnector1">
            <a:avLst/>
          </a:prstGeom>
          <a:noFill/>
          <a:ln cap="flat" cmpd="sng" w="12700">
            <a:solidFill>
              <a:srgbClr val="232323"/>
            </a:solidFill>
            <a:prstDash val="solid"/>
            <a:round/>
            <a:headEnd len="sm" w="sm" type="none"/>
            <a:tailEnd len="sm" w="sm" type="none"/>
          </a:ln>
        </p:spPr>
      </p:cxnSp>
      <p:sp>
        <p:nvSpPr>
          <p:cNvPr id="218" name="Google Shape;218;p10"/>
          <p:cNvSpPr txBox="1"/>
          <p:nvPr/>
        </p:nvSpPr>
        <p:spPr>
          <a:xfrm>
            <a:off x="457200" y="914400"/>
            <a:ext cx="1124712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2600"/>
              <a:buFont typeface="Georgia"/>
              <a:buNone/>
            </a:pPr>
            <a:r>
              <a:rPr b="1" i="0" lang="en-US" sz="2600" u="none" cap="none" strike="noStrike">
                <a:solidFill>
                  <a:srgbClr val="232323"/>
                </a:solidFill>
                <a:latin typeface="Georgia"/>
                <a:ea typeface="Georgia"/>
                <a:cs typeface="Georgia"/>
                <a:sym typeface="Georgia"/>
              </a:rPr>
              <a:t>Same app. </a:t>
            </a:r>
            <a:r>
              <a:rPr b="0" i="1" lang="en-US" sz="2600" u="none" cap="none" strike="noStrike">
                <a:solidFill>
                  <a:srgbClr val="232323"/>
                </a:solidFill>
                <a:latin typeface="Georgia"/>
                <a:ea typeface="Georgia"/>
                <a:cs typeface="Georgia"/>
                <a:sym typeface="Georgia"/>
              </a:rPr>
              <a:t>Two zones</a:t>
            </a:r>
            <a:r>
              <a:rPr b="1" i="0" lang="en-US" sz="2600" u="none" cap="none" strike="noStrike">
                <a:solidFill>
                  <a:srgbClr val="232323"/>
                </a:solidFill>
                <a:latin typeface="Georgia"/>
                <a:ea typeface="Georgia"/>
                <a:cs typeface="Georgia"/>
                <a:sym typeface="Georgia"/>
              </a:rPr>
              <a:t>, colour-coded so you always know which one you're in.</a:t>
            </a:r>
            <a:endParaRPr b="0" i="0" sz="2600" u="none" cap="none" strike="noStrike">
              <a:solidFill>
                <a:schemeClr val="dk1"/>
              </a:solidFill>
              <a:latin typeface="Calibri"/>
              <a:ea typeface="Calibri"/>
              <a:cs typeface="Calibri"/>
              <a:sym typeface="Calibri"/>
            </a:endParaRPr>
          </a:p>
        </p:txBody>
      </p:sp>
      <p:pic>
        <p:nvPicPr>
          <p:cNvPr descr="/home/claude/ppt/assets/app_daily.png" id="219" name="Google Shape;219;p10"/>
          <p:cNvPicPr preferRelativeResize="0"/>
          <p:nvPr/>
        </p:nvPicPr>
        <p:blipFill rotWithShape="1">
          <a:blip r:embed="rId3">
            <a:alphaModFix/>
          </a:blip>
          <a:srcRect b="0" l="0" r="0" t="0"/>
          <a:stretch/>
        </p:blipFill>
        <p:spPr>
          <a:xfrm>
            <a:off x="1737360" y="2103120"/>
            <a:ext cx="2208276" cy="3840480"/>
          </a:xfrm>
          <a:prstGeom prst="rect">
            <a:avLst/>
          </a:prstGeom>
          <a:noFill/>
          <a:ln>
            <a:noFill/>
          </a:ln>
        </p:spPr>
      </p:pic>
      <p:sp>
        <p:nvSpPr>
          <p:cNvPr id="220" name="Google Shape;220;p10"/>
          <p:cNvSpPr txBox="1"/>
          <p:nvPr/>
        </p:nvSpPr>
        <p:spPr>
          <a:xfrm>
            <a:off x="1737360" y="1847088"/>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E56"/>
              </a:buClr>
              <a:buSzPts val="1000"/>
              <a:buFont typeface="Consolas"/>
              <a:buNone/>
            </a:pPr>
            <a:r>
              <a:rPr b="1" i="0" lang="en-US" sz="1000" u="none" cap="none" strike="noStrike">
                <a:solidFill>
                  <a:srgbClr val="0F6E56"/>
                </a:solidFill>
                <a:latin typeface="Consolas"/>
                <a:ea typeface="Consolas"/>
                <a:cs typeface="Consolas"/>
                <a:sym typeface="Consolas"/>
              </a:rPr>
              <a:t>DAILY ZONE</a:t>
            </a:r>
            <a:endParaRPr b="0" i="0" sz="1000" u="none" cap="none" strike="noStrike">
              <a:solidFill>
                <a:schemeClr val="dk1"/>
              </a:solidFill>
              <a:latin typeface="Calibri"/>
              <a:ea typeface="Calibri"/>
              <a:cs typeface="Calibri"/>
              <a:sym typeface="Calibri"/>
            </a:endParaRPr>
          </a:p>
        </p:txBody>
      </p:sp>
      <p:sp>
        <p:nvSpPr>
          <p:cNvPr id="221" name="Google Shape;221;p10"/>
          <p:cNvSpPr txBox="1"/>
          <p:nvPr/>
        </p:nvSpPr>
        <p:spPr>
          <a:xfrm>
            <a:off x="1737360" y="6016752"/>
            <a:ext cx="220827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E56"/>
              </a:buClr>
              <a:buSzPts val="1000"/>
              <a:buFont typeface="Consolas"/>
              <a:buNone/>
            </a:pPr>
            <a:r>
              <a:t/>
            </a:r>
            <a:endParaRPr b="0" i="0" sz="1000" u="none" cap="none" strike="noStrike">
              <a:solidFill>
                <a:schemeClr val="dk1"/>
              </a:solidFill>
              <a:latin typeface="Calibri"/>
              <a:ea typeface="Calibri"/>
              <a:cs typeface="Calibri"/>
              <a:sym typeface="Calibri"/>
            </a:endParaRPr>
          </a:p>
        </p:txBody>
      </p:sp>
      <p:pic>
        <p:nvPicPr>
          <p:cNvPr descr="/home/claude/ppt/assets/app_disaster.png" id="222" name="Google Shape;222;p10"/>
          <p:cNvPicPr preferRelativeResize="0"/>
          <p:nvPr/>
        </p:nvPicPr>
        <p:blipFill rotWithShape="1">
          <a:blip r:embed="rId4">
            <a:alphaModFix/>
          </a:blip>
          <a:srcRect b="0" l="0" r="0" t="0"/>
          <a:stretch/>
        </p:blipFill>
        <p:spPr>
          <a:xfrm>
            <a:off x="8229600" y="2103120"/>
            <a:ext cx="2208276" cy="3840480"/>
          </a:xfrm>
          <a:prstGeom prst="rect">
            <a:avLst/>
          </a:prstGeom>
          <a:noFill/>
          <a:ln>
            <a:noFill/>
          </a:ln>
        </p:spPr>
      </p:pic>
      <p:sp>
        <p:nvSpPr>
          <p:cNvPr id="223" name="Google Shape;223;p10"/>
          <p:cNvSpPr txBox="1"/>
          <p:nvPr/>
        </p:nvSpPr>
        <p:spPr>
          <a:xfrm>
            <a:off x="8229600" y="1847088"/>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261E"/>
              </a:buClr>
              <a:buSzPts val="1000"/>
              <a:buFont typeface="Consolas"/>
              <a:buNone/>
            </a:pPr>
            <a:r>
              <a:rPr b="1" i="0" lang="en-US" sz="1000" u="none" cap="none" strike="noStrike">
                <a:solidFill>
                  <a:srgbClr val="B3261E"/>
                </a:solidFill>
                <a:latin typeface="Consolas"/>
                <a:ea typeface="Consolas"/>
                <a:cs typeface="Consolas"/>
                <a:sym typeface="Consolas"/>
              </a:rPr>
              <a:t>DISASTER ZONE</a:t>
            </a:r>
            <a:endParaRPr b="0" i="0" sz="1000" u="none" cap="none" strike="noStrike">
              <a:solidFill>
                <a:schemeClr val="dk1"/>
              </a:solidFill>
              <a:latin typeface="Calibri"/>
              <a:ea typeface="Calibri"/>
              <a:cs typeface="Calibri"/>
              <a:sym typeface="Calibri"/>
            </a:endParaRPr>
          </a:p>
        </p:txBody>
      </p:sp>
      <p:sp>
        <p:nvSpPr>
          <p:cNvPr id="224" name="Google Shape;224;p10"/>
          <p:cNvSpPr txBox="1"/>
          <p:nvPr/>
        </p:nvSpPr>
        <p:spPr>
          <a:xfrm>
            <a:off x="8229600" y="6016752"/>
            <a:ext cx="220827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261E"/>
              </a:buClr>
              <a:buSzPts val="1000"/>
              <a:buFont typeface="Consolas"/>
              <a:buNone/>
            </a:pPr>
            <a:r>
              <a:t/>
            </a:r>
            <a:endParaRPr b="0" i="0" sz="1000" u="none" cap="none" strike="noStrike">
              <a:solidFill>
                <a:schemeClr val="dk1"/>
              </a:solidFill>
              <a:latin typeface="Calibri"/>
              <a:ea typeface="Calibri"/>
              <a:cs typeface="Calibri"/>
              <a:sym typeface="Calibri"/>
            </a:endParaRPr>
          </a:p>
        </p:txBody>
      </p:sp>
      <p:sp>
        <p:nvSpPr>
          <p:cNvPr id="225" name="Google Shape;225;p10"/>
          <p:cNvSpPr txBox="1"/>
          <p:nvPr/>
        </p:nvSpPr>
        <p:spPr>
          <a:xfrm>
            <a:off x="4480560" y="3291840"/>
            <a:ext cx="3200400" cy="1828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323"/>
              </a:buClr>
              <a:buSzPts val="1250"/>
              <a:buFont typeface="Georgia"/>
              <a:buNone/>
            </a:pPr>
            <a:r>
              <a:rPr b="0" i="1" lang="en-US" sz="1250" u="none" cap="none" strike="noStrike">
                <a:solidFill>
                  <a:srgbClr val="232323"/>
                </a:solidFill>
                <a:latin typeface="Georgia"/>
                <a:ea typeface="Georgia"/>
                <a:cs typeface="Georgia"/>
                <a:sym typeface="Georgia"/>
              </a:rPr>
              <a:t>Mode toggle at the top of every</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32323"/>
              </a:buClr>
              <a:buSzPts val="1250"/>
              <a:buFont typeface="Georgia"/>
              <a:buNone/>
            </a:pPr>
            <a:r>
              <a:rPr b="0" i="1" lang="en-US" sz="1250" u="none" cap="none" strike="noStrike">
                <a:solidFill>
                  <a:srgbClr val="232323"/>
                </a:solidFill>
                <a:latin typeface="Georgia"/>
                <a:ea typeface="Georgia"/>
                <a:cs typeface="Georgia"/>
                <a:sym typeface="Georgia"/>
              </a:rPr>
              <a:t>screen — the whole UI recolours</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32323"/>
              </a:buClr>
              <a:buSzPts val="1250"/>
              <a:buFont typeface="Georgia"/>
              <a:buNone/>
            </a:pPr>
            <a:r>
              <a:rPr b="0" i="1" lang="en-US" sz="1250" u="none" cap="none" strike="noStrike">
                <a:solidFill>
                  <a:srgbClr val="232323"/>
                </a:solidFill>
                <a:latin typeface="Georgia"/>
                <a:ea typeface="Georgia"/>
                <a:cs typeface="Georgia"/>
                <a:sym typeface="Georgia"/>
              </a:rPr>
              <a:t>the instant you switch, so the</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32323"/>
              </a:buClr>
              <a:buSzPts val="1250"/>
              <a:buFont typeface="Georgia"/>
              <a:buNone/>
            </a:pPr>
            <a:r>
              <a:rPr b="0" i="1" lang="en-US" sz="1250" u="none" cap="none" strike="noStrike">
                <a:solidFill>
                  <a:srgbClr val="232323"/>
                </a:solidFill>
                <a:latin typeface="Georgia"/>
                <a:ea typeface="Georgia"/>
                <a:cs typeface="Georgia"/>
                <a:sym typeface="Georgia"/>
              </a:rPr>
              <a:t>zone you're in is never in doubt.</a:t>
            </a:r>
            <a:endParaRPr b="0" i="0" sz="1250" u="none" cap="none" strike="noStrike">
              <a:solidFill>
                <a:schemeClr val="dk1"/>
              </a:solidFill>
              <a:latin typeface="Calibri"/>
              <a:ea typeface="Calibri"/>
              <a:cs typeface="Calibri"/>
              <a:sym typeface="Calibri"/>
            </a:endParaRPr>
          </a:p>
        </p:txBody>
      </p:sp>
      <p:cxnSp>
        <p:nvCxnSpPr>
          <p:cNvPr id="226" name="Google Shape;226;p10"/>
          <p:cNvCxnSpPr/>
          <p:nvPr/>
        </p:nvCxnSpPr>
        <p:spPr>
          <a:xfrm>
            <a:off x="457200" y="6400800"/>
            <a:ext cx="11274552" cy="0"/>
          </a:xfrm>
          <a:prstGeom prst="straightConnector1">
            <a:avLst/>
          </a:prstGeom>
          <a:noFill/>
          <a:ln cap="flat" cmpd="sng" w="12700">
            <a:solidFill>
              <a:srgbClr val="8A8270"/>
            </a:solidFill>
            <a:prstDash val="solid"/>
            <a:round/>
            <a:headEnd len="sm" w="sm" type="none"/>
            <a:tailEnd len="sm" w="sm" type="none"/>
          </a:ln>
        </p:spPr>
      </p:cxnSp>
      <p:sp>
        <p:nvSpPr>
          <p:cNvPr id="227" name="Google Shape;227;p10"/>
          <p:cNvSpPr txBox="1"/>
          <p:nvPr/>
        </p:nvSpPr>
        <p:spPr>
          <a:xfrm>
            <a:off x="457200" y="649224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270"/>
              </a:buClr>
              <a:buSzPts val="850"/>
              <a:buFont typeface="Consolas"/>
              <a:buNone/>
            </a:pPr>
            <a:r>
              <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6D5"/>
        </a:solidFill>
      </p:bgPr>
    </p:bg>
    <p:spTree>
      <p:nvGrpSpPr>
        <p:cNvPr id="232" name="Shape 232"/>
        <p:cNvGrpSpPr/>
        <p:nvPr/>
      </p:nvGrpSpPr>
      <p:grpSpPr>
        <a:xfrm>
          <a:off x="0" y="0"/>
          <a:ext cx="0" cy="0"/>
          <a:chOff x="0" y="0"/>
          <a:chExt cx="0" cy="0"/>
        </a:xfrm>
      </p:grpSpPr>
      <p:sp>
        <p:nvSpPr>
          <p:cNvPr id="233" name="Google Shape;233;p11"/>
          <p:cNvSpPr txBox="1"/>
          <p:nvPr/>
        </p:nvSpPr>
        <p:spPr>
          <a:xfrm>
            <a:off x="457200" y="3200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1000"/>
              <a:buFont typeface="Consolas"/>
              <a:buNone/>
            </a:pPr>
            <a:r>
              <a:rPr b="1" i="0" lang="en-US" sz="1000" u="none" cap="none" strike="noStrike">
                <a:solidFill>
                  <a:srgbClr val="232323"/>
                </a:solidFill>
                <a:latin typeface="Consolas"/>
                <a:ea typeface="Consolas"/>
                <a:cs typeface="Consolas"/>
                <a:sym typeface="Consolas"/>
              </a:rPr>
              <a:t>TWO ENGINES, ONE DEVICE</a:t>
            </a:r>
            <a:endParaRPr b="0" i="0" sz="1000" u="none" cap="none" strike="noStrike">
              <a:solidFill>
                <a:schemeClr val="dk1"/>
              </a:solidFill>
              <a:latin typeface="Calibri"/>
              <a:ea typeface="Calibri"/>
              <a:cs typeface="Calibri"/>
              <a:sym typeface="Calibri"/>
            </a:endParaRPr>
          </a:p>
        </p:txBody>
      </p:sp>
      <p:sp>
        <p:nvSpPr>
          <p:cNvPr id="234" name="Google Shape;234;p11"/>
          <p:cNvSpPr txBox="1"/>
          <p:nvPr/>
        </p:nvSpPr>
        <p:spPr>
          <a:xfrm>
            <a:off x="7159752" y="320040"/>
            <a:ext cx="45720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32323"/>
              </a:buClr>
              <a:buSzPts val="1000"/>
              <a:buFont typeface="Consolas"/>
              <a:buNone/>
            </a:pPr>
            <a:r>
              <a:rPr b="1" i="0" lang="en-US" sz="1000" u="none" cap="none" strike="noStrike">
                <a:solidFill>
                  <a:srgbClr val="232323"/>
                </a:solidFill>
                <a:latin typeface="Consolas"/>
                <a:ea typeface="Consolas"/>
                <a:cs typeface="Consolas"/>
                <a:sym typeface="Consolas"/>
              </a:rPr>
              <a:t>COMPARISON</a:t>
            </a:r>
            <a:endParaRPr b="0" i="0" sz="1000" u="none" cap="none" strike="noStrike">
              <a:solidFill>
                <a:schemeClr val="dk1"/>
              </a:solidFill>
              <a:latin typeface="Calibri"/>
              <a:ea typeface="Calibri"/>
              <a:cs typeface="Calibri"/>
              <a:sym typeface="Calibri"/>
            </a:endParaRPr>
          </a:p>
        </p:txBody>
      </p:sp>
      <p:cxnSp>
        <p:nvCxnSpPr>
          <p:cNvPr id="235" name="Google Shape;235;p11"/>
          <p:cNvCxnSpPr/>
          <p:nvPr/>
        </p:nvCxnSpPr>
        <p:spPr>
          <a:xfrm>
            <a:off x="457200" y="685800"/>
            <a:ext cx="11274552" cy="0"/>
          </a:xfrm>
          <a:prstGeom prst="straightConnector1">
            <a:avLst/>
          </a:prstGeom>
          <a:noFill/>
          <a:ln cap="flat" cmpd="sng" w="12700">
            <a:solidFill>
              <a:srgbClr val="232323"/>
            </a:solidFill>
            <a:prstDash val="solid"/>
            <a:round/>
            <a:headEnd len="sm" w="sm" type="none"/>
            <a:tailEnd len="sm" w="sm" type="none"/>
          </a:ln>
        </p:spPr>
      </p:cxnSp>
      <p:sp>
        <p:nvSpPr>
          <p:cNvPr id="236" name="Google Shape;236;p11"/>
          <p:cNvSpPr txBox="1"/>
          <p:nvPr/>
        </p:nvSpPr>
        <p:spPr>
          <a:xfrm>
            <a:off x="457200" y="914400"/>
            <a:ext cx="914400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2600"/>
              <a:buFont typeface="Georgia"/>
              <a:buNone/>
            </a:pPr>
            <a:r>
              <a:rPr b="1" i="0" lang="en-US" sz="2600" u="none" cap="none" strike="noStrike">
                <a:solidFill>
                  <a:srgbClr val="232323"/>
                </a:solidFill>
                <a:latin typeface="Georgia"/>
                <a:ea typeface="Georgia"/>
                <a:cs typeface="Georgia"/>
                <a:sym typeface="Georgia"/>
              </a:rPr>
              <a:t>The same app. Two </a:t>
            </a:r>
            <a:r>
              <a:rPr b="0" i="1" lang="en-US" sz="2600" u="none" cap="none" strike="noStrike">
                <a:solidFill>
                  <a:srgbClr val="232323"/>
                </a:solidFill>
                <a:latin typeface="Georgia"/>
                <a:ea typeface="Georgia"/>
                <a:cs typeface="Georgia"/>
                <a:sym typeface="Georgia"/>
              </a:rPr>
              <a:t>personalities</a:t>
            </a:r>
            <a:r>
              <a:rPr b="1" i="0" lang="en-US" sz="2600" u="none" cap="none" strike="noStrike">
                <a:solidFill>
                  <a:srgbClr val="232323"/>
                </a:solidFill>
                <a:latin typeface="Georgia"/>
                <a:ea typeface="Georgia"/>
                <a:cs typeface="Georgia"/>
                <a:sym typeface="Georgia"/>
              </a:rPr>
              <a:t>. One slider</a:t>
            </a:r>
            <a:endParaRPr b="0" i="0" sz="2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32323"/>
              </a:buClr>
              <a:buSzPts val="2600"/>
              <a:buFont typeface="Georgia"/>
              <a:buNone/>
            </a:pPr>
            <a:r>
              <a:rPr b="1" i="0" lang="en-US" sz="2600" u="none" cap="none" strike="noStrike">
                <a:solidFill>
                  <a:srgbClr val="232323"/>
                </a:solidFill>
                <a:latin typeface="Georgia"/>
                <a:ea typeface="Georgia"/>
                <a:cs typeface="Georgia"/>
                <a:sym typeface="Georgia"/>
              </a:rPr>
              <a:t>apart.</a:t>
            </a:r>
            <a:endParaRPr b="0" i="0" sz="2600" u="none" cap="none" strike="noStrike">
              <a:solidFill>
                <a:schemeClr val="dk1"/>
              </a:solidFill>
              <a:latin typeface="Calibri"/>
              <a:ea typeface="Calibri"/>
              <a:cs typeface="Calibri"/>
              <a:sym typeface="Calibri"/>
            </a:endParaRPr>
          </a:p>
        </p:txBody>
      </p:sp>
      <p:sp>
        <p:nvSpPr>
          <p:cNvPr id="237" name="Google Shape;237;p11"/>
          <p:cNvSpPr txBox="1"/>
          <p:nvPr/>
        </p:nvSpPr>
        <p:spPr>
          <a:xfrm>
            <a:off x="457200" y="2286000"/>
            <a:ext cx="105156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323"/>
              </a:buClr>
              <a:buSzPts val="1200"/>
              <a:buFont typeface="Calibri"/>
              <a:buNone/>
            </a:pPr>
            <a:r>
              <a:rPr b="0" i="0" lang="en-US" sz="1200" u="none" cap="none" strike="noStrike">
                <a:solidFill>
                  <a:srgbClr val="232323"/>
                </a:solidFill>
                <a:latin typeface="Calibri"/>
                <a:ea typeface="Calibri"/>
                <a:cs typeface="Calibri"/>
                <a:sym typeface="Calibri"/>
              </a:rPr>
              <a:t>Daily mode spends power to give you a richer AI and full sync. Emergency mode spends the same hour differently — it saves power, conserves screen, and keeps the mesh radio alive while everything else goes dark.</a:t>
            </a:r>
            <a:endParaRPr b="0" i="0" sz="1200" u="none" cap="none" strike="noStrike">
              <a:solidFill>
                <a:schemeClr val="dk1"/>
              </a:solidFill>
              <a:latin typeface="Calibri"/>
              <a:ea typeface="Calibri"/>
              <a:cs typeface="Calibri"/>
              <a:sym typeface="Calibri"/>
            </a:endParaRPr>
          </a:p>
        </p:txBody>
      </p:sp>
      <p:sp>
        <p:nvSpPr>
          <p:cNvPr id="238" name="Google Shape;238;p11"/>
          <p:cNvSpPr/>
          <p:nvPr/>
        </p:nvSpPr>
        <p:spPr>
          <a:xfrm>
            <a:off x="457200" y="3200400"/>
            <a:ext cx="3566160" cy="2926080"/>
          </a:xfrm>
          <a:prstGeom prst="rect">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1"/>
          <p:cNvSpPr txBox="1"/>
          <p:nvPr/>
        </p:nvSpPr>
        <p:spPr>
          <a:xfrm>
            <a:off x="640080" y="333756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1000"/>
              <a:buFont typeface="Consolas"/>
              <a:buNone/>
            </a:pPr>
            <a:r>
              <a:rPr b="1" i="0" lang="en-US" sz="1000" u="none" cap="none" strike="noStrike">
                <a:solidFill>
                  <a:srgbClr val="F3EEDF"/>
                </a:solidFill>
                <a:latin typeface="Consolas"/>
                <a:ea typeface="Consolas"/>
                <a:cs typeface="Consolas"/>
                <a:sym typeface="Consolas"/>
              </a:rPr>
              <a:t>MODE A</a:t>
            </a:r>
            <a:endParaRPr b="0" i="0" sz="1000" u="none" cap="none" strike="noStrike">
              <a:solidFill>
                <a:schemeClr val="dk1"/>
              </a:solidFill>
              <a:latin typeface="Calibri"/>
              <a:ea typeface="Calibri"/>
              <a:cs typeface="Calibri"/>
              <a:sym typeface="Calibri"/>
            </a:endParaRPr>
          </a:p>
        </p:txBody>
      </p:sp>
      <p:sp>
        <p:nvSpPr>
          <p:cNvPr id="240" name="Google Shape;240;p11"/>
          <p:cNvSpPr txBox="1"/>
          <p:nvPr/>
        </p:nvSpPr>
        <p:spPr>
          <a:xfrm>
            <a:off x="640080" y="3611880"/>
            <a:ext cx="32004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2600"/>
              <a:buFont typeface="Georgia"/>
              <a:buNone/>
            </a:pPr>
            <a:r>
              <a:rPr b="1" i="0" lang="en-US" sz="2600" u="none" cap="none" strike="noStrike">
                <a:solidFill>
                  <a:srgbClr val="F3EEDF"/>
                </a:solidFill>
                <a:latin typeface="Georgia"/>
                <a:ea typeface="Georgia"/>
                <a:cs typeface="Georgia"/>
                <a:sym typeface="Georgia"/>
              </a:rPr>
              <a:t>Daily</a:t>
            </a:r>
            <a:endParaRPr b="0" i="0" sz="2600" u="none" cap="none" strike="noStrike">
              <a:solidFill>
                <a:schemeClr val="dk1"/>
              </a:solidFill>
              <a:latin typeface="Calibri"/>
              <a:ea typeface="Calibri"/>
              <a:cs typeface="Calibri"/>
              <a:sym typeface="Calibri"/>
            </a:endParaRPr>
          </a:p>
        </p:txBody>
      </p:sp>
      <p:sp>
        <p:nvSpPr>
          <p:cNvPr id="241" name="Google Shape;241;p11"/>
          <p:cNvSpPr txBox="1"/>
          <p:nvPr/>
        </p:nvSpPr>
        <p:spPr>
          <a:xfrm>
            <a:off x="640080" y="4206240"/>
            <a:ext cx="32004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3000"/>
              <a:buFont typeface="Georgia"/>
              <a:buNone/>
            </a:pPr>
            <a:r>
              <a:rPr b="1" i="1" lang="en-US" sz="3000" u="none" cap="none" strike="noStrike">
                <a:solidFill>
                  <a:srgbClr val="F3EEDF"/>
                </a:solidFill>
                <a:latin typeface="Georgia"/>
                <a:ea typeface="Georgia"/>
                <a:cs typeface="Georgia"/>
                <a:sym typeface="Georgia"/>
              </a:rPr>
              <a:t>~100%</a:t>
            </a:r>
            <a:endParaRPr b="0" i="0" sz="3000" u="none" cap="none" strike="noStrike">
              <a:solidFill>
                <a:schemeClr val="dk1"/>
              </a:solidFill>
              <a:latin typeface="Calibri"/>
              <a:ea typeface="Calibri"/>
              <a:cs typeface="Calibri"/>
              <a:sym typeface="Calibri"/>
            </a:endParaRPr>
          </a:p>
        </p:txBody>
      </p:sp>
      <p:sp>
        <p:nvSpPr>
          <p:cNvPr id="242" name="Google Shape;242;p11"/>
          <p:cNvSpPr txBox="1"/>
          <p:nvPr/>
        </p:nvSpPr>
        <p:spPr>
          <a:xfrm>
            <a:off x="640080" y="480060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270"/>
              </a:buClr>
              <a:buSzPts val="900"/>
              <a:buFont typeface="Consolas"/>
              <a:buNone/>
            </a:pPr>
            <a:r>
              <a:rPr b="0" i="0" lang="en-US" sz="900" u="none" cap="none" strike="noStrike">
                <a:solidFill>
                  <a:srgbClr val="8A8270"/>
                </a:solidFill>
                <a:latin typeface="Consolas"/>
                <a:ea typeface="Consolas"/>
                <a:cs typeface="Consolas"/>
                <a:sym typeface="Consolas"/>
              </a:rPr>
              <a:t>Reference power draw</a:t>
            </a:r>
            <a:endParaRPr b="0" i="0" sz="900" u="none" cap="none" strike="noStrike">
              <a:solidFill>
                <a:schemeClr val="dk1"/>
              </a:solidFill>
              <a:latin typeface="Calibri"/>
              <a:ea typeface="Calibri"/>
              <a:cs typeface="Calibri"/>
              <a:sym typeface="Calibri"/>
            </a:endParaRPr>
          </a:p>
        </p:txBody>
      </p:sp>
      <p:sp>
        <p:nvSpPr>
          <p:cNvPr id="243" name="Google Shape;243;p11"/>
          <p:cNvSpPr txBox="1"/>
          <p:nvPr/>
        </p:nvSpPr>
        <p:spPr>
          <a:xfrm>
            <a:off x="640080" y="5120640"/>
            <a:ext cx="320040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EDF"/>
              </a:buClr>
              <a:buSzPts val="1050"/>
              <a:buFont typeface="Calibri"/>
              <a:buNone/>
            </a:pPr>
            <a:r>
              <a:rPr b="0" i="0" lang="en-US" sz="1050" u="none" cap="none" strike="noStrike">
                <a:solidFill>
                  <a:srgbClr val="F3EEDF"/>
                </a:solidFill>
                <a:latin typeface="Calibri"/>
                <a:ea typeface="Calibri"/>
                <a:cs typeface="Calibri"/>
                <a:sym typeface="Calibri"/>
              </a:rPr>
              <a:t>+ Full background sync on</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3EEDF"/>
              </a:buClr>
              <a:buSzPts val="1050"/>
              <a:buFont typeface="Calibri"/>
              <a:buNone/>
            </a:pPr>
            <a:r>
              <a:rPr b="0" i="0" lang="en-US" sz="1050" u="none" cap="none" strike="noStrike">
                <a:solidFill>
                  <a:srgbClr val="F3EEDF"/>
                </a:solidFill>
                <a:latin typeface="Calibri"/>
                <a:ea typeface="Calibri"/>
                <a:cs typeface="Calibri"/>
                <a:sym typeface="Calibri"/>
              </a:rPr>
              <a:t>+ Larger model, richer summaries</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3EEDF"/>
              </a:buClr>
              <a:buSzPts val="1050"/>
              <a:buFont typeface="Calibri"/>
              <a:buNone/>
            </a:pPr>
            <a:r>
              <a:rPr b="0" i="0" lang="en-US" sz="1050" u="none" cap="none" strike="noStrike">
                <a:solidFill>
                  <a:srgbClr val="F3EEDF"/>
                </a:solidFill>
                <a:latin typeface="Calibri"/>
                <a:ea typeface="Calibri"/>
                <a:cs typeface="Calibri"/>
                <a:sym typeface="Calibri"/>
              </a:rPr>
              <a:t>+ Notifications + reminders on</a:t>
            </a:r>
            <a:endParaRPr b="0" i="0" sz="1050" u="none" cap="none" strike="noStrike">
              <a:solidFill>
                <a:schemeClr val="dk1"/>
              </a:solidFill>
              <a:latin typeface="Calibri"/>
              <a:ea typeface="Calibri"/>
              <a:cs typeface="Calibri"/>
              <a:sym typeface="Calibri"/>
            </a:endParaRPr>
          </a:p>
        </p:txBody>
      </p:sp>
      <p:sp>
        <p:nvSpPr>
          <p:cNvPr id="244" name="Google Shape;244;p11"/>
          <p:cNvSpPr txBox="1"/>
          <p:nvPr/>
        </p:nvSpPr>
        <p:spPr>
          <a:xfrm>
            <a:off x="640080" y="580644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270"/>
              </a:buClr>
              <a:buSzPts val="950"/>
              <a:buFont typeface="Calibri"/>
              <a:buNone/>
            </a:pPr>
            <a:r>
              <a:rPr b="0" i="1" lang="en-US" sz="950" u="none" cap="none" strike="noStrike">
                <a:solidFill>
                  <a:srgbClr val="8A8270"/>
                </a:solidFill>
                <a:latin typeface="Calibri"/>
                <a:ea typeface="Calibri"/>
                <a:cs typeface="Calibri"/>
                <a:sym typeface="Calibri"/>
              </a:rPr>
              <a:t>Best: power, signal, calm</a:t>
            </a:r>
            <a:endParaRPr b="0" i="0" sz="950" u="none" cap="none" strike="noStrike">
              <a:solidFill>
                <a:schemeClr val="dk1"/>
              </a:solidFill>
              <a:latin typeface="Calibri"/>
              <a:ea typeface="Calibri"/>
              <a:cs typeface="Calibri"/>
              <a:sym typeface="Calibri"/>
            </a:endParaRPr>
          </a:p>
        </p:txBody>
      </p:sp>
      <p:sp>
        <p:nvSpPr>
          <p:cNvPr id="245" name="Google Shape;245;p11"/>
          <p:cNvSpPr/>
          <p:nvPr/>
        </p:nvSpPr>
        <p:spPr>
          <a:xfrm>
            <a:off x="4206240" y="3200400"/>
            <a:ext cx="3566160" cy="2926080"/>
          </a:xfrm>
          <a:prstGeom prst="rect">
            <a:avLst/>
          </a:prstGeom>
          <a:solidFill>
            <a:srgbClr val="B32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txBox="1"/>
          <p:nvPr/>
        </p:nvSpPr>
        <p:spPr>
          <a:xfrm>
            <a:off x="4389120" y="333756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1000"/>
              <a:buFont typeface="Consolas"/>
              <a:buNone/>
            </a:pPr>
            <a:r>
              <a:rPr b="1" i="0" lang="en-US" sz="1000" u="none" cap="none" strike="noStrike">
                <a:solidFill>
                  <a:srgbClr val="F3EEDF"/>
                </a:solidFill>
                <a:latin typeface="Consolas"/>
                <a:ea typeface="Consolas"/>
                <a:cs typeface="Consolas"/>
                <a:sym typeface="Consolas"/>
              </a:rPr>
              <a:t>MODE B</a:t>
            </a:r>
            <a:endParaRPr b="0" i="0" sz="1000" u="none" cap="none" strike="noStrike">
              <a:solidFill>
                <a:schemeClr val="dk1"/>
              </a:solidFill>
              <a:latin typeface="Calibri"/>
              <a:ea typeface="Calibri"/>
              <a:cs typeface="Calibri"/>
              <a:sym typeface="Calibri"/>
            </a:endParaRPr>
          </a:p>
        </p:txBody>
      </p:sp>
      <p:sp>
        <p:nvSpPr>
          <p:cNvPr id="247" name="Google Shape;247;p11"/>
          <p:cNvSpPr txBox="1"/>
          <p:nvPr/>
        </p:nvSpPr>
        <p:spPr>
          <a:xfrm>
            <a:off x="4389120" y="3611880"/>
            <a:ext cx="32004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2600"/>
              <a:buFont typeface="Georgia"/>
              <a:buNone/>
            </a:pPr>
            <a:r>
              <a:rPr b="1" i="0" lang="en-US" sz="2600" u="none" cap="none" strike="noStrike">
                <a:solidFill>
                  <a:srgbClr val="F3EEDF"/>
                </a:solidFill>
                <a:latin typeface="Georgia"/>
                <a:ea typeface="Georgia"/>
                <a:cs typeface="Georgia"/>
                <a:sym typeface="Georgia"/>
              </a:rPr>
              <a:t>Emergency</a:t>
            </a:r>
            <a:endParaRPr b="0" i="0" sz="2600" u="none" cap="none" strike="noStrike">
              <a:solidFill>
                <a:schemeClr val="dk1"/>
              </a:solidFill>
              <a:latin typeface="Calibri"/>
              <a:ea typeface="Calibri"/>
              <a:cs typeface="Calibri"/>
              <a:sym typeface="Calibri"/>
            </a:endParaRPr>
          </a:p>
        </p:txBody>
      </p:sp>
      <p:sp>
        <p:nvSpPr>
          <p:cNvPr id="248" name="Google Shape;248;p11"/>
          <p:cNvSpPr txBox="1"/>
          <p:nvPr/>
        </p:nvSpPr>
        <p:spPr>
          <a:xfrm>
            <a:off x="4389120" y="4206240"/>
            <a:ext cx="32004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3000"/>
              <a:buFont typeface="Georgia"/>
              <a:buNone/>
            </a:pPr>
            <a:r>
              <a:rPr b="1" i="1" lang="en-US" sz="3000" u="none" cap="none" strike="noStrike">
                <a:solidFill>
                  <a:srgbClr val="F3EEDF"/>
                </a:solidFill>
                <a:latin typeface="Georgia"/>
                <a:ea typeface="Georgia"/>
                <a:cs typeface="Georgia"/>
                <a:sym typeface="Georgia"/>
              </a:rPr>
              <a:t>~40%</a:t>
            </a:r>
            <a:endParaRPr b="0" i="0" sz="3000" u="none" cap="none" strike="noStrike">
              <a:solidFill>
                <a:schemeClr val="dk1"/>
              </a:solidFill>
              <a:latin typeface="Calibri"/>
              <a:ea typeface="Calibri"/>
              <a:cs typeface="Calibri"/>
              <a:sym typeface="Calibri"/>
            </a:endParaRPr>
          </a:p>
        </p:txBody>
      </p:sp>
      <p:sp>
        <p:nvSpPr>
          <p:cNvPr id="249" name="Google Shape;249;p11"/>
          <p:cNvSpPr txBox="1"/>
          <p:nvPr/>
        </p:nvSpPr>
        <p:spPr>
          <a:xfrm>
            <a:off x="4389120" y="480060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270"/>
              </a:buClr>
              <a:buSzPts val="900"/>
              <a:buFont typeface="Consolas"/>
              <a:buNone/>
            </a:pPr>
            <a:r>
              <a:rPr b="0" i="0" lang="en-US" sz="900" u="none" cap="none" strike="noStrike">
                <a:solidFill>
                  <a:srgbClr val="8A8270"/>
                </a:solidFill>
                <a:latin typeface="Consolas"/>
                <a:ea typeface="Consolas"/>
                <a:cs typeface="Consolas"/>
                <a:sym typeface="Consolas"/>
              </a:rPr>
              <a:t>Conservative draw</a:t>
            </a:r>
            <a:endParaRPr b="0" i="0" sz="900" u="none" cap="none" strike="noStrike">
              <a:solidFill>
                <a:schemeClr val="dk1"/>
              </a:solidFill>
              <a:latin typeface="Calibri"/>
              <a:ea typeface="Calibri"/>
              <a:cs typeface="Calibri"/>
              <a:sym typeface="Calibri"/>
            </a:endParaRPr>
          </a:p>
        </p:txBody>
      </p:sp>
      <p:sp>
        <p:nvSpPr>
          <p:cNvPr id="250" name="Google Shape;250;p11"/>
          <p:cNvSpPr txBox="1"/>
          <p:nvPr/>
        </p:nvSpPr>
        <p:spPr>
          <a:xfrm>
            <a:off x="4389120" y="5120640"/>
            <a:ext cx="320040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EDF"/>
              </a:buClr>
              <a:buSzPts val="1050"/>
              <a:buFont typeface="Calibri"/>
              <a:buNone/>
            </a:pPr>
            <a:r>
              <a:rPr b="0" i="0" lang="en-US" sz="1050" u="none" cap="none" strike="noStrike">
                <a:solidFill>
                  <a:srgbClr val="F3EEDF"/>
                </a:solidFill>
                <a:latin typeface="Calibri"/>
                <a:ea typeface="Calibri"/>
                <a:cs typeface="Calibri"/>
                <a:sym typeface="Calibri"/>
              </a:rPr>
              <a:t>– Background sync paused</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3EEDF"/>
              </a:buClr>
              <a:buSzPts val="1050"/>
              <a:buFont typeface="Calibri"/>
              <a:buNone/>
            </a:pPr>
            <a:r>
              <a:rPr b="0" i="0" lang="en-US" sz="1050" u="none" cap="none" strike="noStrike">
                <a:solidFill>
                  <a:srgbClr val="F3EEDF"/>
                </a:solidFill>
                <a:latin typeface="Calibri"/>
                <a:ea typeface="Calibri"/>
                <a:cs typeface="Calibri"/>
                <a:sym typeface="Calibri"/>
              </a:rPr>
              <a:t>– Smaller model, tighter answers</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3EEDF"/>
              </a:buClr>
              <a:buSzPts val="1050"/>
              <a:buFont typeface="Calibri"/>
              <a:buNone/>
            </a:pPr>
            <a:r>
              <a:rPr b="0" i="0" lang="en-US" sz="1050" u="none" cap="none" strike="noStrike">
                <a:solidFill>
                  <a:srgbClr val="F3EEDF"/>
                </a:solidFill>
                <a:latin typeface="Calibri"/>
                <a:ea typeface="Calibri"/>
                <a:cs typeface="Calibri"/>
                <a:sym typeface="Calibri"/>
              </a:rPr>
              <a:t>+ Mesh radio held warm</a:t>
            </a:r>
            <a:endParaRPr b="0" i="0" sz="1050" u="none" cap="none" strike="noStrike">
              <a:solidFill>
                <a:schemeClr val="dk1"/>
              </a:solidFill>
              <a:latin typeface="Calibri"/>
              <a:ea typeface="Calibri"/>
              <a:cs typeface="Calibri"/>
              <a:sym typeface="Calibri"/>
            </a:endParaRPr>
          </a:p>
        </p:txBody>
      </p:sp>
      <p:sp>
        <p:nvSpPr>
          <p:cNvPr id="251" name="Google Shape;251;p11"/>
          <p:cNvSpPr txBox="1"/>
          <p:nvPr/>
        </p:nvSpPr>
        <p:spPr>
          <a:xfrm>
            <a:off x="4389120" y="580644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270"/>
              </a:buClr>
              <a:buSzPts val="950"/>
              <a:buFont typeface="Calibri"/>
              <a:buNone/>
            </a:pPr>
            <a:r>
              <a:rPr b="0" i="1" lang="en-US" sz="950" u="none" cap="none" strike="noStrike">
                <a:solidFill>
                  <a:srgbClr val="8A8270"/>
                </a:solidFill>
                <a:latin typeface="Calibri"/>
                <a:ea typeface="Calibri"/>
                <a:cs typeface="Calibri"/>
                <a:sym typeface="Calibri"/>
              </a:rPr>
              <a:t>Best: lost signal, lost hours, lost power</a:t>
            </a:r>
            <a:endParaRPr b="0" i="0" sz="950" u="none" cap="none" strike="noStrike">
              <a:solidFill>
                <a:schemeClr val="dk1"/>
              </a:solidFill>
              <a:latin typeface="Calibri"/>
              <a:ea typeface="Calibri"/>
              <a:cs typeface="Calibri"/>
              <a:sym typeface="Calibri"/>
            </a:endParaRPr>
          </a:p>
        </p:txBody>
      </p:sp>
      <p:sp>
        <p:nvSpPr>
          <p:cNvPr id="252" name="Google Shape;252;p11"/>
          <p:cNvSpPr/>
          <p:nvPr/>
        </p:nvSpPr>
        <p:spPr>
          <a:xfrm>
            <a:off x="7955280" y="3200400"/>
            <a:ext cx="3776472" cy="2926080"/>
          </a:xfrm>
          <a:prstGeom prst="rect">
            <a:avLst/>
          </a:prstGeom>
          <a:solidFill>
            <a:srgbClr val="1E2A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txBox="1"/>
          <p:nvPr/>
        </p:nvSpPr>
        <p:spPr>
          <a:xfrm>
            <a:off x="8138160" y="333756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270"/>
              </a:buClr>
              <a:buSzPts val="1000"/>
              <a:buFont typeface="Consolas"/>
              <a:buNone/>
            </a:pPr>
            <a:r>
              <a:rPr b="1" i="0" lang="en-US" sz="1000" u="none" cap="none" strike="noStrike">
                <a:solidFill>
                  <a:srgbClr val="8A8270"/>
                </a:solidFill>
                <a:latin typeface="Consolas"/>
                <a:ea typeface="Consolas"/>
                <a:cs typeface="Consolas"/>
                <a:sym typeface="Consolas"/>
              </a:rPr>
              <a:t>HOUR 6 OF A BLACKOUT</a:t>
            </a:r>
            <a:endParaRPr b="0" i="0" sz="1000" u="none" cap="none" strike="noStrike">
              <a:solidFill>
                <a:schemeClr val="dk1"/>
              </a:solidFill>
              <a:latin typeface="Calibri"/>
              <a:ea typeface="Calibri"/>
              <a:cs typeface="Calibri"/>
              <a:sym typeface="Calibri"/>
            </a:endParaRPr>
          </a:p>
        </p:txBody>
      </p:sp>
      <p:sp>
        <p:nvSpPr>
          <p:cNvPr id="254" name="Google Shape;254;p11"/>
          <p:cNvSpPr txBox="1"/>
          <p:nvPr/>
        </p:nvSpPr>
        <p:spPr>
          <a:xfrm>
            <a:off x="8138160" y="3611880"/>
            <a:ext cx="35661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1500"/>
              <a:buFont typeface="Georgia"/>
              <a:buNone/>
            </a:pPr>
            <a:r>
              <a:rPr b="1" i="0" lang="en-US" sz="1500" u="none" cap="none" strike="noStrike">
                <a:solidFill>
                  <a:srgbClr val="F3EEDF"/>
                </a:solidFill>
                <a:latin typeface="Georgia"/>
                <a:ea typeface="Georgia"/>
                <a:cs typeface="Georgia"/>
                <a:sym typeface="Georgia"/>
              </a:rPr>
              <a:t>Same battery, very</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3EEDF"/>
              </a:buClr>
              <a:buSzPts val="1500"/>
              <a:buFont typeface="Georgia"/>
              <a:buNone/>
            </a:pPr>
            <a:r>
              <a:rPr b="1" i="0" lang="en-US" sz="1500" u="none" cap="none" strike="noStrike">
                <a:solidFill>
                  <a:srgbClr val="F3EEDF"/>
                </a:solidFill>
                <a:latin typeface="Georgia"/>
                <a:ea typeface="Georgia"/>
                <a:cs typeface="Georgia"/>
                <a:sym typeface="Georgia"/>
              </a:rPr>
              <a:t>different morning.</a:t>
            </a:r>
            <a:endParaRPr b="0" i="0" sz="1500" u="none" cap="none" strike="noStrike">
              <a:solidFill>
                <a:schemeClr val="dk1"/>
              </a:solidFill>
              <a:latin typeface="Calibri"/>
              <a:ea typeface="Calibri"/>
              <a:cs typeface="Calibri"/>
              <a:sym typeface="Calibri"/>
            </a:endParaRPr>
          </a:p>
        </p:txBody>
      </p:sp>
      <p:sp>
        <p:nvSpPr>
          <p:cNvPr id="255" name="Google Shape;255;p11"/>
          <p:cNvSpPr txBox="1"/>
          <p:nvPr/>
        </p:nvSpPr>
        <p:spPr>
          <a:xfrm>
            <a:off x="8138160" y="4434840"/>
            <a:ext cx="914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270"/>
              </a:buClr>
              <a:buSzPts val="850"/>
              <a:buFont typeface="Consolas"/>
              <a:buNone/>
            </a:pPr>
            <a:r>
              <a:rPr b="0" i="0" lang="en-US" sz="850" u="none" cap="none" strike="noStrike">
                <a:solidFill>
                  <a:srgbClr val="8A8270"/>
                </a:solidFill>
                <a:latin typeface="Consolas"/>
                <a:ea typeface="Consolas"/>
                <a:cs typeface="Consolas"/>
                <a:sym typeface="Consolas"/>
              </a:rPr>
              <a:t>Daily</a:t>
            </a:r>
            <a:endParaRPr b="0" i="0" sz="850" u="none" cap="none" strike="noStrike">
              <a:solidFill>
                <a:schemeClr val="dk1"/>
              </a:solidFill>
              <a:latin typeface="Calibri"/>
              <a:ea typeface="Calibri"/>
              <a:cs typeface="Calibri"/>
              <a:sym typeface="Calibri"/>
            </a:endParaRPr>
          </a:p>
        </p:txBody>
      </p:sp>
      <p:sp>
        <p:nvSpPr>
          <p:cNvPr id="256" name="Google Shape;256;p11"/>
          <p:cNvSpPr/>
          <p:nvPr/>
        </p:nvSpPr>
        <p:spPr>
          <a:xfrm>
            <a:off x="8778240" y="4434840"/>
            <a:ext cx="2926080" cy="201168"/>
          </a:xfrm>
          <a:prstGeom prst="rect">
            <a:avLst/>
          </a:prstGeom>
          <a:solidFill>
            <a:srgbClr val="3A3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a:off x="8778240" y="4434840"/>
            <a:ext cx="2103120" cy="201168"/>
          </a:xfrm>
          <a:prstGeom prst="rect">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txBox="1"/>
          <p:nvPr/>
        </p:nvSpPr>
        <p:spPr>
          <a:xfrm>
            <a:off x="8778240" y="4663440"/>
            <a:ext cx="1828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270"/>
              </a:buClr>
              <a:buSzPts val="800"/>
              <a:buFont typeface="Consolas"/>
              <a:buNone/>
            </a:pPr>
            <a:r>
              <a:rPr b="0" i="0" lang="en-US" sz="800" u="none" cap="none" strike="noStrike">
                <a:solidFill>
                  <a:srgbClr val="8A8270"/>
                </a:solidFill>
                <a:latin typeface="Consolas"/>
                <a:ea typeface="Consolas"/>
                <a:cs typeface="Consolas"/>
                <a:sym typeface="Consolas"/>
              </a:rPr>
              <a:t>60% remaining</a:t>
            </a:r>
            <a:endParaRPr b="0" i="0" sz="800" u="none" cap="none" strike="noStrike">
              <a:solidFill>
                <a:schemeClr val="dk1"/>
              </a:solidFill>
              <a:latin typeface="Calibri"/>
              <a:ea typeface="Calibri"/>
              <a:cs typeface="Calibri"/>
              <a:sym typeface="Calibri"/>
            </a:endParaRPr>
          </a:p>
        </p:txBody>
      </p:sp>
      <p:sp>
        <p:nvSpPr>
          <p:cNvPr id="259" name="Google Shape;259;p11"/>
          <p:cNvSpPr txBox="1"/>
          <p:nvPr/>
        </p:nvSpPr>
        <p:spPr>
          <a:xfrm>
            <a:off x="8138160" y="5029200"/>
            <a:ext cx="914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270"/>
              </a:buClr>
              <a:buSzPts val="850"/>
              <a:buFont typeface="Consolas"/>
              <a:buNone/>
            </a:pPr>
            <a:r>
              <a:rPr b="0" i="0" lang="en-US" sz="850" u="none" cap="none" strike="noStrike">
                <a:solidFill>
                  <a:srgbClr val="8A8270"/>
                </a:solidFill>
                <a:latin typeface="Consolas"/>
                <a:ea typeface="Consolas"/>
                <a:cs typeface="Consolas"/>
                <a:sym typeface="Consolas"/>
              </a:rPr>
              <a:t>Emer.</a:t>
            </a:r>
            <a:endParaRPr b="0" i="0" sz="850" u="none" cap="none" strike="noStrike">
              <a:solidFill>
                <a:schemeClr val="dk1"/>
              </a:solidFill>
              <a:latin typeface="Calibri"/>
              <a:ea typeface="Calibri"/>
              <a:cs typeface="Calibri"/>
              <a:sym typeface="Calibri"/>
            </a:endParaRPr>
          </a:p>
        </p:txBody>
      </p:sp>
      <p:sp>
        <p:nvSpPr>
          <p:cNvPr id="260" name="Google Shape;260;p11"/>
          <p:cNvSpPr/>
          <p:nvPr/>
        </p:nvSpPr>
        <p:spPr>
          <a:xfrm>
            <a:off x="8778240" y="5029200"/>
            <a:ext cx="2926080" cy="201168"/>
          </a:xfrm>
          <a:prstGeom prst="rect">
            <a:avLst/>
          </a:prstGeom>
          <a:solidFill>
            <a:srgbClr val="3A3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a:off x="8778240" y="5029200"/>
            <a:ext cx="2560320" cy="201168"/>
          </a:xfrm>
          <a:prstGeom prst="rect">
            <a:avLst/>
          </a:prstGeom>
          <a:solidFill>
            <a:srgbClr val="B32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txBox="1"/>
          <p:nvPr/>
        </p:nvSpPr>
        <p:spPr>
          <a:xfrm>
            <a:off x="8778240" y="5257800"/>
            <a:ext cx="1828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270"/>
              </a:buClr>
              <a:buSzPts val="800"/>
              <a:buFont typeface="Consolas"/>
              <a:buNone/>
            </a:pPr>
            <a:r>
              <a:rPr b="0" i="0" lang="en-US" sz="800" u="none" cap="none" strike="noStrike">
                <a:solidFill>
                  <a:srgbClr val="8A8270"/>
                </a:solidFill>
                <a:latin typeface="Consolas"/>
                <a:ea typeface="Consolas"/>
                <a:cs typeface="Consolas"/>
                <a:sym typeface="Consolas"/>
              </a:rPr>
              <a:t>88% remaining</a:t>
            </a:r>
            <a:endParaRPr b="0" i="0" sz="800" u="none" cap="none" strike="noStrike">
              <a:solidFill>
                <a:schemeClr val="dk1"/>
              </a:solidFill>
              <a:latin typeface="Calibri"/>
              <a:ea typeface="Calibri"/>
              <a:cs typeface="Calibri"/>
              <a:sym typeface="Calibri"/>
            </a:endParaRPr>
          </a:p>
        </p:txBody>
      </p:sp>
      <p:sp>
        <p:nvSpPr>
          <p:cNvPr id="263" name="Google Shape;263;p11"/>
          <p:cNvSpPr txBox="1"/>
          <p:nvPr/>
        </p:nvSpPr>
        <p:spPr>
          <a:xfrm>
            <a:off x="8138160" y="5577840"/>
            <a:ext cx="35661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EDF"/>
              </a:buClr>
              <a:buSzPts val="1100"/>
              <a:buFont typeface="Georgia"/>
              <a:buNone/>
            </a:pPr>
            <a:r>
              <a:rPr b="1" i="1" lang="en-US" sz="1100" u="none" cap="none" strike="noStrike">
                <a:solidFill>
                  <a:srgbClr val="F3EEDF"/>
                </a:solidFill>
                <a:latin typeface="Georgia"/>
                <a:ea typeface="Georgia"/>
                <a:cs typeface="Georgia"/>
                <a:sym typeface="Georgia"/>
              </a:rPr>
              <a:t>Same phone. Same disaster. +28% battery at the moment you need it most.</a:t>
            </a:r>
            <a:endParaRPr b="0" i="0" sz="1100" u="none" cap="none" strike="noStrike">
              <a:solidFill>
                <a:schemeClr val="dk1"/>
              </a:solidFill>
              <a:latin typeface="Calibri"/>
              <a:ea typeface="Calibri"/>
              <a:cs typeface="Calibri"/>
              <a:sym typeface="Calibri"/>
            </a:endParaRPr>
          </a:p>
        </p:txBody>
      </p:sp>
      <p:cxnSp>
        <p:nvCxnSpPr>
          <p:cNvPr id="264" name="Google Shape;264;p11"/>
          <p:cNvCxnSpPr/>
          <p:nvPr/>
        </p:nvCxnSpPr>
        <p:spPr>
          <a:xfrm>
            <a:off x="457200" y="6400800"/>
            <a:ext cx="11274552" cy="0"/>
          </a:xfrm>
          <a:prstGeom prst="straightConnector1">
            <a:avLst/>
          </a:prstGeom>
          <a:noFill/>
          <a:ln cap="flat" cmpd="sng" w="12700">
            <a:solidFill>
              <a:srgbClr val="8A8270"/>
            </a:solidFill>
            <a:prstDash val="solid"/>
            <a:round/>
            <a:headEnd len="sm" w="sm" type="none"/>
            <a:tailEnd len="sm" w="sm" type="none"/>
          </a:ln>
        </p:spPr>
      </p:cxnSp>
      <p:sp>
        <p:nvSpPr>
          <p:cNvPr id="265" name="Google Shape;265;p11"/>
          <p:cNvSpPr txBox="1"/>
          <p:nvPr/>
        </p:nvSpPr>
        <p:spPr>
          <a:xfrm>
            <a:off x="457200" y="649224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270"/>
              </a:buClr>
              <a:buSzPts val="850"/>
              <a:buFont typeface="Consolas"/>
              <a:buNone/>
            </a:pPr>
            <a:r>
              <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6D5"/>
        </a:solidFill>
      </p:bgPr>
    </p:bg>
    <p:spTree>
      <p:nvGrpSpPr>
        <p:cNvPr id="270" name="Shape 270"/>
        <p:cNvGrpSpPr/>
        <p:nvPr/>
      </p:nvGrpSpPr>
      <p:grpSpPr>
        <a:xfrm>
          <a:off x="0" y="0"/>
          <a:ext cx="0" cy="0"/>
          <a:chOff x="0" y="0"/>
          <a:chExt cx="0" cy="0"/>
        </a:xfrm>
      </p:grpSpPr>
      <p:sp>
        <p:nvSpPr>
          <p:cNvPr id="271" name="Google Shape;271;p12"/>
          <p:cNvSpPr/>
          <p:nvPr/>
        </p:nvSpPr>
        <p:spPr>
          <a:xfrm>
            <a:off x="0" y="0"/>
            <a:ext cx="3931920" cy="6858000"/>
          </a:xfrm>
          <a:prstGeom prst="rect">
            <a:avLst/>
          </a:prstGeom>
          <a:solidFill>
            <a:srgbClr val="1E2A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2"/>
          <p:cNvSpPr txBox="1"/>
          <p:nvPr/>
        </p:nvSpPr>
        <p:spPr>
          <a:xfrm>
            <a:off x="365760" y="3200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270"/>
              </a:buClr>
              <a:buSzPts val="1000"/>
              <a:buFont typeface="Consolas"/>
              <a:buNone/>
            </a:pPr>
            <a:r>
              <a:rPr b="1" i="0" lang="en-US" sz="1000" u="none" cap="none" strike="noStrike">
                <a:solidFill>
                  <a:srgbClr val="8A8270"/>
                </a:solidFill>
                <a:latin typeface="Consolas"/>
                <a:ea typeface="Consolas"/>
                <a:cs typeface="Consolas"/>
                <a:sym typeface="Consolas"/>
              </a:rPr>
              <a:t>UNDER THE HOOD</a:t>
            </a:r>
            <a:endParaRPr b="0" i="0" sz="1000" u="none" cap="none" strike="noStrike">
              <a:solidFill>
                <a:schemeClr val="dk1"/>
              </a:solidFill>
              <a:latin typeface="Calibri"/>
              <a:ea typeface="Calibri"/>
              <a:cs typeface="Calibri"/>
              <a:sym typeface="Calibri"/>
            </a:endParaRPr>
          </a:p>
        </p:txBody>
      </p:sp>
      <p:sp>
        <p:nvSpPr>
          <p:cNvPr id="273" name="Google Shape;273;p12"/>
          <p:cNvSpPr txBox="1"/>
          <p:nvPr/>
        </p:nvSpPr>
        <p:spPr>
          <a:xfrm>
            <a:off x="365760" y="128016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270"/>
              </a:buClr>
              <a:buSzPts val="1000"/>
              <a:buFont typeface="Consolas"/>
              <a:buNone/>
            </a:pPr>
            <a:r>
              <a:rPr b="1" i="0" lang="en-US" sz="1000" u="none" cap="none" strike="noStrike">
                <a:solidFill>
                  <a:srgbClr val="8A8270"/>
                </a:solidFill>
                <a:latin typeface="Consolas"/>
                <a:ea typeface="Consolas"/>
                <a:cs typeface="Consolas"/>
                <a:sym typeface="Consolas"/>
              </a:rPr>
              <a:t>ARCHITECTURE</a:t>
            </a:r>
            <a:endParaRPr b="0" i="0" sz="1000" u="none" cap="none" strike="noStrike">
              <a:solidFill>
                <a:schemeClr val="dk1"/>
              </a:solidFill>
              <a:latin typeface="Calibri"/>
              <a:ea typeface="Calibri"/>
              <a:cs typeface="Calibri"/>
              <a:sym typeface="Calibri"/>
            </a:endParaRPr>
          </a:p>
        </p:txBody>
      </p:sp>
      <p:sp>
        <p:nvSpPr>
          <p:cNvPr id="274" name="Google Shape;274;p12"/>
          <p:cNvSpPr txBox="1"/>
          <p:nvPr/>
        </p:nvSpPr>
        <p:spPr>
          <a:xfrm>
            <a:off x="365760" y="1600200"/>
            <a:ext cx="3291840" cy="2468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3200"/>
              <a:buFont typeface="Georgia"/>
              <a:buNone/>
            </a:pPr>
            <a:r>
              <a:rPr b="1" i="0" lang="en-US" sz="3200" u="none" cap="none" strike="noStrike">
                <a:solidFill>
                  <a:srgbClr val="F3EEDF"/>
                </a:solidFill>
                <a:latin typeface="Georgia"/>
                <a:ea typeface="Georgia"/>
                <a:cs typeface="Georgia"/>
                <a:sym typeface="Georgia"/>
              </a:rPr>
              <a:t>Offline</a:t>
            </a:r>
            <a:endParaRPr b="0" i="0" sz="3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3EEDF"/>
              </a:buClr>
              <a:buSzPts val="3200"/>
              <a:buFont typeface="Georgia"/>
              <a:buNone/>
            </a:pPr>
            <a:r>
              <a:rPr b="1" i="0" lang="en-US" sz="3200" u="none" cap="none" strike="noStrike">
                <a:solidFill>
                  <a:srgbClr val="F3EEDF"/>
                </a:solidFill>
                <a:latin typeface="Georgia"/>
                <a:ea typeface="Georgia"/>
                <a:cs typeface="Georgia"/>
                <a:sym typeface="Georgia"/>
              </a:rPr>
              <a:t>first.</a:t>
            </a:r>
            <a:endParaRPr b="0" i="0" sz="3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3EEDF"/>
              </a:buClr>
              <a:buSzPts val="3200"/>
              <a:buFont typeface="Georgia"/>
              <a:buNone/>
            </a:pPr>
            <a:r>
              <a:rPr b="1" i="0" lang="en-US" sz="3200" u="none" cap="none" strike="noStrike">
                <a:solidFill>
                  <a:srgbClr val="F3EEDF"/>
                </a:solidFill>
                <a:latin typeface="Georgia"/>
                <a:ea typeface="Georgia"/>
                <a:cs typeface="Georgia"/>
                <a:sym typeface="Georgia"/>
              </a:rPr>
              <a:t>Reconcile</a:t>
            </a:r>
            <a:endParaRPr b="0" i="0" sz="3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3EEDF"/>
              </a:buClr>
              <a:buSzPts val="3200"/>
              <a:buFont typeface="Georgia"/>
              <a:buNone/>
            </a:pPr>
            <a:r>
              <a:rPr b="1" i="0" lang="en-US" sz="3200" u="none" cap="none" strike="noStrike">
                <a:solidFill>
                  <a:srgbClr val="F3EEDF"/>
                </a:solidFill>
                <a:latin typeface="Georgia"/>
                <a:ea typeface="Georgia"/>
                <a:cs typeface="Georgia"/>
                <a:sym typeface="Georgia"/>
              </a:rPr>
              <a:t>after.</a:t>
            </a:r>
            <a:endParaRPr b="0" i="0" sz="3200" u="none" cap="none" strike="noStrike">
              <a:solidFill>
                <a:schemeClr val="dk1"/>
              </a:solidFill>
              <a:latin typeface="Calibri"/>
              <a:ea typeface="Calibri"/>
              <a:cs typeface="Calibri"/>
              <a:sym typeface="Calibri"/>
            </a:endParaRPr>
          </a:p>
        </p:txBody>
      </p:sp>
      <p:sp>
        <p:nvSpPr>
          <p:cNvPr id="275" name="Google Shape;275;p12"/>
          <p:cNvSpPr txBox="1"/>
          <p:nvPr/>
        </p:nvSpPr>
        <p:spPr>
          <a:xfrm>
            <a:off x="365760" y="4663440"/>
            <a:ext cx="32918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6E56"/>
              </a:buClr>
              <a:buSzPts val="1200"/>
              <a:buFont typeface="Georgia"/>
              <a:buNone/>
            </a:pPr>
            <a:r>
              <a:rPr b="0" i="1" lang="en-US" sz="1200" u="none" cap="none" strike="noStrike">
                <a:solidFill>
                  <a:srgbClr val="0F6E56"/>
                </a:solidFill>
                <a:latin typeface="Georgia"/>
                <a:ea typeface="Georgia"/>
                <a:cs typeface="Georgia"/>
                <a:sym typeface="Georgia"/>
              </a:rPr>
              <a:t>A device is never down because the network is. The cloud is invited later; it is never the boss.</a:t>
            </a:r>
            <a:endParaRPr b="0" i="0" sz="1200" u="none" cap="none" strike="noStrike">
              <a:solidFill>
                <a:schemeClr val="dk1"/>
              </a:solidFill>
              <a:latin typeface="Calibri"/>
              <a:ea typeface="Calibri"/>
              <a:cs typeface="Calibri"/>
              <a:sym typeface="Calibri"/>
            </a:endParaRPr>
          </a:p>
        </p:txBody>
      </p:sp>
      <p:sp>
        <p:nvSpPr>
          <p:cNvPr id="276" name="Google Shape;276;p12"/>
          <p:cNvSpPr txBox="1"/>
          <p:nvPr/>
        </p:nvSpPr>
        <p:spPr>
          <a:xfrm>
            <a:off x="365760" y="585216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270"/>
              </a:buClr>
              <a:buSzPts val="1000"/>
              <a:buFont typeface="Consolas"/>
              <a:buNone/>
            </a:pPr>
            <a:r>
              <a:rPr b="1" i="0" lang="en-US" sz="1000" u="none" cap="none" strike="noStrike">
                <a:solidFill>
                  <a:srgbClr val="8A8270"/>
                </a:solidFill>
                <a:latin typeface="Consolas"/>
                <a:ea typeface="Consolas"/>
                <a:cs typeface="Consolas"/>
                <a:sym typeface="Consolas"/>
              </a:rPr>
              <a:t>TRUST THE ORDER</a:t>
            </a:r>
            <a:endParaRPr b="0" i="0" sz="1000" u="none" cap="none" strike="noStrike">
              <a:solidFill>
                <a:schemeClr val="dk1"/>
              </a:solidFill>
              <a:latin typeface="Calibri"/>
              <a:ea typeface="Calibri"/>
              <a:cs typeface="Calibri"/>
              <a:sym typeface="Calibri"/>
            </a:endParaRPr>
          </a:p>
        </p:txBody>
      </p:sp>
      <p:sp>
        <p:nvSpPr>
          <p:cNvPr id="277" name="Google Shape;277;p12"/>
          <p:cNvSpPr txBox="1"/>
          <p:nvPr/>
        </p:nvSpPr>
        <p:spPr>
          <a:xfrm>
            <a:off x="365760" y="6080760"/>
            <a:ext cx="33832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EDF"/>
              </a:buClr>
              <a:buSzPts val="1100"/>
              <a:buFont typeface="Calibri"/>
              <a:buNone/>
            </a:pPr>
            <a:r>
              <a:rPr b="1" i="0" lang="en-US" sz="1100" u="none" cap="none" strike="noStrike">
                <a:solidFill>
                  <a:srgbClr val="F3EEDF"/>
                </a:solidFill>
                <a:latin typeface="Calibri"/>
                <a:ea typeface="Calibri"/>
                <a:cs typeface="Calibri"/>
                <a:sym typeface="Calibri"/>
              </a:rPr>
              <a:t>Local log → peer merge → eventual cloud sync.</a:t>
            </a:r>
            <a:endParaRPr b="0" i="0" sz="1100" u="none" cap="none" strike="noStrike">
              <a:solidFill>
                <a:schemeClr val="dk1"/>
              </a:solidFill>
              <a:latin typeface="Calibri"/>
              <a:ea typeface="Calibri"/>
              <a:cs typeface="Calibri"/>
              <a:sym typeface="Calibri"/>
            </a:endParaRPr>
          </a:p>
        </p:txBody>
      </p:sp>
      <p:sp>
        <p:nvSpPr>
          <p:cNvPr id="278" name="Google Shape;278;p12"/>
          <p:cNvSpPr txBox="1"/>
          <p:nvPr/>
        </p:nvSpPr>
        <p:spPr>
          <a:xfrm>
            <a:off x="10241280" y="3200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270"/>
              </a:buClr>
              <a:buSzPts val="1000"/>
              <a:buFont typeface="Consolas"/>
              <a:buNone/>
            </a:pPr>
            <a:r>
              <a:rPr b="1" i="0" lang="en-US" sz="1000" u="none" cap="none" strike="noStrike">
                <a:solidFill>
                  <a:srgbClr val="8A8270"/>
                </a:solidFill>
                <a:latin typeface="Consolas"/>
                <a:ea typeface="Consolas"/>
                <a:cs typeface="Consolas"/>
                <a:sym typeface="Consolas"/>
              </a:rPr>
              <a:t>RESILIENT SYNC</a:t>
            </a:r>
            <a:endParaRPr b="0" i="0" sz="1000" u="none" cap="none" strike="noStrike">
              <a:solidFill>
                <a:schemeClr val="dk1"/>
              </a:solidFill>
              <a:latin typeface="Calibri"/>
              <a:ea typeface="Calibri"/>
              <a:cs typeface="Calibri"/>
              <a:sym typeface="Calibri"/>
            </a:endParaRPr>
          </a:p>
        </p:txBody>
      </p:sp>
      <p:cxnSp>
        <p:nvCxnSpPr>
          <p:cNvPr id="279" name="Google Shape;279;p12"/>
          <p:cNvCxnSpPr/>
          <p:nvPr/>
        </p:nvCxnSpPr>
        <p:spPr>
          <a:xfrm>
            <a:off x="4206240" y="685800"/>
            <a:ext cx="7498080" cy="0"/>
          </a:xfrm>
          <a:prstGeom prst="straightConnector1">
            <a:avLst/>
          </a:prstGeom>
          <a:noFill/>
          <a:ln cap="flat" cmpd="sng" w="12700">
            <a:solidFill>
              <a:srgbClr val="8A8270"/>
            </a:solidFill>
            <a:prstDash val="solid"/>
            <a:round/>
            <a:headEnd len="sm" w="sm" type="none"/>
            <a:tailEnd len="sm" w="sm" type="none"/>
          </a:ln>
        </p:spPr>
      </p:cxnSp>
      <p:sp>
        <p:nvSpPr>
          <p:cNvPr id="280" name="Google Shape;280;p12"/>
          <p:cNvSpPr/>
          <p:nvPr/>
        </p:nvSpPr>
        <p:spPr>
          <a:xfrm>
            <a:off x="4206240" y="1005840"/>
            <a:ext cx="2377440" cy="1417320"/>
          </a:xfrm>
          <a:prstGeom prst="rect">
            <a:avLst/>
          </a:prstGeom>
          <a:solidFill>
            <a:srgbClr val="EEE6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2"/>
          <p:cNvSpPr txBox="1"/>
          <p:nvPr/>
        </p:nvSpPr>
        <p:spPr>
          <a:xfrm>
            <a:off x="4343400" y="1097280"/>
            <a:ext cx="21031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261E"/>
              </a:buClr>
              <a:buSzPts val="850"/>
              <a:buFont typeface="Consolas"/>
              <a:buNone/>
            </a:pPr>
            <a:r>
              <a:rPr b="0" i="0" lang="en-US" sz="850" u="none" cap="none" strike="noStrike">
                <a:solidFill>
                  <a:srgbClr val="B3261E"/>
                </a:solidFill>
                <a:latin typeface="Consolas"/>
                <a:ea typeface="Consolas"/>
                <a:cs typeface="Consolas"/>
                <a:sym typeface="Consolas"/>
              </a:rPr>
              <a:t>Layer 1</a:t>
            </a:r>
            <a:endParaRPr b="0" i="0" sz="850" u="none" cap="none" strike="noStrike">
              <a:solidFill>
                <a:schemeClr val="dk1"/>
              </a:solidFill>
              <a:latin typeface="Calibri"/>
              <a:ea typeface="Calibri"/>
              <a:cs typeface="Calibri"/>
              <a:sym typeface="Calibri"/>
            </a:endParaRPr>
          </a:p>
        </p:txBody>
      </p:sp>
      <p:sp>
        <p:nvSpPr>
          <p:cNvPr id="282" name="Google Shape;282;p12"/>
          <p:cNvSpPr txBox="1"/>
          <p:nvPr/>
        </p:nvSpPr>
        <p:spPr>
          <a:xfrm>
            <a:off x="4343400" y="1371600"/>
            <a:ext cx="21031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1400"/>
              <a:buFont typeface="Georgia"/>
              <a:buNone/>
            </a:pPr>
            <a:r>
              <a:rPr b="1" i="0" lang="en-US" sz="1400" u="none" cap="none" strike="noStrike">
                <a:solidFill>
                  <a:srgbClr val="232323"/>
                </a:solidFill>
                <a:latin typeface="Georgia"/>
                <a:ea typeface="Georgia"/>
                <a:cs typeface="Georgia"/>
                <a:sym typeface="Georgia"/>
              </a:rPr>
              <a:t>Local store</a:t>
            </a:r>
            <a:endParaRPr b="0" i="0" sz="1400" u="none" cap="none" strike="noStrike">
              <a:solidFill>
                <a:schemeClr val="dk1"/>
              </a:solidFill>
              <a:latin typeface="Calibri"/>
              <a:ea typeface="Calibri"/>
              <a:cs typeface="Calibri"/>
              <a:sym typeface="Calibri"/>
            </a:endParaRPr>
          </a:p>
        </p:txBody>
      </p:sp>
      <p:sp>
        <p:nvSpPr>
          <p:cNvPr id="283" name="Google Shape;283;p12"/>
          <p:cNvSpPr txBox="1"/>
          <p:nvPr/>
        </p:nvSpPr>
        <p:spPr>
          <a:xfrm>
            <a:off x="4343400" y="1719072"/>
            <a:ext cx="21031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323"/>
              </a:buClr>
              <a:buSzPts val="900"/>
              <a:buFont typeface="Calibri"/>
              <a:buNone/>
            </a:pPr>
            <a:r>
              <a:rPr b="0" i="0" lang="en-US" sz="900" u="none" cap="none" strike="noStrike">
                <a:solidFill>
                  <a:srgbClr val="232323"/>
                </a:solidFill>
                <a:latin typeface="Calibri"/>
                <a:ea typeface="Calibri"/>
                <a:cs typeface="Calibri"/>
                <a:sym typeface="Calibri"/>
              </a:rPr>
              <a:t>Every entry lives on-device first. Reads, writes, and search work without a server.</a:t>
            </a:r>
            <a:endParaRPr b="0" i="0" sz="900" u="none" cap="none" strike="noStrike">
              <a:solidFill>
                <a:schemeClr val="dk1"/>
              </a:solidFill>
              <a:latin typeface="Calibri"/>
              <a:ea typeface="Calibri"/>
              <a:cs typeface="Calibri"/>
              <a:sym typeface="Calibri"/>
            </a:endParaRPr>
          </a:p>
        </p:txBody>
      </p:sp>
      <p:sp>
        <p:nvSpPr>
          <p:cNvPr id="284" name="Google Shape;284;p12"/>
          <p:cNvSpPr/>
          <p:nvPr/>
        </p:nvSpPr>
        <p:spPr>
          <a:xfrm>
            <a:off x="6720840" y="1005840"/>
            <a:ext cx="2377440" cy="1417320"/>
          </a:xfrm>
          <a:prstGeom prst="rect">
            <a:avLst/>
          </a:prstGeom>
          <a:solidFill>
            <a:srgbClr val="EEE6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2"/>
          <p:cNvSpPr txBox="1"/>
          <p:nvPr/>
        </p:nvSpPr>
        <p:spPr>
          <a:xfrm>
            <a:off x="6858000" y="1097280"/>
            <a:ext cx="21031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261E"/>
              </a:buClr>
              <a:buSzPts val="850"/>
              <a:buFont typeface="Consolas"/>
              <a:buNone/>
            </a:pPr>
            <a:r>
              <a:rPr b="0" i="0" lang="en-US" sz="850" u="none" cap="none" strike="noStrike">
                <a:solidFill>
                  <a:srgbClr val="B3261E"/>
                </a:solidFill>
                <a:latin typeface="Consolas"/>
                <a:ea typeface="Consolas"/>
                <a:cs typeface="Consolas"/>
                <a:sym typeface="Consolas"/>
              </a:rPr>
              <a:t>Layer 2</a:t>
            </a:r>
            <a:endParaRPr b="0" i="0" sz="850" u="none" cap="none" strike="noStrike">
              <a:solidFill>
                <a:schemeClr val="dk1"/>
              </a:solidFill>
              <a:latin typeface="Calibri"/>
              <a:ea typeface="Calibri"/>
              <a:cs typeface="Calibri"/>
              <a:sym typeface="Calibri"/>
            </a:endParaRPr>
          </a:p>
        </p:txBody>
      </p:sp>
      <p:sp>
        <p:nvSpPr>
          <p:cNvPr id="286" name="Google Shape;286;p12"/>
          <p:cNvSpPr txBox="1"/>
          <p:nvPr/>
        </p:nvSpPr>
        <p:spPr>
          <a:xfrm>
            <a:off x="6858000" y="1371600"/>
            <a:ext cx="21031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1400"/>
              <a:buFont typeface="Georgia"/>
              <a:buNone/>
            </a:pPr>
            <a:r>
              <a:rPr b="1" i="0" lang="en-US" sz="1400" u="none" cap="none" strike="noStrike">
                <a:solidFill>
                  <a:srgbClr val="232323"/>
                </a:solidFill>
                <a:latin typeface="Georgia"/>
                <a:ea typeface="Georgia"/>
                <a:cs typeface="Georgia"/>
                <a:sym typeface="Georgia"/>
              </a:rPr>
              <a:t>Local AI</a:t>
            </a:r>
            <a:endParaRPr b="0" i="0" sz="1400" u="none" cap="none" strike="noStrike">
              <a:solidFill>
                <a:schemeClr val="dk1"/>
              </a:solidFill>
              <a:latin typeface="Calibri"/>
              <a:ea typeface="Calibri"/>
              <a:cs typeface="Calibri"/>
              <a:sym typeface="Calibri"/>
            </a:endParaRPr>
          </a:p>
        </p:txBody>
      </p:sp>
      <p:sp>
        <p:nvSpPr>
          <p:cNvPr id="287" name="Google Shape;287;p12"/>
          <p:cNvSpPr txBox="1"/>
          <p:nvPr/>
        </p:nvSpPr>
        <p:spPr>
          <a:xfrm>
            <a:off x="6858000" y="1719072"/>
            <a:ext cx="21031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323"/>
              </a:buClr>
              <a:buSzPts val="900"/>
              <a:buFont typeface="Calibri"/>
              <a:buNone/>
            </a:pPr>
            <a:r>
              <a:rPr b="0" i="0" lang="en-US" sz="900" u="none" cap="none" strike="noStrike">
                <a:solidFill>
                  <a:srgbClr val="232323"/>
                </a:solidFill>
                <a:latin typeface="Calibri"/>
                <a:ea typeface="Calibri"/>
                <a:cs typeface="Calibri"/>
                <a:sym typeface="Calibri"/>
              </a:rPr>
              <a:t>A small model summarises, classifies, and prompts. No round trip. No latency tax.</a:t>
            </a:r>
            <a:endParaRPr b="0" i="0" sz="900" u="none" cap="none" strike="noStrike">
              <a:solidFill>
                <a:schemeClr val="dk1"/>
              </a:solidFill>
              <a:latin typeface="Calibri"/>
              <a:ea typeface="Calibri"/>
              <a:cs typeface="Calibri"/>
              <a:sym typeface="Calibri"/>
            </a:endParaRPr>
          </a:p>
        </p:txBody>
      </p:sp>
      <p:sp>
        <p:nvSpPr>
          <p:cNvPr id="288" name="Google Shape;288;p12"/>
          <p:cNvSpPr/>
          <p:nvPr/>
        </p:nvSpPr>
        <p:spPr>
          <a:xfrm>
            <a:off x="9235440" y="1005840"/>
            <a:ext cx="2468880" cy="1417320"/>
          </a:xfrm>
          <a:prstGeom prst="rect">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2"/>
          <p:cNvSpPr txBox="1"/>
          <p:nvPr/>
        </p:nvSpPr>
        <p:spPr>
          <a:xfrm>
            <a:off x="9372600" y="1097280"/>
            <a:ext cx="21945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850"/>
              <a:buFont typeface="Consolas"/>
              <a:buNone/>
            </a:pPr>
            <a:r>
              <a:rPr b="0" i="0" lang="en-US" sz="850" u="none" cap="none" strike="noStrike">
                <a:solidFill>
                  <a:srgbClr val="F3EEDF"/>
                </a:solidFill>
                <a:latin typeface="Consolas"/>
                <a:ea typeface="Consolas"/>
                <a:cs typeface="Consolas"/>
                <a:sym typeface="Consolas"/>
              </a:rPr>
              <a:t>Layer 3</a:t>
            </a:r>
            <a:endParaRPr b="0" i="0" sz="850" u="none" cap="none" strike="noStrike">
              <a:solidFill>
                <a:schemeClr val="dk1"/>
              </a:solidFill>
              <a:latin typeface="Calibri"/>
              <a:ea typeface="Calibri"/>
              <a:cs typeface="Calibri"/>
              <a:sym typeface="Calibri"/>
            </a:endParaRPr>
          </a:p>
        </p:txBody>
      </p:sp>
      <p:sp>
        <p:nvSpPr>
          <p:cNvPr id="290" name="Google Shape;290;p12"/>
          <p:cNvSpPr txBox="1"/>
          <p:nvPr/>
        </p:nvSpPr>
        <p:spPr>
          <a:xfrm>
            <a:off x="9372600" y="1371600"/>
            <a:ext cx="2194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1400"/>
              <a:buFont typeface="Georgia"/>
              <a:buNone/>
            </a:pPr>
            <a:r>
              <a:rPr b="1" i="0" lang="en-US" sz="1400" u="none" cap="none" strike="noStrike">
                <a:solidFill>
                  <a:srgbClr val="F3EEDF"/>
                </a:solidFill>
                <a:latin typeface="Georgia"/>
                <a:ea typeface="Georgia"/>
                <a:cs typeface="Georgia"/>
                <a:sym typeface="Georgia"/>
              </a:rPr>
              <a:t>Mesh layer</a:t>
            </a:r>
            <a:endParaRPr b="0" i="0" sz="1400" u="none" cap="none" strike="noStrike">
              <a:solidFill>
                <a:schemeClr val="dk1"/>
              </a:solidFill>
              <a:latin typeface="Calibri"/>
              <a:ea typeface="Calibri"/>
              <a:cs typeface="Calibri"/>
              <a:sym typeface="Calibri"/>
            </a:endParaRPr>
          </a:p>
        </p:txBody>
      </p:sp>
      <p:sp>
        <p:nvSpPr>
          <p:cNvPr id="291" name="Google Shape;291;p12"/>
          <p:cNvSpPr txBox="1"/>
          <p:nvPr/>
        </p:nvSpPr>
        <p:spPr>
          <a:xfrm>
            <a:off x="9372600" y="1719072"/>
            <a:ext cx="219456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EDF"/>
              </a:buClr>
              <a:buSzPts val="900"/>
              <a:buFont typeface="Calibri"/>
              <a:buNone/>
            </a:pPr>
            <a:r>
              <a:rPr b="0" i="0" lang="en-US" sz="900" u="none" cap="none" strike="noStrike">
                <a:solidFill>
                  <a:srgbClr val="F3EEDF"/>
                </a:solidFill>
                <a:latin typeface="Calibri"/>
                <a:ea typeface="Calibri"/>
                <a:cs typeface="Calibri"/>
                <a:sym typeface="Calibri"/>
              </a:rPr>
              <a:t>Phones become relays. Wi-Fi Direct + Bluetooth LE carry peer chat and logs.</a:t>
            </a:r>
            <a:endParaRPr b="0" i="0" sz="900" u="none" cap="none" strike="noStrike">
              <a:solidFill>
                <a:schemeClr val="dk1"/>
              </a:solidFill>
              <a:latin typeface="Calibri"/>
              <a:ea typeface="Calibri"/>
              <a:cs typeface="Calibri"/>
              <a:sym typeface="Calibri"/>
            </a:endParaRPr>
          </a:p>
        </p:txBody>
      </p:sp>
      <p:sp>
        <p:nvSpPr>
          <p:cNvPr id="292" name="Google Shape;292;p12"/>
          <p:cNvSpPr/>
          <p:nvPr/>
        </p:nvSpPr>
        <p:spPr>
          <a:xfrm>
            <a:off x="4206240" y="2560320"/>
            <a:ext cx="4709160" cy="1417320"/>
          </a:xfrm>
          <a:prstGeom prst="rect">
            <a:avLst/>
          </a:prstGeom>
          <a:solidFill>
            <a:srgbClr val="B32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2"/>
          <p:cNvSpPr txBox="1"/>
          <p:nvPr/>
        </p:nvSpPr>
        <p:spPr>
          <a:xfrm>
            <a:off x="4343400" y="2651760"/>
            <a:ext cx="4572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850"/>
              <a:buFont typeface="Consolas"/>
              <a:buNone/>
            </a:pPr>
            <a:r>
              <a:rPr b="0" i="0" lang="en-US" sz="850" u="none" cap="none" strike="noStrike">
                <a:solidFill>
                  <a:srgbClr val="F3EEDF"/>
                </a:solidFill>
                <a:latin typeface="Consolas"/>
                <a:ea typeface="Consolas"/>
                <a:cs typeface="Consolas"/>
                <a:sym typeface="Consolas"/>
              </a:rPr>
              <a:t>Layer 4 · The Reconciler</a:t>
            </a:r>
            <a:endParaRPr b="0" i="0" sz="850" u="none" cap="none" strike="noStrike">
              <a:solidFill>
                <a:schemeClr val="dk1"/>
              </a:solidFill>
              <a:latin typeface="Calibri"/>
              <a:ea typeface="Calibri"/>
              <a:cs typeface="Calibri"/>
              <a:sym typeface="Calibri"/>
            </a:endParaRPr>
          </a:p>
        </p:txBody>
      </p:sp>
      <p:sp>
        <p:nvSpPr>
          <p:cNvPr id="294" name="Google Shape;294;p12"/>
          <p:cNvSpPr txBox="1"/>
          <p:nvPr/>
        </p:nvSpPr>
        <p:spPr>
          <a:xfrm>
            <a:off x="4343400" y="2926080"/>
            <a:ext cx="4572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1700"/>
              <a:buFont typeface="Georgia"/>
              <a:buNone/>
            </a:pPr>
            <a:r>
              <a:rPr b="1" i="0" lang="en-US" sz="1700" u="none" cap="none" strike="noStrike">
                <a:solidFill>
                  <a:srgbClr val="F3EEDF"/>
                </a:solidFill>
                <a:latin typeface="Georgia"/>
                <a:ea typeface="Georgia"/>
                <a:cs typeface="Georgia"/>
                <a:sym typeface="Georgia"/>
              </a:rPr>
              <a:t>CRDTs &amp; vector clocks</a:t>
            </a:r>
            <a:endParaRPr b="0" i="0" sz="1700" u="none" cap="none" strike="noStrike">
              <a:solidFill>
                <a:schemeClr val="dk1"/>
              </a:solidFill>
              <a:latin typeface="Calibri"/>
              <a:ea typeface="Calibri"/>
              <a:cs typeface="Calibri"/>
              <a:sym typeface="Calibri"/>
            </a:endParaRPr>
          </a:p>
        </p:txBody>
      </p:sp>
      <p:sp>
        <p:nvSpPr>
          <p:cNvPr id="295" name="Google Shape;295;p12"/>
          <p:cNvSpPr txBox="1"/>
          <p:nvPr/>
        </p:nvSpPr>
        <p:spPr>
          <a:xfrm>
            <a:off x="4343400" y="3337560"/>
            <a:ext cx="443484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EDF"/>
              </a:buClr>
              <a:buSzPts val="950"/>
              <a:buFont typeface="Calibri"/>
              <a:buNone/>
            </a:pPr>
            <a:r>
              <a:rPr b="0" i="0" lang="en-US" sz="950" u="none" cap="none" strike="noStrike">
                <a:solidFill>
                  <a:srgbClr val="F3EEDF"/>
                </a:solidFill>
                <a:latin typeface="Calibri"/>
                <a:ea typeface="Calibri"/>
                <a:cs typeface="Calibri"/>
                <a:sym typeface="Calibri"/>
              </a:rPr>
              <a:t>When many devices edit offline and reconnect, conflicts resolve without losing anyone’s truth. Two nurses logging the same patient at once both survive.</a:t>
            </a:r>
            <a:endParaRPr b="0" i="0" sz="950" u="none" cap="none" strike="noStrike">
              <a:solidFill>
                <a:schemeClr val="dk1"/>
              </a:solidFill>
              <a:latin typeface="Calibri"/>
              <a:ea typeface="Calibri"/>
              <a:cs typeface="Calibri"/>
              <a:sym typeface="Calibri"/>
            </a:endParaRPr>
          </a:p>
        </p:txBody>
      </p:sp>
      <p:sp>
        <p:nvSpPr>
          <p:cNvPr id="296" name="Google Shape;296;p12"/>
          <p:cNvSpPr/>
          <p:nvPr/>
        </p:nvSpPr>
        <p:spPr>
          <a:xfrm>
            <a:off x="9006840" y="2560320"/>
            <a:ext cx="2697480" cy="1417320"/>
          </a:xfrm>
          <a:prstGeom prst="rect">
            <a:avLst/>
          </a:prstGeom>
          <a:solidFill>
            <a:srgbClr val="E2D8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2"/>
          <p:cNvSpPr txBox="1"/>
          <p:nvPr/>
        </p:nvSpPr>
        <p:spPr>
          <a:xfrm>
            <a:off x="9144000" y="2651760"/>
            <a:ext cx="246888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261E"/>
              </a:buClr>
              <a:buSzPts val="850"/>
              <a:buFont typeface="Consolas"/>
              <a:buNone/>
            </a:pPr>
            <a:r>
              <a:rPr b="0" i="0" lang="en-US" sz="850" u="none" cap="none" strike="noStrike">
                <a:solidFill>
                  <a:srgbClr val="B3261E"/>
                </a:solidFill>
                <a:latin typeface="Consolas"/>
                <a:ea typeface="Consolas"/>
                <a:cs typeface="Consolas"/>
                <a:sym typeface="Consolas"/>
              </a:rPr>
              <a:t>Layer 5</a:t>
            </a:r>
            <a:endParaRPr b="0" i="0" sz="850" u="none" cap="none" strike="noStrike">
              <a:solidFill>
                <a:schemeClr val="dk1"/>
              </a:solidFill>
              <a:latin typeface="Calibri"/>
              <a:ea typeface="Calibri"/>
              <a:cs typeface="Calibri"/>
              <a:sym typeface="Calibri"/>
            </a:endParaRPr>
          </a:p>
        </p:txBody>
      </p:sp>
      <p:sp>
        <p:nvSpPr>
          <p:cNvPr id="298" name="Google Shape;298;p12"/>
          <p:cNvSpPr txBox="1"/>
          <p:nvPr/>
        </p:nvSpPr>
        <p:spPr>
          <a:xfrm>
            <a:off x="9144000" y="2926080"/>
            <a:ext cx="24688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1400"/>
              <a:buFont typeface="Georgia"/>
              <a:buNone/>
            </a:pPr>
            <a:r>
              <a:rPr b="1" i="0" lang="en-US" sz="1400" u="none" cap="none" strike="noStrike">
                <a:solidFill>
                  <a:srgbClr val="232323"/>
                </a:solidFill>
                <a:latin typeface="Georgia"/>
                <a:ea typeface="Georgia"/>
                <a:cs typeface="Georgia"/>
                <a:sym typeface="Georgia"/>
              </a:rPr>
              <a:t>Sync, when ready</a:t>
            </a:r>
            <a:endParaRPr b="0" i="0" sz="1400" u="none" cap="none" strike="noStrike">
              <a:solidFill>
                <a:schemeClr val="dk1"/>
              </a:solidFill>
              <a:latin typeface="Calibri"/>
              <a:ea typeface="Calibri"/>
              <a:cs typeface="Calibri"/>
              <a:sym typeface="Calibri"/>
            </a:endParaRPr>
          </a:p>
        </p:txBody>
      </p:sp>
      <p:sp>
        <p:nvSpPr>
          <p:cNvPr id="299" name="Google Shape;299;p12"/>
          <p:cNvSpPr txBox="1"/>
          <p:nvPr/>
        </p:nvSpPr>
        <p:spPr>
          <a:xfrm>
            <a:off x="9144000" y="3291840"/>
            <a:ext cx="246888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323"/>
              </a:buClr>
              <a:buSzPts val="900"/>
              <a:buFont typeface="Calibri"/>
              <a:buNone/>
            </a:pPr>
            <a:r>
              <a:rPr b="0" i="0" lang="en-US" sz="900" u="none" cap="none" strike="noStrike">
                <a:solidFill>
                  <a:srgbClr val="232323"/>
                </a:solidFill>
                <a:latin typeface="Calibri"/>
                <a:ea typeface="Calibri"/>
                <a:cs typeface="Calibri"/>
                <a:sym typeface="Calibri"/>
              </a:rPr>
              <a:t>Auto-sync once connectivity stabilises. Before/after allowed. Delta-only payloads.</a:t>
            </a:r>
            <a:endParaRPr b="0" i="0" sz="900" u="none" cap="none" strike="noStrike">
              <a:solidFill>
                <a:schemeClr val="dk1"/>
              </a:solidFill>
              <a:latin typeface="Calibri"/>
              <a:ea typeface="Calibri"/>
              <a:cs typeface="Calibri"/>
              <a:sym typeface="Calibri"/>
            </a:endParaRPr>
          </a:p>
        </p:txBody>
      </p:sp>
      <p:sp>
        <p:nvSpPr>
          <p:cNvPr id="300" name="Google Shape;300;p12"/>
          <p:cNvSpPr/>
          <p:nvPr/>
        </p:nvSpPr>
        <p:spPr>
          <a:xfrm>
            <a:off x="4206240" y="4160520"/>
            <a:ext cx="7498080" cy="1371600"/>
          </a:xfrm>
          <a:prstGeom prst="rect">
            <a:avLst/>
          </a:prstGeom>
          <a:solidFill>
            <a:srgbClr val="EEE6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2"/>
          <p:cNvSpPr txBox="1"/>
          <p:nvPr/>
        </p:nvSpPr>
        <p:spPr>
          <a:xfrm>
            <a:off x="4389120" y="4279392"/>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270"/>
              </a:buClr>
              <a:buSzPts val="1000"/>
              <a:buFont typeface="Consolas"/>
              <a:buNone/>
            </a:pPr>
            <a:r>
              <a:rPr b="1" i="0" lang="en-US" sz="1000" u="none" cap="none" strike="noStrike">
                <a:solidFill>
                  <a:srgbClr val="8A8270"/>
                </a:solidFill>
                <a:latin typeface="Consolas"/>
                <a:ea typeface="Consolas"/>
                <a:cs typeface="Consolas"/>
                <a:sym typeface="Consolas"/>
              </a:rPr>
              <a:t>TYPICAL LIFECYCLE OF A DISASTER LOG</a:t>
            </a:r>
            <a:endParaRPr b="0" i="0" sz="1000" u="none" cap="none" strike="noStrike">
              <a:solidFill>
                <a:schemeClr val="dk1"/>
              </a:solidFill>
              <a:latin typeface="Calibri"/>
              <a:ea typeface="Calibri"/>
              <a:cs typeface="Calibri"/>
              <a:sym typeface="Calibri"/>
            </a:endParaRPr>
          </a:p>
        </p:txBody>
      </p:sp>
      <p:sp>
        <p:nvSpPr>
          <p:cNvPr id="302" name="Google Shape;302;p12"/>
          <p:cNvSpPr txBox="1"/>
          <p:nvPr/>
        </p:nvSpPr>
        <p:spPr>
          <a:xfrm>
            <a:off x="4389120" y="4572000"/>
            <a:ext cx="71323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E56"/>
              </a:buClr>
              <a:buSzPts val="1800"/>
              <a:buFont typeface="Georgia"/>
              <a:buNone/>
            </a:pPr>
            <a:r>
              <a:rPr b="1" i="0" lang="en-US" sz="1800" u="none" cap="none" strike="noStrike">
                <a:solidFill>
                  <a:srgbClr val="0F6E56"/>
                </a:solidFill>
                <a:latin typeface="Georgia"/>
                <a:ea typeface="Georgia"/>
                <a:cs typeface="Georgia"/>
                <a:sym typeface="Georgia"/>
              </a:rPr>
              <a:t>Capture</a:t>
            </a:r>
            <a:r>
              <a:rPr b="0" i="0" lang="en-US" sz="1800" u="none" cap="none" strike="noStrike">
                <a:solidFill>
                  <a:srgbClr val="232323"/>
                </a:solidFill>
                <a:latin typeface="Georgia"/>
                <a:ea typeface="Georgia"/>
                <a:cs typeface="Georgia"/>
                <a:sym typeface="Georgia"/>
              </a:rPr>
              <a:t>  →  </a:t>
            </a:r>
            <a:r>
              <a:rPr b="1" i="0" lang="en-US" sz="1800" u="none" cap="none" strike="noStrike">
                <a:solidFill>
                  <a:srgbClr val="B3261E"/>
                </a:solidFill>
                <a:latin typeface="Georgia"/>
                <a:ea typeface="Georgia"/>
                <a:cs typeface="Georgia"/>
                <a:sym typeface="Georgia"/>
              </a:rPr>
              <a:t>Merge</a:t>
            </a:r>
            <a:r>
              <a:rPr b="1" i="0" lang="en-US" sz="1800" u="none" cap="none" strike="noStrike">
                <a:solidFill>
                  <a:srgbClr val="232323"/>
                </a:solidFill>
                <a:latin typeface="Georgia"/>
                <a:ea typeface="Georgia"/>
                <a:cs typeface="Georgia"/>
                <a:sym typeface="Georgia"/>
              </a:rPr>
              <a:t>  →  Summarise  →  </a:t>
            </a:r>
            <a:r>
              <a:rPr b="1" i="0" lang="en-US" sz="1800" u="none" cap="none" strike="noStrike">
                <a:solidFill>
                  <a:srgbClr val="0F6E56"/>
                </a:solidFill>
                <a:latin typeface="Georgia"/>
                <a:ea typeface="Georgia"/>
                <a:cs typeface="Georgia"/>
                <a:sym typeface="Georgia"/>
              </a:rPr>
              <a:t>Surface</a:t>
            </a:r>
            <a:r>
              <a:rPr b="1" i="0" lang="en-US" sz="1800" u="none" cap="none" strike="noStrike">
                <a:solidFill>
                  <a:srgbClr val="232323"/>
                </a:solidFill>
                <a:latin typeface="Georgia"/>
                <a:ea typeface="Georgia"/>
                <a:cs typeface="Georgia"/>
                <a:sym typeface="Georgia"/>
              </a:rPr>
              <a:t>  →  Sync</a:t>
            </a:r>
            <a:endParaRPr b="0" i="0" sz="1800" u="none" cap="none" strike="noStrike">
              <a:solidFill>
                <a:schemeClr val="dk1"/>
              </a:solidFill>
              <a:latin typeface="Calibri"/>
              <a:ea typeface="Calibri"/>
              <a:cs typeface="Calibri"/>
              <a:sym typeface="Calibri"/>
            </a:endParaRPr>
          </a:p>
        </p:txBody>
      </p:sp>
      <p:sp>
        <p:nvSpPr>
          <p:cNvPr id="303" name="Google Shape;303;p12"/>
          <p:cNvSpPr txBox="1"/>
          <p:nvPr/>
        </p:nvSpPr>
        <p:spPr>
          <a:xfrm>
            <a:off x="4389120" y="5074920"/>
            <a:ext cx="7132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1000"/>
              <a:buFont typeface="Calibri"/>
              <a:buNone/>
            </a:pPr>
            <a:r>
              <a:rPr b="0" i="0" lang="en-US" sz="1000" u="none" cap="none" strike="noStrike">
                <a:solidFill>
                  <a:srgbClr val="232323"/>
                </a:solidFill>
                <a:latin typeface="Calibri"/>
                <a:ea typeface="Calibri"/>
                <a:cs typeface="Calibri"/>
                <a:sym typeface="Calibri"/>
              </a:rPr>
              <a:t>Each arrow is local if it can be. Each step has a fallback. A 30-second capture still survives a 30-hour blackout.</a:t>
            </a:r>
            <a:endParaRPr b="0" i="0" sz="1000" u="none" cap="none" strike="noStrike">
              <a:solidFill>
                <a:schemeClr val="dk1"/>
              </a:solidFill>
              <a:latin typeface="Calibri"/>
              <a:ea typeface="Calibri"/>
              <a:cs typeface="Calibri"/>
              <a:sym typeface="Calibri"/>
            </a:endParaRPr>
          </a:p>
        </p:txBody>
      </p:sp>
      <p:cxnSp>
        <p:nvCxnSpPr>
          <p:cNvPr id="304" name="Google Shape;304;p12"/>
          <p:cNvCxnSpPr/>
          <p:nvPr/>
        </p:nvCxnSpPr>
        <p:spPr>
          <a:xfrm>
            <a:off x="4206240" y="6400800"/>
            <a:ext cx="7498080" cy="0"/>
          </a:xfrm>
          <a:prstGeom prst="straightConnector1">
            <a:avLst/>
          </a:prstGeom>
          <a:noFill/>
          <a:ln cap="flat" cmpd="sng" w="12700">
            <a:solidFill>
              <a:srgbClr val="8A8270"/>
            </a:solidFill>
            <a:prstDash val="solid"/>
            <a:round/>
            <a:headEnd len="sm" w="sm" type="none"/>
            <a:tailEnd len="sm" w="sm" type="none"/>
          </a:ln>
        </p:spPr>
      </p:cxnSp>
      <p:sp>
        <p:nvSpPr>
          <p:cNvPr id="305" name="Google Shape;305;p12"/>
          <p:cNvSpPr txBox="1"/>
          <p:nvPr/>
        </p:nvSpPr>
        <p:spPr>
          <a:xfrm>
            <a:off x="4206240" y="6492240"/>
            <a:ext cx="7498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270"/>
              </a:buClr>
              <a:buSzPts val="850"/>
              <a:buFont typeface="Consolas"/>
              <a:buNone/>
            </a:pPr>
            <a:r>
              <a:rPr b="1" i="0" lang="en-US" sz="850" u="none" cap="none" strike="noStrike">
                <a:solidFill>
                  <a:srgbClr val="8A8270"/>
                </a:solidFill>
                <a:latin typeface="Consolas"/>
                <a:ea typeface="Consolas"/>
                <a:cs typeface="Consolas"/>
                <a:sym typeface="Consolas"/>
              </a:rPr>
              <a:t>EACH LAYER OPTIONAL. THE SYSTEM SURVIVES ANY SINGLE LAYER FAILING.</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6D5"/>
        </a:solidFill>
      </p:bgPr>
    </p:bg>
    <p:spTree>
      <p:nvGrpSpPr>
        <p:cNvPr id="310" name="Shape 310"/>
        <p:cNvGrpSpPr/>
        <p:nvPr/>
      </p:nvGrpSpPr>
      <p:grpSpPr>
        <a:xfrm>
          <a:off x="0" y="0"/>
          <a:ext cx="0" cy="0"/>
          <a:chOff x="0" y="0"/>
          <a:chExt cx="0" cy="0"/>
        </a:xfrm>
      </p:grpSpPr>
      <p:sp>
        <p:nvSpPr>
          <p:cNvPr id="311" name="Google Shape;311;p13"/>
          <p:cNvSpPr txBox="1"/>
          <p:nvPr/>
        </p:nvSpPr>
        <p:spPr>
          <a:xfrm>
            <a:off x="457200" y="3200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1000"/>
              <a:buFont typeface="Consolas"/>
              <a:buNone/>
            </a:pPr>
            <a:r>
              <a:rPr b="1" i="0" lang="en-US" sz="1000" u="none" cap="none" strike="noStrike">
                <a:solidFill>
                  <a:srgbClr val="232323"/>
                </a:solidFill>
                <a:latin typeface="Consolas"/>
                <a:ea typeface="Consolas"/>
                <a:cs typeface="Consolas"/>
                <a:sym typeface="Consolas"/>
              </a:rPr>
              <a:t>TRUST</a:t>
            </a:r>
            <a:endParaRPr b="0" i="0" sz="1000" u="none" cap="none" strike="noStrike">
              <a:solidFill>
                <a:schemeClr val="dk1"/>
              </a:solidFill>
              <a:latin typeface="Calibri"/>
              <a:ea typeface="Calibri"/>
              <a:cs typeface="Calibri"/>
              <a:sym typeface="Calibri"/>
            </a:endParaRPr>
          </a:p>
        </p:txBody>
      </p:sp>
      <p:sp>
        <p:nvSpPr>
          <p:cNvPr id="312" name="Google Shape;312;p13"/>
          <p:cNvSpPr txBox="1"/>
          <p:nvPr/>
        </p:nvSpPr>
        <p:spPr>
          <a:xfrm>
            <a:off x="7159752" y="320040"/>
            <a:ext cx="45720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32323"/>
              </a:buClr>
              <a:buSzPts val="1000"/>
              <a:buFont typeface="Consolas"/>
              <a:buNone/>
            </a:pPr>
            <a:r>
              <a:rPr b="1" i="0" lang="en-US" sz="1000" u="none" cap="none" strike="noStrike">
                <a:solidFill>
                  <a:srgbClr val="232323"/>
                </a:solidFill>
                <a:latin typeface="Consolas"/>
                <a:ea typeface="Consolas"/>
                <a:cs typeface="Consolas"/>
                <a:sym typeface="Consolas"/>
              </a:rPr>
              <a:t>PRIVACY &amp; SECURITY</a:t>
            </a:r>
            <a:endParaRPr b="0" i="0" sz="1000" u="none" cap="none" strike="noStrike">
              <a:solidFill>
                <a:schemeClr val="dk1"/>
              </a:solidFill>
              <a:latin typeface="Calibri"/>
              <a:ea typeface="Calibri"/>
              <a:cs typeface="Calibri"/>
              <a:sym typeface="Calibri"/>
            </a:endParaRPr>
          </a:p>
        </p:txBody>
      </p:sp>
      <p:cxnSp>
        <p:nvCxnSpPr>
          <p:cNvPr id="313" name="Google Shape;313;p13"/>
          <p:cNvCxnSpPr/>
          <p:nvPr/>
        </p:nvCxnSpPr>
        <p:spPr>
          <a:xfrm>
            <a:off x="457200" y="685800"/>
            <a:ext cx="11274552" cy="0"/>
          </a:xfrm>
          <a:prstGeom prst="straightConnector1">
            <a:avLst/>
          </a:prstGeom>
          <a:noFill/>
          <a:ln cap="flat" cmpd="sng" w="12700">
            <a:solidFill>
              <a:srgbClr val="232323"/>
            </a:solidFill>
            <a:prstDash val="solid"/>
            <a:round/>
            <a:headEnd len="sm" w="sm" type="none"/>
            <a:tailEnd len="sm" w="sm" type="none"/>
          </a:ln>
        </p:spPr>
      </p:cxnSp>
      <p:sp>
        <p:nvSpPr>
          <p:cNvPr id="314" name="Google Shape;314;p13"/>
          <p:cNvSpPr txBox="1"/>
          <p:nvPr/>
        </p:nvSpPr>
        <p:spPr>
          <a:xfrm>
            <a:off x="457200" y="1005840"/>
            <a:ext cx="7772400" cy="1554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3000"/>
              <a:buFont typeface="Georgia"/>
              <a:buNone/>
            </a:pPr>
            <a:r>
              <a:rPr b="1" i="0" lang="en-US" sz="3000" u="none" cap="none" strike="noStrike">
                <a:solidFill>
                  <a:srgbClr val="232323"/>
                </a:solidFill>
                <a:latin typeface="Georgia"/>
                <a:ea typeface="Georgia"/>
                <a:cs typeface="Georgia"/>
                <a:sym typeface="Georgia"/>
              </a:rPr>
              <a:t>You hold the </a:t>
            </a:r>
            <a:r>
              <a:rPr b="0" i="1" lang="en-US" sz="3000" u="none" cap="none" strike="noStrike">
                <a:solidFill>
                  <a:srgbClr val="0F6E56"/>
                </a:solidFill>
                <a:latin typeface="Georgia"/>
                <a:ea typeface="Georgia"/>
                <a:cs typeface="Georgia"/>
                <a:sym typeface="Georgia"/>
              </a:rPr>
              <a:t>key</a:t>
            </a:r>
            <a:r>
              <a:rPr b="1" i="0" lang="en-US" sz="3000" u="none" cap="none" strike="noStrike">
                <a:solidFill>
                  <a:srgbClr val="232323"/>
                </a:solidFill>
                <a:latin typeface="Georgia"/>
                <a:ea typeface="Georgia"/>
                <a:cs typeface="Georgia"/>
                <a:sym typeface="Georgia"/>
              </a:rPr>
              <a:t>. The phone holds the</a:t>
            </a:r>
            <a:br>
              <a:rPr b="1" i="0" lang="en-US" sz="3000" u="none" cap="none" strike="noStrike">
                <a:solidFill>
                  <a:srgbClr val="232323"/>
                </a:solidFill>
                <a:latin typeface="Georgia"/>
                <a:ea typeface="Georgia"/>
                <a:cs typeface="Georgia"/>
                <a:sym typeface="Georgia"/>
              </a:rPr>
            </a:br>
            <a:r>
              <a:rPr b="0" i="1" lang="en-US" sz="3000" u="none" cap="none" strike="noStrike">
                <a:solidFill>
                  <a:srgbClr val="B3261E"/>
                </a:solidFill>
                <a:latin typeface="Georgia"/>
                <a:ea typeface="Georgia"/>
                <a:cs typeface="Georgia"/>
                <a:sym typeface="Georgia"/>
              </a:rPr>
              <a:t>weight</a:t>
            </a:r>
            <a:r>
              <a:rPr b="1" i="0" lang="en-US" sz="3000" u="none" cap="none" strike="noStrike">
                <a:solidFill>
                  <a:srgbClr val="232323"/>
                </a:solidFill>
                <a:latin typeface="Georgia"/>
                <a:ea typeface="Georgia"/>
                <a:cs typeface="Georgia"/>
                <a:sym typeface="Georgia"/>
              </a:rPr>
              <a:t>.</a:t>
            </a:r>
            <a:endParaRPr b="0" i="0" sz="3000" u="none" cap="none" strike="noStrike">
              <a:solidFill>
                <a:schemeClr val="dk1"/>
              </a:solidFill>
              <a:latin typeface="Calibri"/>
              <a:ea typeface="Calibri"/>
              <a:cs typeface="Calibri"/>
              <a:sym typeface="Calibri"/>
            </a:endParaRPr>
          </a:p>
        </p:txBody>
      </p:sp>
      <p:sp>
        <p:nvSpPr>
          <p:cNvPr id="315" name="Google Shape;315;p13"/>
          <p:cNvSpPr txBox="1"/>
          <p:nvPr/>
        </p:nvSpPr>
        <p:spPr>
          <a:xfrm>
            <a:off x="457200" y="2606040"/>
            <a:ext cx="77724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323"/>
              </a:buClr>
              <a:buSzPts val="1300"/>
              <a:buFont typeface="Georgia"/>
              <a:buNone/>
            </a:pPr>
            <a:r>
              <a:rPr b="0" i="1" lang="en-US" sz="1300" u="none" cap="none" strike="noStrike">
                <a:solidFill>
                  <a:srgbClr val="232323"/>
                </a:solidFill>
                <a:latin typeface="Georgia"/>
                <a:ea typeface="Georgia"/>
                <a:cs typeface="Georgia"/>
                <a:sym typeface="Georgia"/>
              </a:rPr>
              <a:t>A thought kept offline is not a thought owed to anyone. A disaster log kept on-device is not a log that can be subpoenaed across borders by accident.</a:t>
            </a:r>
            <a:endParaRPr b="0" i="0" sz="1300" u="none" cap="none" strike="noStrike">
              <a:solidFill>
                <a:schemeClr val="dk1"/>
              </a:solidFill>
              <a:latin typeface="Calibri"/>
              <a:ea typeface="Calibri"/>
              <a:cs typeface="Calibri"/>
              <a:sym typeface="Calibri"/>
            </a:endParaRPr>
          </a:p>
        </p:txBody>
      </p:sp>
      <p:sp>
        <p:nvSpPr>
          <p:cNvPr id="316" name="Google Shape;316;p13"/>
          <p:cNvSpPr/>
          <p:nvPr/>
        </p:nvSpPr>
        <p:spPr>
          <a:xfrm>
            <a:off x="9144000" y="1005840"/>
            <a:ext cx="2468880" cy="2468880"/>
          </a:xfrm>
          <a:prstGeom prst="ellipse">
            <a:avLst/>
          </a:prstGeom>
          <a:solidFill>
            <a:srgbClr val="1E2A22"/>
          </a:solidFill>
          <a:ln cap="flat" cmpd="sng" w="12700">
            <a:solidFill>
              <a:srgbClr val="8A82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3"/>
          <p:cNvSpPr txBox="1"/>
          <p:nvPr/>
        </p:nvSpPr>
        <p:spPr>
          <a:xfrm>
            <a:off x="9144000" y="1828800"/>
            <a:ext cx="246888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3EEDF"/>
              </a:buClr>
              <a:buSzPts val="2600"/>
              <a:buFont typeface="Georgia"/>
              <a:buNone/>
            </a:pPr>
            <a:r>
              <a:rPr b="1" i="0" lang="en-US" sz="2600" u="none" cap="none" strike="noStrike">
                <a:solidFill>
                  <a:srgbClr val="F3EEDF"/>
                </a:solidFill>
                <a:latin typeface="Georgia"/>
                <a:ea typeface="Georgia"/>
                <a:cs typeface="Georgia"/>
                <a:sym typeface="Georgia"/>
              </a:rPr>
              <a:t>E2E</a:t>
            </a:r>
            <a:endParaRPr b="0" i="0" sz="2600" u="none" cap="none" strike="noStrike">
              <a:solidFill>
                <a:schemeClr val="dk1"/>
              </a:solidFill>
              <a:latin typeface="Calibri"/>
              <a:ea typeface="Calibri"/>
              <a:cs typeface="Calibri"/>
              <a:sym typeface="Calibri"/>
            </a:endParaRPr>
          </a:p>
        </p:txBody>
      </p:sp>
      <p:sp>
        <p:nvSpPr>
          <p:cNvPr id="318" name="Google Shape;318;p13"/>
          <p:cNvSpPr txBox="1"/>
          <p:nvPr/>
        </p:nvSpPr>
        <p:spPr>
          <a:xfrm>
            <a:off x="9144000" y="2331720"/>
            <a:ext cx="24688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8270"/>
              </a:buClr>
              <a:buSzPts val="850"/>
              <a:buFont typeface="Consolas"/>
              <a:buNone/>
            </a:pPr>
            <a:r>
              <a:rPr b="0" i="0" lang="en-US" sz="850" u="none" cap="none" strike="noStrike">
                <a:solidFill>
                  <a:srgbClr val="8A8270"/>
                </a:solidFill>
                <a:latin typeface="Consolas"/>
                <a:ea typeface="Consolas"/>
                <a:cs typeface="Consolas"/>
                <a:sym typeface="Consolas"/>
              </a:rPr>
              <a:t>End-to-End</a:t>
            </a:r>
            <a:endParaRPr b="0" i="0" sz="850" u="none" cap="none" strike="noStrike">
              <a:solidFill>
                <a:schemeClr val="dk1"/>
              </a:solidFill>
              <a:latin typeface="Calibri"/>
              <a:ea typeface="Calibri"/>
              <a:cs typeface="Calibri"/>
              <a:sym typeface="Calibri"/>
            </a:endParaRPr>
          </a:p>
        </p:txBody>
      </p:sp>
      <p:sp>
        <p:nvSpPr>
          <p:cNvPr id="319" name="Google Shape;319;p13"/>
          <p:cNvSpPr/>
          <p:nvPr/>
        </p:nvSpPr>
        <p:spPr>
          <a:xfrm>
            <a:off x="457200" y="3931920"/>
            <a:ext cx="3611880" cy="2103120"/>
          </a:xfrm>
          <a:prstGeom prst="rect">
            <a:avLst/>
          </a:prstGeom>
          <a:solidFill>
            <a:srgbClr val="E2D8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3"/>
          <p:cNvSpPr txBox="1"/>
          <p:nvPr/>
        </p:nvSpPr>
        <p:spPr>
          <a:xfrm>
            <a:off x="640080" y="4069080"/>
            <a:ext cx="32918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261E"/>
              </a:buClr>
              <a:buSzPts val="850"/>
              <a:buFont typeface="Consolas"/>
              <a:buNone/>
            </a:pPr>
            <a:r>
              <a:rPr b="0" i="0" lang="en-US" sz="850" u="none" cap="none" strike="noStrike">
                <a:solidFill>
                  <a:srgbClr val="B3261E"/>
                </a:solidFill>
                <a:latin typeface="Consolas"/>
                <a:ea typeface="Consolas"/>
                <a:cs typeface="Consolas"/>
                <a:sym typeface="Consolas"/>
              </a:rPr>
              <a:t>Principle 1</a:t>
            </a:r>
            <a:endParaRPr b="0" i="0" sz="850" u="none" cap="none" strike="noStrike">
              <a:solidFill>
                <a:schemeClr val="dk1"/>
              </a:solidFill>
              <a:latin typeface="Calibri"/>
              <a:ea typeface="Calibri"/>
              <a:cs typeface="Calibri"/>
              <a:sym typeface="Calibri"/>
            </a:endParaRPr>
          </a:p>
        </p:txBody>
      </p:sp>
      <p:sp>
        <p:nvSpPr>
          <p:cNvPr id="321" name="Google Shape;321;p13"/>
          <p:cNvSpPr txBox="1"/>
          <p:nvPr/>
        </p:nvSpPr>
        <p:spPr>
          <a:xfrm>
            <a:off x="640080" y="4343400"/>
            <a:ext cx="3291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1500"/>
              <a:buFont typeface="Georgia"/>
              <a:buNone/>
            </a:pPr>
            <a:r>
              <a:rPr b="1" i="0" lang="en-US" sz="1500" u="none" cap="none" strike="noStrike">
                <a:solidFill>
                  <a:srgbClr val="232323"/>
                </a:solidFill>
                <a:latin typeface="Georgia"/>
                <a:ea typeface="Georgia"/>
                <a:cs typeface="Georgia"/>
                <a:sym typeface="Georgia"/>
              </a:rPr>
              <a:t>Local-first encryption</a:t>
            </a:r>
            <a:endParaRPr b="0" i="0" sz="1500" u="none" cap="none" strike="noStrike">
              <a:solidFill>
                <a:schemeClr val="dk1"/>
              </a:solidFill>
              <a:latin typeface="Calibri"/>
              <a:ea typeface="Calibri"/>
              <a:cs typeface="Calibri"/>
              <a:sym typeface="Calibri"/>
            </a:endParaRPr>
          </a:p>
        </p:txBody>
      </p:sp>
      <p:sp>
        <p:nvSpPr>
          <p:cNvPr id="322" name="Google Shape;322;p13"/>
          <p:cNvSpPr txBox="1"/>
          <p:nvPr/>
        </p:nvSpPr>
        <p:spPr>
          <a:xfrm>
            <a:off x="640080" y="4800600"/>
            <a:ext cx="329184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323"/>
              </a:buClr>
              <a:buSzPts val="950"/>
              <a:buFont typeface="Calibri"/>
              <a:buNone/>
            </a:pPr>
            <a:r>
              <a:rPr b="0" i="0" lang="en-US" sz="950" u="none" cap="none" strike="noStrike">
                <a:solidFill>
                  <a:srgbClr val="232323"/>
                </a:solidFill>
                <a:latin typeface="Calibri"/>
                <a:ea typeface="Calibri"/>
                <a:cs typeface="Calibri"/>
                <a:sym typeface="Calibri"/>
              </a:rPr>
              <a:t>Every entry is encrypted on the device before it ever leaves. Personal logs and disaster logs live behind the same key, on the same hardware.</a:t>
            </a:r>
            <a:endParaRPr b="0" i="0" sz="950" u="none" cap="none" strike="noStrike">
              <a:solidFill>
                <a:schemeClr val="dk1"/>
              </a:solidFill>
              <a:latin typeface="Calibri"/>
              <a:ea typeface="Calibri"/>
              <a:cs typeface="Calibri"/>
              <a:sym typeface="Calibri"/>
            </a:endParaRPr>
          </a:p>
        </p:txBody>
      </p:sp>
      <p:sp>
        <p:nvSpPr>
          <p:cNvPr id="323" name="Google Shape;323;p13"/>
          <p:cNvSpPr/>
          <p:nvPr/>
        </p:nvSpPr>
        <p:spPr>
          <a:xfrm>
            <a:off x="4251960" y="3931920"/>
            <a:ext cx="3611880" cy="2103120"/>
          </a:xfrm>
          <a:prstGeom prst="rect">
            <a:avLst/>
          </a:prstGeom>
          <a:solidFill>
            <a:srgbClr val="EEE6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3"/>
          <p:cNvSpPr txBox="1"/>
          <p:nvPr/>
        </p:nvSpPr>
        <p:spPr>
          <a:xfrm>
            <a:off x="4434840" y="4069080"/>
            <a:ext cx="32918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261E"/>
              </a:buClr>
              <a:buSzPts val="850"/>
              <a:buFont typeface="Consolas"/>
              <a:buNone/>
            </a:pPr>
            <a:r>
              <a:rPr b="0" i="0" lang="en-US" sz="850" u="none" cap="none" strike="noStrike">
                <a:solidFill>
                  <a:srgbClr val="B3261E"/>
                </a:solidFill>
                <a:latin typeface="Consolas"/>
                <a:ea typeface="Consolas"/>
                <a:cs typeface="Consolas"/>
                <a:sym typeface="Consolas"/>
              </a:rPr>
              <a:t>Principle 2</a:t>
            </a:r>
            <a:endParaRPr b="0" i="0" sz="850" u="none" cap="none" strike="noStrike">
              <a:solidFill>
                <a:schemeClr val="dk1"/>
              </a:solidFill>
              <a:latin typeface="Calibri"/>
              <a:ea typeface="Calibri"/>
              <a:cs typeface="Calibri"/>
              <a:sym typeface="Calibri"/>
            </a:endParaRPr>
          </a:p>
        </p:txBody>
      </p:sp>
      <p:sp>
        <p:nvSpPr>
          <p:cNvPr id="325" name="Google Shape;325;p13"/>
          <p:cNvSpPr txBox="1"/>
          <p:nvPr/>
        </p:nvSpPr>
        <p:spPr>
          <a:xfrm>
            <a:off x="4434840" y="4343400"/>
            <a:ext cx="3291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1500"/>
              <a:buFont typeface="Georgia"/>
              <a:buNone/>
            </a:pPr>
            <a:r>
              <a:rPr b="1" i="0" lang="en-US" sz="1500" u="none" cap="none" strike="noStrike">
                <a:solidFill>
                  <a:srgbClr val="232323"/>
                </a:solidFill>
                <a:latin typeface="Georgia"/>
                <a:ea typeface="Georgia"/>
                <a:cs typeface="Georgia"/>
                <a:sym typeface="Georgia"/>
              </a:rPr>
              <a:t>Peer channels stay peer-only</a:t>
            </a:r>
            <a:endParaRPr b="0" i="0" sz="1500" u="none" cap="none" strike="noStrike">
              <a:solidFill>
                <a:schemeClr val="dk1"/>
              </a:solidFill>
              <a:latin typeface="Calibri"/>
              <a:ea typeface="Calibri"/>
              <a:cs typeface="Calibri"/>
              <a:sym typeface="Calibri"/>
            </a:endParaRPr>
          </a:p>
        </p:txBody>
      </p:sp>
      <p:sp>
        <p:nvSpPr>
          <p:cNvPr id="326" name="Google Shape;326;p13"/>
          <p:cNvSpPr txBox="1"/>
          <p:nvPr/>
        </p:nvSpPr>
        <p:spPr>
          <a:xfrm>
            <a:off x="4434840" y="4800600"/>
            <a:ext cx="329184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323"/>
              </a:buClr>
              <a:buSzPts val="950"/>
              <a:buFont typeface="Calibri"/>
              <a:buNone/>
            </a:pPr>
            <a:r>
              <a:rPr b="0" i="0" lang="en-US" sz="950" u="none" cap="none" strike="noStrike">
                <a:solidFill>
                  <a:srgbClr val="232323"/>
                </a:solidFill>
                <a:latin typeface="Calibri"/>
                <a:ea typeface="Calibri"/>
                <a:cs typeface="Calibri"/>
                <a:sym typeface="Calibri"/>
              </a:rPr>
              <a:t>Mesh messages between phones are encrypted at the session layer. No provider sees them, even if every relay was hostile.</a:t>
            </a:r>
            <a:endParaRPr b="0" i="0" sz="950" u="none" cap="none" strike="noStrike">
              <a:solidFill>
                <a:schemeClr val="dk1"/>
              </a:solidFill>
              <a:latin typeface="Calibri"/>
              <a:ea typeface="Calibri"/>
              <a:cs typeface="Calibri"/>
              <a:sym typeface="Calibri"/>
            </a:endParaRPr>
          </a:p>
        </p:txBody>
      </p:sp>
      <p:sp>
        <p:nvSpPr>
          <p:cNvPr id="327" name="Google Shape;327;p13"/>
          <p:cNvSpPr/>
          <p:nvPr/>
        </p:nvSpPr>
        <p:spPr>
          <a:xfrm>
            <a:off x="8046720" y="3931920"/>
            <a:ext cx="3611880" cy="2103120"/>
          </a:xfrm>
          <a:prstGeom prst="rect">
            <a:avLst/>
          </a:prstGeom>
          <a:solidFill>
            <a:srgbClr val="1E2A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3"/>
          <p:cNvSpPr txBox="1"/>
          <p:nvPr/>
        </p:nvSpPr>
        <p:spPr>
          <a:xfrm>
            <a:off x="8229600" y="4069080"/>
            <a:ext cx="32918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3B26"/>
              </a:buClr>
              <a:buSzPts val="850"/>
              <a:buFont typeface="Consolas"/>
              <a:buNone/>
            </a:pPr>
            <a:r>
              <a:rPr b="0" i="0" lang="en-US" sz="850" u="none" cap="none" strike="noStrike">
                <a:solidFill>
                  <a:srgbClr val="A33B26"/>
                </a:solidFill>
                <a:latin typeface="Consolas"/>
                <a:ea typeface="Consolas"/>
                <a:cs typeface="Consolas"/>
                <a:sym typeface="Consolas"/>
              </a:rPr>
              <a:t>Principle 3</a:t>
            </a:r>
            <a:endParaRPr b="0" i="0" sz="850" u="none" cap="none" strike="noStrike">
              <a:solidFill>
                <a:schemeClr val="dk1"/>
              </a:solidFill>
              <a:latin typeface="Calibri"/>
              <a:ea typeface="Calibri"/>
              <a:cs typeface="Calibri"/>
              <a:sym typeface="Calibri"/>
            </a:endParaRPr>
          </a:p>
        </p:txBody>
      </p:sp>
      <p:sp>
        <p:nvSpPr>
          <p:cNvPr id="329" name="Google Shape;329;p13"/>
          <p:cNvSpPr txBox="1"/>
          <p:nvPr/>
        </p:nvSpPr>
        <p:spPr>
          <a:xfrm>
            <a:off x="8229600" y="4343400"/>
            <a:ext cx="3291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1500"/>
              <a:buFont typeface="Georgia"/>
              <a:buNone/>
            </a:pPr>
            <a:r>
              <a:rPr b="1" i="0" lang="en-US" sz="1500" u="none" cap="none" strike="noStrike">
                <a:solidFill>
                  <a:srgbClr val="F3EEDF"/>
                </a:solidFill>
                <a:latin typeface="Georgia"/>
                <a:ea typeface="Georgia"/>
                <a:cs typeface="Georgia"/>
                <a:sym typeface="Georgia"/>
              </a:rPr>
              <a:t>A wipe you control</a:t>
            </a:r>
            <a:endParaRPr b="0" i="0" sz="1500" u="none" cap="none" strike="noStrike">
              <a:solidFill>
                <a:schemeClr val="dk1"/>
              </a:solidFill>
              <a:latin typeface="Calibri"/>
              <a:ea typeface="Calibri"/>
              <a:cs typeface="Calibri"/>
              <a:sym typeface="Calibri"/>
            </a:endParaRPr>
          </a:p>
        </p:txBody>
      </p:sp>
      <p:sp>
        <p:nvSpPr>
          <p:cNvPr id="330" name="Google Shape;330;p13"/>
          <p:cNvSpPr txBox="1"/>
          <p:nvPr/>
        </p:nvSpPr>
        <p:spPr>
          <a:xfrm>
            <a:off x="8229600" y="4800600"/>
            <a:ext cx="329184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EDF"/>
              </a:buClr>
              <a:buSzPts val="950"/>
              <a:buFont typeface="Calibri"/>
              <a:buNone/>
            </a:pPr>
            <a:r>
              <a:rPr b="0" i="0" lang="en-US" sz="950" u="none" cap="none" strike="noStrike">
                <a:solidFill>
                  <a:srgbClr val="F3EEDF"/>
                </a:solidFill>
                <a:latin typeface="Calibri"/>
                <a:ea typeface="Calibri"/>
                <a:cs typeface="Calibri"/>
                <a:sym typeface="Calibri"/>
              </a:rPr>
              <a:t>One tap erases the personal layer. One separate tap erases the disaster layer. One tap erases everything. You choose how thin your trail stays.</a:t>
            </a:r>
            <a:endParaRPr b="0" i="0" sz="950" u="none" cap="none" strike="noStrike">
              <a:solidFill>
                <a:schemeClr val="dk1"/>
              </a:solidFill>
              <a:latin typeface="Calibri"/>
              <a:ea typeface="Calibri"/>
              <a:cs typeface="Calibri"/>
              <a:sym typeface="Calibri"/>
            </a:endParaRPr>
          </a:p>
        </p:txBody>
      </p:sp>
      <p:cxnSp>
        <p:nvCxnSpPr>
          <p:cNvPr id="331" name="Google Shape;331;p13"/>
          <p:cNvCxnSpPr/>
          <p:nvPr/>
        </p:nvCxnSpPr>
        <p:spPr>
          <a:xfrm>
            <a:off x="457200" y="6400800"/>
            <a:ext cx="11274552" cy="0"/>
          </a:xfrm>
          <a:prstGeom prst="straightConnector1">
            <a:avLst/>
          </a:prstGeom>
          <a:noFill/>
          <a:ln cap="flat" cmpd="sng" w="12700">
            <a:solidFill>
              <a:srgbClr val="8A8270"/>
            </a:solidFill>
            <a:prstDash val="solid"/>
            <a:round/>
            <a:headEnd len="sm" w="sm" type="none"/>
            <a:tailEnd len="sm" w="sm" type="none"/>
          </a:ln>
        </p:spPr>
      </p:cxnSp>
      <p:sp>
        <p:nvSpPr>
          <p:cNvPr id="332" name="Google Shape;332;p13"/>
          <p:cNvSpPr txBox="1"/>
          <p:nvPr/>
        </p:nvSpPr>
        <p:spPr>
          <a:xfrm>
            <a:off x="457200" y="649224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270"/>
              </a:buClr>
              <a:buSzPts val="850"/>
              <a:buFont typeface="Consolas"/>
              <a:buNone/>
            </a:pPr>
            <a:r>
              <a:rPr b="1" i="0" lang="en-US" sz="850" u="none" cap="none" strike="noStrike">
                <a:solidFill>
                  <a:srgbClr val="8A8270"/>
                </a:solidFill>
                <a:latin typeface="Consolas"/>
                <a:ea typeface="Consolas"/>
                <a:cs typeface="Consolas"/>
                <a:sym typeface="Consolas"/>
              </a:rPr>
              <a:t>.</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6D5"/>
        </a:solidFill>
      </p:bgPr>
    </p:bg>
    <p:spTree>
      <p:nvGrpSpPr>
        <p:cNvPr id="337" name="Shape 337"/>
        <p:cNvGrpSpPr/>
        <p:nvPr/>
      </p:nvGrpSpPr>
      <p:grpSpPr>
        <a:xfrm>
          <a:off x="0" y="0"/>
          <a:ext cx="0" cy="0"/>
          <a:chOff x="0" y="0"/>
          <a:chExt cx="0" cy="0"/>
        </a:xfrm>
      </p:grpSpPr>
      <p:sp>
        <p:nvSpPr>
          <p:cNvPr id="338" name="Google Shape;338;p14"/>
          <p:cNvSpPr txBox="1"/>
          <p:nvPr/>
        </p:nvSpPr>
        <p:spPr>
          <a:xfrm>
            <a:off x="457200" y="3200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1000"/>
              <a:buFont typeface="Consolas"/>
              <a:buNone/>
            </a:pPr>
            <a:r>
              <a:rPr b="1" i="0" lang="en-US" sz="1000" u="none" cap="none" strike="noStrike">
                <a:solidFill>
                  <a:srgbClr val="232323"/>
                </a:solidFill>
                <a:latin typeface="Consolas"/>
                <a:ea typeface="Consolas"/>
                <a:cs typeface="Consolas"/>
                <a:sym typeface="Consolas"/>
              </a:rPr>
              <a:t>THE CALLBACK</a:t>
            </a:r>
            <a:endParaRPr b="0" i="0" sz="1000" u="none" cap="none" strike="noStrike">
              <a:solidFill>
                <a:schemeClr val="dk1"/>
              </a:solidFill>
              <a:latin typeface="Calibri"/>
              <a:ea typeface="Calibri"/>
              <a:cs typeface="Calibri"/>
              <a:sym typeface="Calibri"/>
            </a:endParaRPr>
          </a:p>
        </p:txBody>
      </p:sp>
      <p:sp>
        <p:nvSpPr>
          <p:cNvPr id="339" name="Google Shape;339;p14"/>
          <p:cNvSpPr txBox="1"/>
          <p:nvPr/>
        </p:nvSpPr>
        <p:spPr>
          <a:xfrm>
            <a:off x="7159752" y="320040"/>
            <a:ext cx="45720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32323"/>
              </a:buClr>
              <a:buSzPts val="1000"/>
              <a:buFont typeface="Consolas"/>
              <a:buNone/>
            </a:pPr>
            <a:r>
              <a:rPr b="1" i="0" lang="en-US" sz="1000" u="none" cap="none" strike="noStrike">
                <a:solidFill>
                  <a:srgbClr val="232323"/>
                </a:solidFill>
                <a:latin typeface="Consolas"/>
                <a:ea typeface="Consolas"/>
                <a:cs typeface="Consolas"/>
                <a:sym typeface="Consolas"/>
              </a:rPr>
              <a:t>SAME DISASTERS, DIFFERENT TOOLS</a:t>
            </a:r>
            <a:endParaRPr b="0" i="0" sz="1000" u="none" cap="none" strike="noStrike">
              <a:solidFill>
                <a:schemeClr val="dk1"/>
              </a:solidFill>
              <a:latin typeface="Calibri"/>
              <a:ea typeface="Calibri"/>
              <a:cs typeface="Calibri"/>
              <a:sym typeface="Calibri"/>
            </a:endParaRPr>
          </a:p>
        </p:txBody>
      </p:sp>
      <p:cxnSp>
        <p:nvCxnSpPr>
          <p:cNvPr id="340" name="Google Shape;340;p14"/>
          <p:cNvCxnSpPr/>
          <p:nvPr/>
        </p:nvCxnSpPr>
        <p:spPr>
          <a:xfrm>
            <a:off x="457200" y="685800"/>
            <a:ext cx="11274552" cy="0"/>
          </a:xfrm>
          <a:prstGeom prst="straightConnector1">
            <a:avLst/>
          </a:prstGeom>
          <a:noFill/>
          <a:ln cap="flat" cmpd="sng" w="12700">
            <a:solidFill>
              <a:srgbClr val="232323"/>
            </a:solidFill>
            <a:prstDash val="solid"/>
            <a:round/>
            <a:headEnd len="sm" w="sm" type="none"/>
            <a:tailEnd len="sm" w="sm" type="none"/>
          </a:ln>
        </p:spPr>
      </p:cxnSp>
      <p:sp>
        <p:nvSpPr>
          <p:cNvPr id="341" name="Google Shape;341;p14"/>
          <p:cNvSpPr txBox="1"/>
          <p:nvPr/>
        </p:nvSpPr>
        <p:spPr>
          <a:xfrm>
            <a:off x="457200" y="914400"/>
            <a:ext cx="109728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2400"/>
              <a:buFont typeface="Georgia"/>
              <a:buNone/>
            </a:pPr>
            <a:r>
              <a:rPr b="1" i="0" lang="en-US" sz="2400" u="none" cap="none" strike="noStrike">
                <a:solidFill>
                  <a:srgbClr val="232323"/>
                </a:solidFill>
                <a:latin typeface="Georgia"/>
                <a:ea typeface="Georgia"/>
                <a:cs typeface="Georgia"/>
                <a:sym typeface="Georgia"/>
              </a:rPr>
              <a:t>The same three disasters. </a:t>
            </a:r>
            <a:r>
              <a:rPr b="0" i="1" lang="en-US" sz="2400" u="none" cap="none" strike="noStrike">
                <a:solidFill>
                  <a:srgbClr val="0F6E56"/>
                </a:solidFill>
                <a:latin typeface="Georgia"/>
                <a:ea typeface="Georgia"/>
                <a:cs typeface="Georgia"/>
                <a:sym typeface="Georgia"/>
              </a:rPr>
              <a:t>A different tool in every pocket.</a:t>
            </a:r>
            <a:endParaRPr b="0" i="0" sz="2400" u="none" cap="none" strike="noStrike">
              <a:solidFill>
                <a:schemeClr val="dk1"/>
              </a:solidFill>
              <a:latin typeface="Calibri"/>
              <a:ea typeface="Calibri"/>
              <a:cs typeface="Calibri"/>
              <a:sym typeface="Calibri"/>
            </a:endParaRPr>
          </a:p>
        </p:txBody>
      </p:sp>
      <p:sp>
        <p:nvSpPr>
          <p:cNvPr id="342" name="Google Shape;342;p14"/>
          <p:cNvSpPr txBox="1"/>
          <p:nvPr/>
        </p:nvSpPr>
        <p:spPr>
          <a:xfrm>
            <a:off x="457200" y="160020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270"/>
              </a:buClr>
              <a:buSzPts val="1150"/>
              <a:buFont typeface="Calibri"/>
              <a:buNone/>
            </a:pPr>
            <a:r>
              <a:rPr b="0" i="1" lang="en-US" sz="1150" u="none" cap="none" strike="noStrike">
                <a:solidFill>
                  <a:srgbClr val="8A8270"/>
                </a:solidFill>
                <a:latin typeface="Calibri"/>
                <a:ea typeface="Calibri"/>
                <a:cs typeface="Calibri"/>
                <a:sym typeface="Calibri"/>
              </a:rPr>
              <a:t>Illustrative, not a guarantee — no app can promise outcomes in a real disaster. But every failure on the earlier slide was a communications failure, and that is exactly the layer LifeKeeper targets.</a:t>
            </a:r>
            <a:endParaRPr b="0" i="0" sz="1150" u="none" cap="none" strike="noStrike">
              <a:solidFill>
                <a:schemeClr val="dk1"/>
              </a:solidFill>
              <a:latin typeface="Calibri"/>
              <a:ea typeface="Calibri"/>
              <a:cs typeface="Calibri"/>
              <a:sym typeface="Calibri"/>
            </a:endParaRPr>
          </a:p>
        </p:txBody>
      </p:sp>
      <p:sp>
        <p:nvSpPr>
          <p:cNvPr id="343" name="Google Shape;343;p14"/>
          <p:cNvSpPr/>
          <p:nvPr/>
        </p:nvSpPr>
        <p:spPr>
          <a:xfrm>
            <a:off x="457200" y="2331720"/>
            <a:ext cx="3611880" cy="3657600"/>
          </a:xfrm>
          <a:prstGeom prst="rect">
            <a:avLst/>
          </a:prstGeom>
          <a:solidFill>
            <a:srgbClr val="EEE6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4"/>
          <p:cNvSpPr txBox="1"/>
          <p:nvPr/>
        </p:nvSpPr>
        <p:spPr>
          <a:xfrm>
            <a:off x="640080" y="2468880"/>
            <a:ext cx="32461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950"/>
              <a:buFont typeface="Consolas"/>
              <a:buNone/>
            </a:pPr>
            <a:r>
              <a:rPr b="1" i="0" lang="en-US" sz="950" u="none" cap="none" strike="noStrike">
                <a:solidFill>
                  <a:srgbClr val="232323"/>
                </a:solidFill>
                <a:latin typeface="Consolas"/>
                <a:ea typeface="Consolas"/>
                <a:cs typeface="Consolas"/>
                <a:sym typeface="Consolas"/>
              </a:rPr>
              <a:t>NURDAĞI, TURKEY · FEB 2023</a:t>
            </a:r>
            <a:endParaRPr b="0" i="0" sz="950" u="none" cap="none" strike="noStrike">
              <a:solidFill>
                <a:schemeClr val="dk1"/>
              </a:solidFill>
              <a:latin typeface="Calibri"/>
              <a:ea typeface="Calibri"/>
              <a:cs typeface="Calibri"/>
              <a:sym typeface="Calibri"/>
            </a:endParaRPr>
          </a:p>
        </p:txBody>
      </p:sp>
      <p:sp>
        <p:nvSpPr>
          <p:cNvPr id="345" name="Google Shape;345;p14"/>
          <p:cNvSpPr txBox="1"/>
          <p:nvPr/>
        </p:nvSpPr>
        <p:spPr>
          <a:xfrm>
            <a:off x="640080" y="28346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3B26"/>
              </a:buClr>
              <a:buSzPts val="800"/>
              <a:buFont typeface="Consolas"/>
              <a:buNone/>
            </a:pPr>
            <a:r>
              <a:rPr b="1" i="0" lang="en-US" sz="800" u="none" cap="none" strike="noStrike">
                <a:solidFill>
                  <a:srgbClr val="A33B26"/>
                </a:solidFill>
                <a:latin typeface="Consolas"/>
                <a:ea typeface="Consolas"/>
                <a:cs typeface="Consolas"/>
                <a:sym typeface="Consolas"/>
              </a:rPr>
              <a:t>THEN</a:t>
            </a:r>
            <a:endParaRPr b="0" i="0" sz="800" u="none" cap="none" strike="noStrike">
              <a:solidFill>
                <a:schemeClr val="dk1"/>
              </a:solidFill>
              <a:latin typeface="Calibri"/>
              <a:ea typeface="Calibri"/>
              <a:cs typeface="Calibri"/>
              <a:sym typeface="Calibri"/>
            </a:endParaRPr>
          </a:p>
        </p:txBody>
      </p:sp>
      <p:sp>
        <p:nvSpPr>
          <p:cNvPr id="346" name="Google Shape;346;p14"/>
          <p:cNvSpPr txBox="1"/>
          <p:nvPr/>
        </p:nvSpPr>
        <p:spPr>
          <a:xfrm>
            <a:off x="640080" y="3063240"/>
            <a:ext cx="3246120" cy="10515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323"/>
              </a:buClr>
              <a:buSzPts val="950"/>
              <a:buFont typeface="Calibri"/>
              <a:buNone/>
            </a:pPr>
            <a:r>
              <a:rPr b="0" i="0" lang="en-US" sz="950" u="none" cap="none" strike="noStrike">
                <a:solidFill>
                  <a:srgbClr val="232323"/>
                </a:solidFill>
                <a:latin typeface="Calibri"/>
                <a:ea typeface="Calibri"/>
                <a:cs typeface="Calibri"/>
                <a:sym typeface="Calibri"/>
              </a:rPr>
              <a:t>“We could hear their voices…” — but overwhelmed cell networks slowed locating everyone in time.</a:t>
            </a:r>
            <a:endParaRPr b="0" i="0" sz="950" u="none" cap="none" strike="noStrike">
              <a:solidFill>
                <a:schemeClr val="dk1"/>
              </a:solidFill>
              <a:latin typeface="Calibri"/>
              <a:ea typeface="Calibri"/>
              <a:cs typeface="Calibri"/>
              <a:sym typeface="Calibri"/>
            </a:endParaRPr>
          </a:p>
        </p:txBody>
      </p:sp>
      <p:cxnSp>
        <p:nvCxnSpPr>
          <p:cNvPr id="347" name="Google Shape;347;p14"/>
          <p:cNvCxnSpPr/>
          <p:nvPr/>
        </p:nvCxnSpPr>
        <p:spPr>
          <a:xfrm>
            <a:off x="640080" y="4206240"/>
            <a:ext cx="3246120" cy="0"/>
          </a:xfrm>
          <a:prstGeom prst="straightConnector1">
            <a:avLst/>
          </a:prstGeom>
          <a:noFill/>
          <a:ln cap="flat" cmpd="sng" w="12700">
            <a:solidFill>
              <a:srgbClr val="8A8270"/>
            </a:solidFill>
            <a:prstDash val="solid"/>
            <a:round/>
            <a:headEnd len="sm" w="sm" type="none"/>
            <a:tailEnd len="sm" w="sm" type="none"/>
          </a:ln>
        </p:spPr>
      </p:cxnSp>
      <p:sp>
        <p:nvSpPr>
          <p:cNvPr id="348" name="Google Shape;348;p14"/>
          <p:cNvSpPr txBox="1"/>
          <p:nvPr/>
        </p:nvSpPr>
        <p:spPr>
          <a:xfrm>
            <a:off x="640080" y="4315968"/>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E56"/>
              </a:buClr>
              <a:buSzPts val="800"/>
              <a:buFont typeface="Consolas"/>
              <a:buNone/>
            </a:pPr>
            <a:r>
              <a:rPr b="1" i="0" lang="en-US" sz="800" u="none" cap="none" strike="noStrike">
                <a:solidFill>
                  <a:srgbClr val="0F6E56"/>
                </a:solidFill>
                <a:latin typeface="Consolas"/>
                <a:ea typeface="Consolas"/>
                <a:cs typeface="Consolas"/>
                <a:sym typeface="Consolas"/>
              </a:rPr>
              <a:t>WITH LIFEKEEPER</a:t>
            </a:r>
            <a:endParaRPr b="0" i="0" sz="800" u="none" cap="none" strike="noStrike">
              <a:solidFill>
                <a:schemeClr val="dk1"/>
              </a:solidFill>
              <a:latin typeface="Calibri"/>
              <a:ea typeface="Calibri"/>
              <a:cs typeface="Calibri"/>
              <a:sym typeface="Calibri"/>
            </a:endParaRPr>
          </a:p>
        </p:txBody>
      </p:sp>
      <p:sp>
        <p:nvSpPr>
          <p:cNvPr id="349" name="Google Shape;349;p14"/>
          <p:cNvSpPr txBox="1"/>
          <p:nvPr/>
        </p:nvSpPr>
        <p:spPr>
          <a:xfrm>
            <a:off x="640080" y="4544568"/>
            <a:ext cx="324612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323"/>
              </a:buClr>
              <a:buSzPts val="950"/>
              <a:buFont typeface="Calibri"/>
              <a:buNone/>
            </a:pPr>
            <a:r>
              <a:rPr b="1" lang="en-US" sz="950">
                <a:solidFill>
                  <a:srgbClr val="232323"/>
                </a:solidFill>
                <a:latin typeface="Calibri"/>
                <a:ea typeface="Calibri"/>
                <a:cs typeface="Calibri"/>
                <a:sym typeface="Calibri"/>
              </a:rPr>
              <a:t>The inbuilt map helps the survivors get as close to safehouses as possible, thus making it easier for the rescue team.</a:t>
            </a:r>
            <a:endParaRPr b="1" sz="950">
              <a:solidFill>
                <a:srgbClr val="232323"/>
              </a:solidFill>
              <a:latin typeface="Calibri"/>
              <a:ea typeface="Calibri"/>
              <a:cs typeface="Calibri"/>
              <a:sym typeface="Calibri"/>
            </a:endParaRPr>
          </a:p>
          <a:p>
            <a:pPr indent="0" lvl="0" marL="0" marR="0" rtl="0" algn="l">
              <a:spcBef>
                <a:spcPts val="0"/>
              </a:spcBef>
              <a:spcAft>
                <a:spcPts val="0"/>
              </a:spcAft>
              <a:buClr>
                <a:srgbClr val="232323"/>
              </a:buClr>
              <a:buSzPts val="950"/>
              <a:buFont typeface="Calibri"/>
              <a:buNone/>
            </a:pPr>
            <a:r>
              <a:t/>
            </a:r>
            <a:endParaRPr b="1" sz="950">
              <a:solidFill>
                <a:srgbClr val="232323"/>
              </a:solidFill>
              <a:latin typeface="Calibri"/>
              <a:ea typeface="Calibri"/>
              <a:cs typeface="Calibri"/>
              <a:sym typeface="Calibri"/>
            </a:endParaRPr>
          </a:p>
          <a:p>
            <a:pPr indent="0" lvl="0" marL="0" marR="0" rtl="0" algn="l">
              <a:spcBef>
                <a:spcPts val="0"/>
              </a:spcBef>
              <a:spcAft>
                <a:spcPts val="0"/>
              </a:spcAft>
              <a:buClr>
                <a:srgbClr val="232323"/>
              </a:buClr>
              <a:buSzPts val="950"/>
              <a:buFont typeface="Calibri"/>
              <a:buNone/>
            </a:pPr>
            <a:r>
              <a:t/>
            </a:r>
            <a:endParaRPr b="1" sz="950">
              <a:solidFill>
                <a:srgbClr val="232323"/>
              </a:solidFill>
              <a:latin typeface="Calibri"/>
              <a:ea typeface="Calibri"/>
              <a:cs typeface="Calibri"/>
              <a:sym typeface="Calibri"/>
            </a:endParaRPr>
          </a:p>
          <a:p>
            <a:pPr indent="0" lvl="0" marL="0" marR="0" rtl="0" algn="l">
              <a:spcBef>
                <a:spcPts val="0"/>
              </a:spcBef>
              <a:spcAft>
                <a:spcPts val="0"/>
              </a:spcAft>
              <a:buClr>
                <a:srgbClr val="232323"/>
              </a:buClr>
              <a:buSzPts val="950"/>
              <a:buFont typeface="Calibri"/>
              <a:buNone/>
            </a:pPr>
            <a:r>
              <a:rPr b="1" lang="en-US" sz="950">
                <a:solidFill>
                  <a:srgbClr val="232323"/>
                </a:solidFill>
                <a:latin typeface="Calibri"/>
                <a:ea typeface="Calibri"/>
                <a:cs typeface="Calibri"/>
                <a:sym typeface="Calibri"/>
              </a:rPr>
              <a:t>They also get a sense of </a:t>
            </a:r>
            <a:r>
              <a:rPr b="1" lang="en-US" sz="950">
                <a:solidFill>
                  <a:srgbClr val="232323"/>
                </a:solidFill>
                <a:latin typeface="Calibri"/>
                <a:ea typeface="Calibri"/>
                <a:cs typeface="Calibri"/>
                <a:sym typeface="Calibri"/>
              </a:rPr>
              <a:t>togetherness</a:t>
            </a:r>
            <a:r>
              <a:rPr b="1" lang="en-US" sz="950">
                <a:solidFill>
                  <a:srgbClr val="232323"/>
                </a:solidFill>
                <a:latin typeface="Calibri"/>
                <a:ea typeface="Calibri"/>
                <a:cs typeface="Calibri"/>
                <a:sym typeface="Calibri"/>
              </a:rPr>
              <a:t> and get as much information as possible from the chat rooms, making it easier to think of a way out.</a:t>
            </a:r>
            <a:br>
              <a:rPr b="1" lang="en-US" sz="950">
                <a:solidFill>
                  <a:srgbClr val="232323"/>
                </a:solidFill>
                <a:latin typeface="Calibri"/>
                <a:ea typeface="Calibri"/>
                <a:cs typeface="Calibri"/>
                <a:sym typeface="Calibri"/>
              </a:rPr>
            </a:br>
            <a:endParaRPr b="1" sz="950">
              <a:solidFill>
                <a:srgbClr val="232323"/>
              </a:solidFill>
              <a:latin typeface="Calibri"/>
              <a:ea typeface="Calibri"/>
              <a:cs typeface="Calibri"/>
              <a:sym typeface="Calibri"/>
            </a:endParaRPr>
          </a:p>
          <a:p>
            <a:pPr indent="0" lvl="0" marL="0" marR="0" rtl="0" algn="l">
              <a:spcBef>
                <a:spcPts val="0"/>
              </a:spcBef>
              <a:spcAft>
                <a:spcPts val="0"/>
              </a:spcAft>
              <a:buClr>
                <a:srgbClr val="232323"/>
              </a:buClr>
              <a:buSzPts val="950"/>
              <a:buFont typeface="Calibri"/>
              <a:buNone/>
            </a:pPr>
            <a:r>
              <a:t/>
            </a:r>
            <a:endParaRPr b="1" sz="950">
              <a:solidFill>
                <a:srgbClr val="232323"/>
              </a:solidFill>
              <a:latin typeface="Calibri"/>
              <a:ea typeface="Calibri"/>
              <a:cs typeface="Calibri"/>
              <a:sym typeface="Calibri"/>
            </a:endParaRPr>
          </a:p>
          <a:p>
            <a:pPr indent="0" lvl="0" marL="0" marR="0" rtl="0" algn="l">
              <a:spcBef>
                <a:spcPts val="0"/>
              </a:spcBef>
              <a:spcAft>
                <a:spcPts val="0"/>
              </a:spcAft>
              <a:buClr>
                <a:srgbClr val="232323"/>
              </a:buClr>
              <a:buSzPts val="950"/>
              <a:buFont typeface="Calibri"/>
              <a:buNone/>
            </a:pPr>
            <a:r>
              <a:t/>
            </a:r>
            <a:endParaRPr b="1" sz="950">
              <a:solidFill>
                <a:srgbClr val="232323"/>
              </a:solidFill>
              <a:latin typeface="Calibri"/>
              <a:ea typeface="Calibri"/>
              <a:cs typeface="Calibri"/>
              <a:sym typeface="Calibri"/>
            </a:endParaRPr>
          </a:p>
          <a:p>
            <a:pPr indent="0" lvl="0" marL="0" marR="0" rtl="0" algn="l">
              <a:spcBef>
                <a:spcPts val="0"/>
              </a:spcBef>
              <a:spcAft>
                <a:spcPts val="0"/>
              </a:spcAft>
              <a:buClr>
                <a:srgbClr val="232323"/>
              </a:buClr>
              <a:buSzPts val="950"/>
              <a:buFont typeface="Calibri"/>
              <a:buNone/>
            </a:pPr>
            <a:r>
              <a:t/>
            </a:r>
            <a:endParaRPr b="1" sz="950">
              <a:solidFill>
                <a:srgbClr val="232323"/>
              </a:solidFill>
              <a:latin typeface="Calibri"/>
              <a:ea typeface="Calibri"/>
              <a:cs typeface="Calibri"/>
              <a:sym typeface="Calibri"/>
            </a:endParaRPr>
          </a:p>
          <a:p>
            <a:pPr indent="0" lvl="0" marL="0" marR="0" rtl="0" algn="l">
              <a:spcBef>
                <a:spcPts val="0"/>
              </a:spcBef>
              <a:spcAft>
                <a:spcPts val="0"/>
              </a:spcAft>
              <a:buClr>
                <a:srgbClr val="232323"/>
              </a:buClr>
              <a:buSzPts val="950"/>
              <a:buFont typeface="Calibri"/>
              <a:buNone/>
            </a:pPr>
            <a:r>
              <a:t/>
            </a:r>
            <a:endParaRPr b="1" sz="950">
              <a:solidFill>
                <a:srgbClr val="232323"/>
              </a:solidFill>
              <a:latin typeface="Calibri"/>
              <a:ea typeface="Calibri"/>
              <a:cs typeface="Calibri"/>
              <a:sym typeface="Calibri"/>
            </a:endParaRPr>
          </a:p>
          <a:p>
            <a:pPr indent="0" lvl="0" marL="0" marR="0" rtl="0" algn="l">
              <a:spcBef>
                <a:spcPts val="0"/>
              </a:spcBef>
              <a:spcAft>
                <a:spcPts val="0"/>
              </a:spcAft>
              <a:buClr>
                <a:srgbClr val="232323"/>
              </a:buClr>
              <a:buSzPts val="950"/>
              <a:buFont typeface="Calibri"/>
              <a:buNone/>
            </a:pPr>
            <a:r>
              <a:t/>
            </a:r>
            <a:endParaRPr b="1" sz="950">
              <a:solidFill>
                <a:srgbClr val="232323"/>
              </a:solidFill>
              <a:latin typeface="Calibri"/>
              <a:ea typeface="Calibri"/>
              <a:cs typeface="Calibri"/>
              <a:sym typeface="Calibri"/>
            </a:endParaRPr>
          </a:p>
          <a:p>
            <a:pPr indent="0" lvl="0" marL="0" marR="0" rtl="0" algn="l">
              <a:spcBef>
                <a:spcPts val="0"/>
              </a:spcBef>
              <a:spcAft>
                <a:spcPts val="0"/>
              </a:spcAft>
              <a:buClr>
                <a:srgbClr val="232323"/>
              </a:buClr>
              <a:buSzPts val="950"/>
              <a:buFont typeface="Calibri"/>
              <a:buNone/>
            </a:pPr>
            <a:r>
              <a:t/>
            </a:r>
            <a:endParaRPr b="1" sz="950">
              <a:solidFill>
                <a:srgbClr val="232323"/>
              </a:solidFill>
              <a:latin typeface="Calibri"/>
              <a:ea typeface="Calibri"/>
              <a:cs typeface="Calibri"/>
              <a:sym typeface="Calibri"/>
            </a:endParaRPr>
          </a:p>
          <a:p>
            <a:pPr indent="0" lvl="0" marL="0" marR="0" rtl="0" algn="l">
              <a:spcBef>
                <a:spcPts val="0"/>
              </a:spcBef>
              <a:spcAft>
                <a:spcPts val="0"/>
              </a:spcAft>
              <a:buClr>
                <a:srgbClr val="232323"/>
              </a:buClr>
              <a:buSzPts val="950"/>
              <a:buFont typeface="Calibri"/>
              <a:buNone/>
            </a:pPr>
            <a:r>
              <a:t/>
            </a:r>
            <a:endParaRPr b="1" sz="950">
              <a:solidFill>
                <a:srgbClr val="232323"/>
              </a:solidFill>
              <a:latin typeface="Calibri"/>
              <a:ea typeface="Calibri"/>
              <a:cs typeface="Calibri"/>
              <a:sym typeface="Calibri"/>
            </a:endParaRPr>
          </a:p>
        </p:txBody>
      </p:sp>
      <p:sp>
        <p:nvSpPr>
          <p:cNvPr id="350" name="Google Shape;350;p14"/>
          <p:cNvSpPr/>
          <p:nvPr/>
        </p:nvSpPr>
        <p:spPr>
          <a:xfrm>
            <a:off x="4251960" y="2331720"/>
            <a:ext cx="3611880" cy="3657600"/>
          </a:xfrm>
          <a:prstGeom prst="rect">
            <a:avLst/>
          </a:prstGeom>
          <a:solidFill>
            <a:srgbClr val="EEE6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4"/>
          <p:cNvSpPr txBox="1"/>
          <p:nvPr/>
        </p:nvSpPr>
        <p:spPr>
          <a:xfrm>
            <a:off x="4434840" y="2468880"/>
            <a:ext cx="32461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950"/>
              <a:buFont typeface="Consolas"/>
              <a:buNone/>
            </a:pPr>
            <a:r>
              <a:rPr b="1" lang="en-US" sz="950">
                <a:solidFill>
                  <a:srgbClr val="232323"/>
                </a:solidFill>
                <a:latin typeface="Consolas"/>
                <a:ea typeface="Consolas"/>
                <a:cs typeface="Consolas"/>
                <a:sym typeface="Consolas"/>
              </a:rPr>
              <a:t>PARADISE, CALIFORNIA · NOV 2018 </a:t>
            </a:r>
            <a:endParaRPr b="0" i="0" sz="950" u="none" cap="none" strike="noStrike">
              <a:solidFill>
                <a:schemeClr val="dk1"/>
              </a:solidFill>
              <a:latin typeface="Calibri"/>
              <a:ea typeface="Calibri"/>
              <a:cs typeface="Calibri"/>
              <a:sym typeface="Calibri"/>
            </a:endParaRPr>
          </a:p>
        </p:txBody>
      </p:sp>
      <p:sp>
        <p:nvSpPr>
          <p:cNvPr id="352" name="Google Shape;352;p14"/>
          <p:cNvSpPr txBox="1"/>
          <p:nvPr/>
        </p:nvSpPr>
        <p:spPr>
          <a:xfrm>
            <a:off x="4434840" y="28346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3B26"/>
              </a:buClr>
              <a:buSzPts val="800"/>
              <a:buFont typeface="Consolas"/>
              <a:buNone/>
            </a:pPr>
            <a:r>
              <a:rPr b="1" i="0" lang="en-US" sz="800" u="none" cap="none" strike="noStrike">
                <a:solidFill>
                  <a:srgbClr val="A33B26"/>
                </a:solidFill>
                <a:latin typeface="Consolas"/>
                <a:ea typeface="Consolas"/>
                <a:cs typeface="Consolas"/>
                <a:sym typeface="Consolas"/>
              </a:rPr>
              <a:t>THEN</a:t>
            </a:r>
            <a:endParaRPr b="0" i="0" sz="800" u="none" cap="none" strike="noStrike">
              <a:solidFill>
                <a:schemeClr val="dk1"/>
              </a:solidFill>
              <a:latin typeface="Calibri"/>
              <a:ea typeface="Calibri"/>
              <a:cs typeface="Calibri"/>
              <a:sym typeface="Calibri"/>
            </a:endParaRPr>
          </a:p>
        </p:txBody>
      </p:sp>
      <p:sp>
        <p:nvSpPr>
          <p:cNvPr id="353" name="Google Shape;353;p14"/>
          <p:cNvSpPr txBox="1"/>
          <p:nvPr/>
        </p:nvSpPr>
        <p:spPr>
          <a:xfrm>
            <a:off x="4434840" y="3063240"/>
            <a:ext cx="3246120" cy="10515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323"/>
              </a:buClr>
              <a:buSzPts val="950"/>
              <a:buFont typeface="Calibri"/>
              <a:buNone/>
            </a:pPr>
            <a:r>
              <a:rPr lang="en-US" sz="950">
                <a:solidFill>
                  <a:srgbClr val="232323"/>
                </a:solidFill>
                <a:latin typeface="Calibri"/>
                <a:ea typeface="Calibri"/>
                <a:cs typeface="Calibri"/>
                <a:sym typeface="Calibri"/>
              </a:rPr>
              <a:t>"A single phone-based alert system reached under 30% of residents, then failed further as cell towers burned and lines jammed." </a:t>
            </a:r>
            <a:endParaRPr b="0" i="0" sz="950" u="none" cap="none" strike="noStrike">
              <a:solidFill>
                <a:schemeClr val="dk1"/>
              </a:solidFill>
              <a:latin typeface="Calibri"/>
              <a:ea typeface="Calibri"/>
              <a:cs typeface="Calibri"/>
              <a:sym typeface="Calibri"/>
            </a:endParaRPr>
          </a:p>
        </p:txBody>
      </p:sp>
      <p:cxnSp>
        <p:nvCxnSpPr>
          <p:cNvPr id="354" name="Google Shape;354;p14"/>
          <p:cNvCxnSpPr/>
          <p:nvPr/>
        </p:nvCxnSpPr>
        <p:spPr>
          <a:xfrm>
            <a:off x="4434840" y="4206240"/>
            <a:ext cx="3246120" cy="0"/>
          </a:xfrm>
          <a:prstGeom prst="straightConnector1">
            <a:avLst/>
          </a:prstGeom>
          <a:noFill/>
          <a:ln cap="flat" cmpd="sng" w="12700">
            <a:solidFill>
              <a:srgbClr val="8A8270"/>
            </a:solidFill>
            <a:prstDash val="solid"/>
            <a:round/>
            <a:headEnd len="sm" w="sm" type="none"/>
            <a:tailEnd len="sm" w="sm" type="none"/>
          </a:ln>
        </p:spPr>
      </p:cxnSp>
      <p:sp>
        <p:nvSpPr>
          <p:cNvPr id="355" name="Google Shape;355;p14"/>
          <p:cNvSpPr txBox="1"/>
          <p:nvPr/>
        </p:nvSpPr>
        <p:spPr>
          <a:xfrm>
            <a:off x="4434840" y="4315968"/>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E56"/>
              </a:buClr>
              <a:buSzPts val="800"/>
              <a:buFont typeface="Consolas"/>
              <a:buNone/>
            </a:pPr>
            <a:r>
              <a:rPr b="1" i="0" lang="en-US" sz="800" u="none" cap="none" strike="noStrike">
                <a:solidFill>
                  <a:srgbClr val="0F6E56"/>
                </a:solidFill>
                <a:latin typeface="Consolas"/>
                <a:ea typeface="Consolas"/>
                <a:cs typeface="Consolas"/>
                <a:sym typeface="Consolas"/>
              </a:rPr>
              <a:t>WITH LIFEKEEPER</a:t>
            </a:r>
            <a:endParaRPr b="0" i="0" sz="800" u="none" cap="none" strike="noStrike">
              <a:solidFill>
                <a:schemeClr val="dk1"/>
              </a:solidFill>
              <a:latin typeface="Calibri"/>
              <a:ea typeface="Calibri"/>
              <a:cs typeface="Calibri"/>
              <a:sym typeface="Calibri"/>
            </a:endParaRPr>
          </a:p>
        </p:txBody>
      </p:sp>
      <p:sp>
        <p:nvSpPr>
          <p:cNvPr id="356" name="Google Shape;356;p14"/>
          <p:cNvSpPr txBox="1"/>
          <p:nvPr/>
        </p:nvSpPr>
        <p:spPr>
          <a:xfrm>
            <a:off x="4434840" y="4544568"/>
            <a:ext cx="324612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323"/>
              </a:buClr>
              <a:buSzPts val="950"/>
              <a:buFont typeface="Calibri"/>
              <a:buNone/>
            </a:pPr>
            <a:r>
              <a:rPr b="1" lang="en-US" sz="950">
                <a:solidFill>
                  <a:srgbClr val="232323"/>
                </a:solidFill>
                <a:latin typeface="Calibri"/>
                <a:ea typeface="Calibri"/>
                <a:cs typeface="Calibri"/>
                <a:sym typeface="Calibri"/>
              </a:rPr>
              <a:t>Evacuation alerts propagate phone-to-phone over mesh the instant one neighbor gets word — no dependence on a single vendor's system or a tower still standing.</a:t>
            </a:r>
            <a:endParaRPr b="1" i="0" sz="950" u="none" cap="none" strike="noStrike">
              <a:solidFill>
                <a:srgbClr val="232323"/>
              </a:solidFill>
              <a:latin typeface="Calibri"/>
              <a:ea typeface="Calibri"/>
              <a:cs typeface="Calibri"/>
              <a:sym typeface="Calibri"/>
            </a:endParaRPr>
          </a:p>
          <a:p>
            <a:pPr indent="0" lvl="0" marL="0" marR="0" rtl="0" algn="l">
              <a:spcBef>
                <a:spcPts val="0"/>
              </a:spcBef>
              <a:spcAft>
                <a:spcPts val="0"/>
              </a:spcAft>
              <a:buClr>
                <a:srgbClr val="232323"/>
              </a:buClr>
              <a:buSzPts val="950"/>
              <a:buFont typeface="Calibri"/>
              <a:buNone/>
            </a:pPr>
            <a:r>
              <a:t/>
            </a:r>
            <a:endParaRPr b="1" sz="950">
              <a:solidFill>
                <a:srgbClr val="232323"/>
              </a:solidFill>
              <a:latin typeface="Calibri"/>
              <a:ea typeface="Calibri"/>
              <a:cs typeface="Calibri"/>
              <a:sym typeface="Calibri"/>
            </a:endParaRPr>
          </a:p>
          <a:p>
            <a:pPr indent="0" lvl="0" marL="0" marR="0" rtl="0" algn="l">
              <a:spcBef>
                <a:spcPts val="0"/>
              </a:spcBef>
              <a:spcAft>
                <a:spcPts val="0"/>
              </a:spcAft>
              <a:buClr>
                <a:srgbClr val="232323"/>
              </a:buClr>
              <a:buSzPts val="950"/>
              <a:buFont typeface="Calibri"/>
              <a:buNone/>
            </a:pPr>
            <a:r>
              <a:rPr b="1" lang="en-US" sz="950">
                <a:solidFill>
                  <a:srgbClr val="232323"/>
                </a:solidFill>
                <a:latin typeface="Calibri"/>
                <a:ea typeface="Calibri"/>
                <a:cs typeface="Calibri"/>
                <a:sym typeface="Calibri"/>
              </a:rPr>
              <a:t>This system is more efficient in relaying the information among the affected.The homeowners can also coordinate amongst themselves to manage food supply and other </a:t>
            </a:r>
            <a:r>
              <a:rPr b="1" lang="en-US" sz="950">
                <a:solidFill>
                  <a:srgbClr val="232323"/>
                </a:solidFill>
                <a:latin typeface="Calibri"/>
                <a:ea typeface="Calibri"/>
                <a:cs typeface="Calibri"/>
                <a:sym typeface="Calibri"/>
              </a:rPr>
              <a:t>necessities.</a:t>
            </a:r>
            <a:endParaRPr b="1" sz="950">
              <a:solidFill>
                <a:srgbClr val="232323"/>
              </a:solidFill>
              <a:latin typeface="Calibri"/>
              <a:ea typeface="Calibri"/>
              <a:cs typeface="Calibri"/>
              <a:sym typeface="Calibri"/>
            </a:endParaRPr>
          </a:p>
        </p:txBody>
      </p:sp>
      <p:sp>
        <p:nvSpPr>
          <p:cNvPr id="357" name="Google Shape;357;p14"/>
          <p:cNvSpPr/>
          <p:nvPr/>
        </p:nvSpPr>
        <p:spPr>
          <a:xfrm>
            <a:off x="8046720" y="2331720"/>
            <a:ext cx="3611880" cy="3657600"/>
          </a:xfrm>
          <a:prstGeom prst="rect">
            <a:avLst/>
          </a:prstGeom>
          <a:solidFill>
            <a:srgbClr val="EEE6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4"/>
          <p:cNvSpPr txBox="1"/>
          <p:nvPr/>
        </p:nvSpPr>
        <p:spPr>
          <a:xfrm>
            <a:off x="8229600" y="2468880"/>
            <a:ext cx="32461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950"/>
              <a:buFont typeface="Consolas"/>
              <a:buNone/>
            </a:pPr>
            <a:r>
              <a:rPr b="1" i="0" lang="en-US" sz="950" u="none" cap="none" strike="noStrike">
                <a:solidFill>
                  <a:srgbClr val="232323"/>
                </a:solidFill>
                <a:latin typeface="Consolas"/>
                <a:ea typeface="Consolas"/>
                <a:cs typeface="Consolas"/>
                <a:sym typeface="Consolas"/>
              </a:rPr>
              <a:t>KERALA FLOODS, INDIA · 2018</a:t>
            </a:r>
            <a:endParaRPr b="0" i="0" sz="950" u="none" cap="none" strike="noStrike">
              <a:solidFill>
                <a:schemeClr val="dk1"/>
              </a:solidFill>
              <a:latin typeface="Calibri"/>
              <a:ea typeface="Calibri"/>
              <a:cs typeface="Calibri"/>
              <a:sym typeface="Calibri"/>
            </a:endParaRPr>
          </a:p>
        </p:txBody>
      </p:sp>
      <p:sp>
        <p:nvSpPr>
          <p:cNvPr id="359" name="Google Shape;359;p14"/>
          <p:cNvSpPr txBox="1"/>
          <p:nvPr/>
        </p:nvSpPr>
        <p:spPr>
          <a:xfrm>
            <a:off x="8229600" y="28346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3B26"/>
              </a:buClr>
              <a:buSzPts val="800"/>
              <a:buFont typeface="Consolas"/>
              <a:buNone/>
            </a:pPr>
            <a:r>
              <a:rPr b="1" i="0" lang="en-US" sz="800" u="none" cap="none" strike="noStrike">
                <a:solidFill>
                  <a:srgbClr val="A33B26"/>
                </a:solidFill>
                <a:latin typeface="Consolas"/>
                <a:ea typeface="Consolas"/>
                <a:cs typeface="Consolas"/>
                <a:sym typeface="Consolas"/>
              </a:rPr>
              <a:t>THEN</a:t>
            </a:r>
            <a:endParaRPr b="0" i="0" sz="800" u="none" cap="none" strike="noStrike">
              <a:solidFill>
                <a:schemeClr val="dk1"/>
              </a:solidFill>
              <a:latin typeface="Calibri"/>
              <a:ea typeface="Calibri"/>
              <a:cs typeface="Calibri"/>
              <a:sym typeface="Calibri"/>
            </a:endParaRPr>
          </a:p>
        </p:txBody>
      </p:sp>
      <p:sp>
        <p:nvSpPr>
          <p:cNvPr id="360" name="Google Shape;360;p14"/>
          <p:cNvSpPr txBox="1"/>
          <p:nvPr/>
        </p:nvSpPr>
        <p:spPr>
          <a:xfrm>
            <a:off x="8229600" y="3063240"/>
            <a:ext cx="3246120" cy="10515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323"/>
              </a:buClr>
              <a:buSzPts val="950"/>
              <a:buFont typeface="Calibri"/>
              <a:buNone/>
            </a:pPr>
            <a:r>
              <a:rPr b="0" i="0" lang="en-US" sz="950" u="none" cap="none" strike="noStrike">
                <a:solidFill>
                  <a:srgbClr val="232323"/>
                </a:solidFill>
                <a:latin typeface="Calibri"/>
                <a:ea typeface="Calibri"/>
                <a:cs typeface="Calibri"/>
                <a:sym typeface="Calibri"/>
              </a:rPr>
              <a:t>Telephone and mobile networks failed, making it “difficult to deal with requests for help and coordinate rescue efforts.”</a:t>
            </a:r>
            <a:endParaRPr b="0" i="0" sz="950" u="none" cap="none" strike="noStrike">
              <a:solidFill>
                <a:schemeClr val="dk1"/>
              </a:solidFill>
              <a:latin typeface="Calibri"/>
              <a:ea typeface="Calibri"/>
              <a:cs typeface="Calibri"/>
              <a:sym typeface="Calibri"/>
            </a:endParaRPr>
          </a:p>
        </p:txBody>
      </p:sp>
      <p:cxnSp>
        <p:nvCxnSpPr>
          <p:cNvPr id="361" name="Google Shape;361;p14"/>
          <p:cNvCxnSpPr/>
          <p:nvPr/>
        </p:nvCxnSpPr>
        <p:spPr>
          <a:xfrm>
            <a:off x="8229600" y="4206240"/>
            <a:ext cx="3246120" cy="0"/>
          </a:xfrm>
          <a:prstGeom prst="straightConnector1">
            <a:avLst/>
          </a:prstGeom>
          <a:noFill/>
          <a:ln cap="flat" cmpd="sng" w="12700">
            <a:solidFill>
              <a:srgbClr val="8A8270"/>
            </a:solidFill>
            <a:prstDash val="solid"/>
            <a:round/>
            <a:headEnd len="sm" w="sm" type="none"/>
            <a:tailEnd len="sm" w="sm" type="none"/>
          </a:ln>
        </p:spPr>
      </p:cxnSp>
      <p:sp>
        <p:nvSpPr>
          <p:cNvPr id="362" name="Google Shape;362;p14"/>
          <p:cNvSpPr txBox="1"/>
          <p:nvPr/>
        </p:nvSpPr>
        <p:spPr>
          <a:xfrm>
            <a:off x="8229600" y="4315968"/>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E56"/>
              </a:buClr>
              <a:buSzPts val="800"/>
              <a:buFont typeface="Consolas"/>
              <a:buNone/>
            </a:pPr>
            <a:r>
              <a:rPr b="1" i="0" lang="en-US" sz="800" u="none" cap="none" strike="noStrike">
                <a:solidFill>
                  <a:srgbClr val="0F6E56"/>
                </a:solidFill>
                <a:latin typeface="Consolas"/>
                <a:ea typeface="Consolas"/>
                <a:cs typeface="Consolas"/>
                <a:sym typeface="Consolas"/>
              </a:rPr>
              <a:t>WITH LIFEKEEPER</a:t>
            </a:r>
            <a:endParaRPr b="0" i="0" sz="800" u="none" cap="none" strike="noStrike">
              <a:solidFill>
                <a:schemeClr val="dk1"/>
              </a:solidFill>
              <a:latin typeface="Calibri"/>
              <a:ea typeface="Calibri"/>
              <a:cs typeface="Calibri"/>
              <a:sym typeface="Calibri"/>
            </a:endParaRPr>
          </a:p>
        </p:txBody>
      </p:sp>
      <p:sp>
        <p:nvSpPr>
          <p:cNvPr id="363" name="Google Shape;363;p14"/>
          <p:cNvSpPr txBox="1"/>
          <p:nvPr/>
        </p:nvSpPr>
        <p:spPr>
          <a:xfrm>
            <a:off x="8229600" y="4544568"/>
            <a:ext cx="324612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323"/>
              </a:buClr>
              <a:buSzPts val="950"/>
              <a:buFont typeface="Calibri"/>
              <a:buNone/>
            </a:pPr>
            <a:r>
              <a:rPr b="1" i="0" lang="en-US" sz="950" u="none" cap="none" strike="noStrike">
                <a:solidFill>
                  <a:srgbClr val="232323"/>
                </a:solidFill>
                <a:latin typeface="Calibri"/>
                <a:ea typeface="Calibri"/>
                <a:cs typeface="Calibri"/>
                <a:sym typeface="Calibri"/>
              </a:rPr>
              <a:t>Volunteers and NDRF teams share one synced offline incident log over mesh, instead of jammed helplines and scattered WhatsApp threads.</a:t>
            </a:r>
            <a:endParaRPr b="1" i="0" sz="950" u="none" cap="none" strike="noStrike">
              <a:solidFill>
                <a:srgbClr val="232323"/>
              </a:solidFill>
              <a:latin typeface="Calibri"/>
              <a:ea typeface="Calibri"/>
              <a:cs typeface="Calibri"/>
              <a:sym typeface="Calibri"/>
            </a:endParaRPr>
          </a:p>
          <a:p>
            <a:pPr indent="0" lvl="0" marL="0" marR="0" rtl="0" algn="l">
              <a:spcBef>
                <a:spcPts val="0"/>
              </a:spcBef>
              <a:spcAft>
                <a:spcPts val="0"/>
              </a:spcAft>
              <a:buClr>
                <a:srgbClr val="232323"/>
              </a:buClr>
              <a:buSzPts val="950"/>
              <a:buFont typeface="Calibri"/>
              <a:buNone/>
            </a:pPr>
            <a:r>
              <a:t/>
            </a:r>
            <a:endParaRPr b="1" sz="950">
              <a:solidFill>
                <a:srgbClr val="232323"/>
              </a:solidFill>
              <a:latin typeface="Calibri"/>
              <a:ea typeface="Calibri"/>
              <a:cs typeface="Calibri"/>
              <a:sym typeface="Calibri"/>
            </a:endParaRPr>
          </a:p>
          <a:p>
            <a:pPr indent="0" lvl="0" marL="0" marR="0" rtl="0" algn="l">
              <a:spcBef>
                <a:spcPts val="0"/>
              </a:spcBef>
              <a:spcAft>
                <a:spcPts val="0"/>
              </a:spcAft>
              <a:buClr>
                <a:srgbClr val="232323"/>
              </a:buClr>
              <a:buSzPts val="950"/>
              <a:buFont typeface="Calibri"/>
              <a:buNone/>
            </a:pPr>
            <a:r>
              <a:rPr b="1" lang="en-US" sz="950">
                <a:solidFill>
                  <a:srgbClr val="232323"/>
                </a:solidFill>
                <a:latin typeface="Calibri"/>
                <a:ea typeface="Calibri"/>
                <a:cs typeface="Calibri"/>
                <a:sym typeface="Calibri"/>
              </a:rPr>
              <a:t>The logs also help survivors understand the situation better thus </a:t>
            </a:r>
            <a:r>
              <a:rPr b="1" lang="en-US" sz="950">
                <a:solidFill>
                  <a:srgbClr val="232323"/>
                </a:solidFill>
                <a:latin typeface="Calibri"/>
                <a:ea typeface="Calibri"/>
                <a:cs typeface="Calibri"/>
                <a:sym typeface="Calibri"/>
              </a:rPr>
              <a:t>relieving</a:t>
            </a:r>
            <a:r>
              <a:rPr b="1" lang="en-US" sz="950">
                <a:solidFill>
                  <a:srgbClr val="232323"/>
                </a:solidFill>
                <a:latin typeface="Calibri"/>
                <a:ea typeface="Calibri"/>
                <a:cs typeface="Calibri"/>
                <a:sym typeface="Calibri"/>
              </a:rPr>
              <a:t> them from some stress and making the situation more </a:t>
            </a:r>
            <a:r>
              <a:rPr b="1" lang="en-US" sz="950">
                <a:solidFill>
                  <a:srgbClr val="232323"/>
                </a:solidFill>
                <a:latin typeface="Calibri"/>
                <a:ea typeface="Calibri"/>
                <a:cs typeface="Calibri"/>
                <a:sym typeface="Calibri"/>
              </a:rPr>
              <a:t>manageable</a:t>
            </a:r>
            <a:r>
              <a:rPr b="1" lang="en-US" sz="950">
                <a:solidFill>
                  <a:srgbClr val="232323"/>
                </a:solidFill>
                <a:latin typeface="Calibri"/>
                <a:ea typeface="Calibri"/>
                <a:cs typeface="Calibri"/>
                <a:sym typeface="Calibri"/>
              </a:rPr>
              <a:t>, thus reducing the overall anxiety and fear</a:t>
            </a:r>
            <a:endParaRPr b="1" sz="950">
              <a:solidFill>
                <a:srgbClr val="232323"/>
              </a:solidFill>
              <a:latin typeface="Calibri"/>
              <a:ea typeface="Calibri"/>
              <a:cs typeface="Calibri"/>
              <a:sym typeface="Calibri"/>
            </a:endParaRPr>
          </a:p>
        </p:txBody>
      </p:sp>
      <p:cxnSp>
        <p:nvCxnSpPr>
          <p:cNvPr id="364" name="Google Shape;364;p14"/>
          <p:cNvCxnSpPr/>
          <p:nvPr/>
        </p:nvCxnSpPr>
        <p:spPr>
          <a:xfrm>
            <a:off x="457200" y="6400800"/>
            <a:ext cx="11274552" cy="0"/>
          </a:xfrm>
          <a:prstGeom prst="straightConnector1">
            <a:avLst/>
          </a:prstGeom>
          <a:noFill/>
          <a:ln cap="flat" cmpd="sng" w="12700">
            <a:solidFill>
              <a:srgbClr val="8A8270"/>
            </a:solidFill>
            <a:prstDash val="solid"/>
            <a:round/>
            <a:headEnd len="sm" w="sm" type="none"/>
            <a:tailEnd len="sm" w="sm" type="none"/>
          </a:ln>
        </p:spPr>
      </p:cxnSp>
      <p:sp>
        <p:nvSpPr>
          <p:cNvPr id="365" name="Google Shape;365;p14"/>
          <p:cNvSpPr txBox="1"/>
          <p:nvPr/>
        </p:nvSpPr>
        <p:spPr>
          <a:xfrm>
            <a:off x="457200" y="649224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270"/>
              </a:buClr>
              <a:buSzPts val="850"/>
              <a:buFont typeface="Consolas"/>
              <a:buNone/>
            </a:pPr>
            <a:r>
              <a:rPr b="1" i="0" lang="en-US" sz="850" u="none" cap="none" strike="noStrike">
                <a:solidFill>
                  <a:srgbClr val="8A8270"/>
                </a:solidFill>
                <a:latin typeface="Consolas"/>
                <a:ea typeface="Consolas"/>
                <a:cs typeface="Consolas"/>
                <a:sym typeface="Consolas"/>
              </a:rPr>
              <a:t>WE CAN'T RERUN 2023 OR 2018. WE CAN MAKE SURE THE NEXT ONE ISN'T DECIDED BY WHETHER A TOWER SURVIVED.</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6D5"/>
        </a:solidFill>
      </p:bgPr>
    </p:bg>
    <p:spTree>
      <p:nvGrpSpPr>
        <p:cNvPr id="370" name="Shape 370"/>
        <p:cNvGrpSpPr/>
        <p:nvPr/>
      </p:nvGrpSpPr>
      <p:grpSpPr>
        <a:xfrm>
          <a:off x="0" y="0"/>
          <a:ext cx="0" cy="0"/>
          <a:chOff x="0" y="0"/>
          <a:chExt cx="0" cy="0"/>
        </a:xfrm>
      </p:grpSpPr>
      <p:sp>
        <p:nvSpPr>
          <p:cNvPr id="371" name="Google Shape;371;p15"/>
          <p:cNvSpPr txBox="1"/>
          <p:nvPr/>
        </p:nvSpPr>
        <p:spPr>
          <a:xfrm>
            <a:off x="457200" y="3200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1000"/>
              <a:buFont typeface="Consolas"/>
              <a:buNone/>
            </a:pPr>
            <a:r>
              <a:rPr b="1" i="0" lang="en-US" sz="1000" u="none" cap="none" strike="noStrike">
                <a:solidFill>
                  <a:srgbClr val="232323"/>
                </a:solidFill>
                <a:latin typeface="Consolas"/>
                <a:ea typeface="Consolas"/>
                <a:cs typeface="Consolas"/>
                <a:sym typeface="Consolas"/>
              </a:rPr>
              <a:t>WHERE IT LANDS &amp; WHO CARRIES IT</a:t>
            </a:r>
            <a:endParaRPr b="0" i="0" sz="1000" u="none" cap="none" strike="noStrike">
              <a:solidFill>
                <a:schemeClr val="dk1"/>
              </a:solidFill>
              <a:latin typeface="Calibri"/>
              <a:ea typeface="Calibri"/>
              <a:cs typeface="Calibri"/>
              <a:sym typeface="Calibri"/>
            </a:endParaRPr>
          </a:p>
        </p:txBody>
      </p:sp>
      <p:sp>
        <p:nvSpPr>
          <p:cNvPr id="372" name="Google Shape;372;p15"/>
          <p:cNvSpPr txBox="1"/>
          <p:nvPr/>
        </p:nvSpPr>
        <p:spPr>
          <a:xfrm>
            <a:off x="7159752" y="320040"/>
            <a:ext cx="45720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32323"/>
              </a:buClr>
              <a:buSzPts val="1000"/>
              <a:buFont typeface="Consolas"/>
              <a:buNone/>
            </a:pPr>
            <a:r>
              <a:rPr b="1" i="0" lang="en-US" sz="1000" u="none" cap="none" strike="noStrike">
                <a:solidFill>
                  <a:srgbClr val="232323"/>
                </a:solidFill>
                <a:latin typeface="Consolas"/>
                <a:ea typeface="Consolas"/>
                <a:cs typeface="Consolas"/>
                <a:sym typeface="Consolas"/>
              </a:rPr>
              <a:t>TEAM · IMPACT</a:t>
            </a:r>
            <a:endParaRPr b="0" i="0" sz="1000" u="none" cap="none" strike="noStrike">
              <a:solidFill>
                <a:schemeClr val="dk1"/>
              </a:solidFill>
              <a:latin typeface="Calibri"/>
              <a:ea typeface="Calibri"/>
              <a:cs typeface="Calibri"/>
              <a:sym typeface="Calibri"/>
            </a:endParaRPr>
          </a:p>
        </p:txBody>
      </p:sp>
      <p:cxnSp>
        <p:nvCxnSpPr>
          <p:cNvPr id="373" name="Google Shape;373;p15"/>
          <p:cNvCxnSpPr/>
          <p:nvPr/>
        </p:nvCxnSpPr>
        <p:spPr>
          <a:xfrm>
            <a:off x="457200" y="685800"/>
            <a:ext cx="11274552" cy="0"/>
          </a:xfrm>
          <a:prstGeom prst="straightConnector1">
            <a:avLst/>
          </a:prstGeom>
          <a:noFill/>
          <a:ln cap="flat" cmpd="sng" w="12700">
            <a:solidFill>
              <a:srgbClr val="232323"/>
            </a:solidFill>
            <a:prstDash val="solid"/>
            <a:round/>
            <a:headEnd len="sm" w="sm" type="none"/>
            <a:tailEnd len="sm" w="sm" type="none"/>
          </a:ln>
        </p:spPr>
      </p:cxnSp>
      <p:sp>
        <p:nvSpPr>
          <p:cNvPr id="374" name="Google Shape;374;p15"/>
          <p:cNvSpPr txBox="1"/>
          <p:nvPr/>
        </p:nvSpPr>
        <p:spPr>
          <a:xfrm>
            <a:off x="457200" y="914400"/>
            <a:ext cx="914400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2800"/>
              <a:buFont typeface="Georgia"/>
              <a:buNone/>
            </a:pPr>
            <a:r>
              <a:rPr b="1" i="0" lang="en-US" sz="2800" u="none" cap="none" strike="noStrike">
                <a:solidFill>
                  <a:srgbClr val="232323"/>
                </a:solidFill>
                <a:latin typeface="Georgia"/>
                <a:ea typeface="Georgia"/>
                <a:cs typeface="Georgia"/>
                <a:sym typeface="Georgia"/>
              </a:rPr>
              <a:t>Five people.</a:t>
            </a:r>
            <a:endParaRPr b="0" i="0" sz="2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32323"/>
              </a:buClr>
              <a:buSzPts val="2800"/>
              <a:buFont typeface="Georgia"/>
              <a:buNone/>
            </a:pPr>
            <a:r>
              <a:rPr b="1" i="0" lang="en-US" sz="2800" u="none" cap="none" strike="noStrike">
                <a:solidFill>
                  <a:srgbClr val="232323"/>
                </a:solidFill>
                <a:latin typeface="Georgia"/>
                <a:ea typeface="Georgia"/>
                <a:cs typeface="Georgia"/>
                <a:sym typeface="Georgia"/>
              </a:rPr>
              <a:t>Five </a:t>
            </a:r>
            <a:endParaRPr b="0" i="0" sz="2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F6E56"/>
              </a:buClr>
              <a:buSzPts val="2800"/>
              <a:buFont typeface="Georgia"/>
              <a:buNone/>
            </a:pPr>
            <a:r>
              <a:rPr b="0" i="1" lang="en-US" sz="2800" u="none" cap="none" strike="noStrike">
                <a:solidFill>
                  <a:srgbClr val="0F6E56"/>
                </a:solidFill>
                <a:latin typeface="Georgia"/>
                <a:ea typeface="Georgia"/>
                <a:cs typeface="Georgia"/>
                <a:sym typeface="Georgia"/>
              </a:rPr>
              <a:t>places</a:t>
            </a:r>
            <a:r>
              <a:rPr b="1" i="0" lang="en-US" sz="2800" u="none" cap="none" strike="noStrike">
                <a:solidFill>
                  <a:srgbClr val="232323"/>
                </a:solidFill>
                <a:latin typeface="Georgia"/>
                <a:ea typeface="Georgia"/>
                <a:cs typeface="Georgia"/>
                <a:sym typeface="Georgia"/>
              </a:rPr>
              <a:t> it has to </a:t>
            </a:r>
            <a:r>
              <a:rPr b="0" i="1" lang="en-US" sz="2800" u="none" cap="none" strike="noStrike">
                <a:solidFill>
                  <a:srgbClr val="B3261E"/>
                </a:solidFill>
                <a:latin typeface="Georgia"/>
                <a:ea typeface="Georgia"/>
                <a:cs typeface="Georgia"/>
                <a:sym typeface="Georgia"/>
              </a:rPr>
              <a:t>matter</a:t>
            </a:r>
            <a:r>
              <a:rPr b="1" i="0" lang="en-US" sz="2800" u="none" cap="none" strike="noStrike">
                <a:solidFill>
                  <a:srgbClr val="232323"/>
                </a:solidFill>
                <a:latin typeface="Georgia"/>
                <a:ea typeface="Georgia"/>
                <a:cs typeface="Georgia"/>
                <a:sym typeface="Georgia"/>
              </a:rPr>
              <a:t>.</a:t>
            </a:r>
            <a:endParaRPr b="0" i="0" sz="2800" u="none" cap="none" strike="noStrike">
              <a:solidFill>
                <a:schemeClr val="dk1"/>
              </a:solidFill>
              <a:latin typeface="Calibri"/>
              <a:ea typeface="Calibri"/>
              <a:cs typeface="Calibri"/>
              <a:sym typeface="Calibri"/>
            </a:endParaRPr>
          </a:p>
        </p:txBody>
      </p:sp>
      <p:sp>
        <p:nvSpPr>
          <p:cNvPr id="375" name="Google Shape;375;p15"/>
          <p:cNvSpPr txBox="1"/>
          <p:nvPr/>
        </p:nvSpPr>
        <p:spPr>
          <a:xfrm>
            <a:off x="457200" y="265176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270"/>
              </a:buClr>
              <a:buSzPts val="1000"/>
              <a:buFont typeface="Consolas"/>
              <a:buNone/>
            </a:pPr>
            <a:r>
              <a:rPr b="1" i="0" lang="en-US" sz="1000" u="none" cap="none" strike="noStrike">
                <a:solidFill>
                  <a:srgbClr val="8A8270"/>
                </a:solidFill>
                <a:latin typeface="Consolas"/>
                <a:ea typeface="Consolas"/>
                <a:cs typeface="Consolas"/>
                <a:sym typeface="Consolas"/>
              </a:rPr>
              <a:t>THE TEAM</a:t>
            </a:r>
            <a:endParaRPr b="0" i="0" sz="1000" u="none" cap="none" strike="noStrike">
              <a:solidFill>
                <a:schemeClr val="dk1"/>
              </a:solidFill>
              <a:latin typeface="Calibri"/>
              <a:ea typeface="Calibri"/>
              <a:cs typeface="Calibri"/>
              <a:sym typeface="Calibri"/>
            </a:endParaRPr>
          </a:p>
        </p:txBody>
      </p:sp>
      <p:sp>
        <p:nvSpPr>
          <p:cNvPr id="376" name="Google Shape;376;p15"/>
          <p:cNvSpPr/>
          <p:nvPr/>
        </p:nvSpPr>
        <p:spPr>
          <a:xfrm>
            <a:off x="457200" y="2971800"/>
            <a:ext cx="4206240" cy="713232"/>
          </a:xfrm>
          <a:prstGeom prst="rect">
            <a:avLst/>
          </a:prstGeom>
          <a:solidFill>
            <a:srgbClr val="0F6E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5"/>
          <p:cNvSpPr txBox="1"/>
          <p:nvPr/>
        </p:nvSpPr>
        <p:spPr>
          <a:xfrm>
            <a:off x="594360" y="3017520"/>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1400"/>
              <a:buFont typeface="Georgia"/>
              <a:buNone/>
            </a:pPr>
            <a:r>
              <a:rPr b="1" i="0" lang="en-US" sz="1400" u="none" cap="none" strike="noStrike">
                <a:solidFill>
                  <a:srgbClr val="F3EEDF"/>
                </a:solidFill>
                <a:latin typeface="Georgia"/>
                <a:ea typeface="Georgia"/>
                <a:cs typeface="Georgia"/>
                <a:sym typeface="Georgia"/>
              </a:rPr>
              <a:t>Dhruv</a:t>
            </a:r>
            <a:endParaRPr b="0" i="0" sz="1400" u="none" cap="none" strike="noStrike">
              <a:solidFill>
                <a:schemeClr val="dk1"/>
              </a:solidFill>
              <a:latin typeface="Calibri"/>
              <a:ea typeface="Calibri"/>
              <a:cs typeface="Calibri"/>
              <a:sym typeface="Calibri"/>
            </a:endParaRPr>
          </a:p>
        </p:txBody>
      </p:sp>
      <p:sp>
        <p:nvSpPr>
          <p:cNvPr id="378" name="Google Shape;378;p15"/>
          <p:cNvSpPr txBox="1"/>
          <p:nvPr/>
        </p:nvSpPr>
        <p:spPr>
          <a:xfrm>
            <a:off x="594360" y="3273552"/>
            <a:ext cx="39319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700"/>
              <a:buFont typeface="Consolas"/>
              <a:buNone/>
            </a:pPr>
            <a:r>
              <a:rPr b="1" i="0" lang="en-US" sz="700" u="none" cap="none" strike="noStrike">
                <a:solidFill>
                  <a:srgbClr val="F3EEDF"/>
                </a:solidFill>
                <a:latin typeface="Consolas"/>
                <a:ea typeface="Consolas"/>
                <a:cs typeface="Consolas"/>
                <a:sym typeface="Consolas"/>
              </a:rPr>
              <a:t>BACKEND &amp; SYNC ENGINEER</a:t>
            </a:r>
            <a:endParaRPr b="0" i="0" sz="700" u="none" cap="none" strike="noStrike">
              <a:solidFill>
                <a:schemeClr val="dk1"/>
              </a:solidFill>
              <a:latin typeface="Calibri"/>
              <a:ea typeface="Calibri"/>
              <a:cs typeface="Calibri"/>
              <a:sym typeface="Calibri"/>
            </a:endParaRPr>
          </a:p>
        </p:txBody>
      </p:sp>
      <p:sp>
        <p:nvSpPr>
          <p:cNvPr id="379" name="Google Shape;379;p15"/>
          <p:cNvSpPr txBox="1"/>
          <p:nvPr/>
        </p:nvSpPr>
        <p:spPr>
          <a:xfrm>
            <a:off x="594360" y="3447288"/>
            <a:ext cx="39319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850"/>
              <a:buFont typeface="Calibri"/>
              <a:buNone/>
            </a:pPr>
            <a:r>
              <a:rPr b="0" i="0" lang="en-US" sz="850" u="none" cap="none" strike="noStrike">
                <a:solidFill>
                  <a:srgbClr val="F3EEDF"/>
                </a:solidFill>
                <a:latin typeface="Calibri"/>
                <a:ea typeface="Calibri"/>
                <a:cs typeface="Calibri"/>
                <a:sym typeface="Calibri"/>
              </a:rPr>
              <a:t>Peer-to-peer sync, CRDTs, log storage.</a:t>
            </a:r>
            <a:endParaRPr b="0" i="0" sz="850" u="none" cap="none" strike="noStrike">
              <a:solidFill>
                <a:schemeClr val="dk1"/>
              </a:solidFill>
              <a:latin typeface="Calibri"/>
              <a:ea typeface="Calibri"/>
              <a:cs typeface="Calibri"/>
              <a:sym typeface="Calibri"/>
            </a:endParaRPr>
          </a:p>
        </p:txBody>
      </p:sp>
      <p:sp>
        <p:nvSpPr>
          <p:cNvPr id="380" name="Google Shape;380;p15"/>
          <p:cNvSpPr/>
          <p:nvPr/>
        </p:nvSpPr>
        <p:spPr>
          <a:xfrm>
            <a:off x="457200" y="3730752"/>
            <a:ext cx="4206240" cy="713232"/>
          </a:xfrm>
          <a:prstGeom prst="rect">
            <a:avLst/>
          </a:prstGeom>
          <a:solidFill>
            <a:srgbClr val="EEE6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5"/>
          <p:cNvSpPr txBox="1"/>
          <p:nvPr/>
        </p:nvSpPr>
        <p:spPr>
          <a:xfrm>
            <a:off x="594360" y="3776472"/>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1400"/>
              <a:buFont typeface="Georgia"/>
              <a:buNone/>
            </a:pPr>
            <a:r>
              <a:rPr b="1" i="0" lang="en-US" sz="1400" u="none" cap="none" strike="noStrike">
                <a:solidFill>
                  <a:srgbClr val="232323"/>
                </a:solidFill>
                <a:latin typeface="Georgia"/>
                <a:ea typeface="Georgia"/>
                <a:cs typeface="Georgia"/>
                <a:sym typeface="Georgia"/>
              </a:rPr>
              <a:t>Prateek</a:t>
            </a:r>
            <a:endParaRPr b="0" i="0" sz="1400" u="none" cap="none" strike="noStrike">
              <a:solidFill>
                <a:schemeClr val="dk1"/>
              </a:solidFill>
              <a:latin typeface="Calibri"/>
              <a:ea typeface="Calibri"/>
              <a:cs typeface="Calibri"/>
              <a:sym typeface="Calibri"/>
            </a:endParaRPr>
          </a:p>
        </p:txBody>
      </p:sp>
      <p:sp>
        <p:nvSpPr>
          <p:cNvPr id="382" name="Google Shape;382;p15"/>
          <p:cNvSpPr txBox="1"/>
          <p:nvPr/>
        </p:nvSpPr>
        <p:spPr>
          <a:xfrm>
            <a:off x="594360" y="4032504"/>
            <a:ext cx="39319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700"/>
              <a:buFont typeface="Consolas"/>
              <a:buNone/>
            </a:pPr>
            <a:r>
              <a:rPr b="1" i="0" lang="en-US" sz="700" u="none" cap="none" strike="noStrike">
                <a:solidFill>
                  <a:srgbClr val="232323"/>
                </a:solidFill>
                <a:latin typeface="Consolas"/>
                <a:ea typeface="Consolas"/>
                <a:cs typeface="Consolas"/>
                <a:sym typeface="Consolas"/>
              </a:rPr>
              <a:t>AI DEVELOPER</a:t>
            </a:r>
            <a:endParaRPr b="0" i="0" sz="700" u="none" cap="none" strike="noStrike">
              <a:solidFill>
                <a:schemeClr val="dk1"/>
              </a:solidFill>
              <a:latin typeface="Calibri"/>
              <a:ea typeface="Calibri"/>
              <a:cs typeface="Calibri"/>
              <a:sym typeface="Calibri"/>
            </a:endParaRPr>
          </a:p>
        </p:txBody>
      </p:sp>
      <p:sp>
        <p:nvSpPr>
          <p:cNvPr id="383" name="Google Shape;383;p15"/>
          <p:cNvSpPr txBox="1"/>
          <p:nvPr/>
        </p:nvSpPr>
        <p:spPr>
          <a:xfrm>
            <a:off x="594360" y="4206240"/>
            <a:ext cx="39319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850"/>
              <a:buFont typeface="Calibri"/>
              <a:buNone/>
            </a:pPr>
            <a:r>
              <a:rPr b="0" i="0" lang="en-US" sz="850" u="none" cap="none" strike="noStrike">
                <a:solidFill>
                  <a:srgbClr val="232323"/>
                </a:solidFill>
                <a:latin typeface="Calibri"/>
                <a:ea typeface="Calibri"/>
                <a:cs typeface="Calibri"/>
                <a:sym typeface="Calibri"/>
              </a:rPr>
              <a:t>Offline AI for daily + disaster summarisation.</a:t>
            </a:r>
            <a:endParaRPr b="0" i="0" sz="850" u="none" cap="none" strike="noStrike">
              <a:solidFill>
                <a:schemeClr val="dk1"/>
              </a:solidFill>
              <a:latin typeface="Calibri"/>
              <a:ea typeface="Calibri"/>
              <a:cs typeface="Calibri"/>
              <a:sym typeface="Calibri"/>
            </a:endParaRPr>
          </a:p>
        </p:txBody>
      </p:sp>
      <p:sp>
        <p:nvSpPr>
          <p:cNvPr id="384" name="Google Shape;384;p15"/>
          <p:cNvSpPr/>
          <p:nvPr/>
        </p:nvSpPr>
        <p:spPr>
          <a:xfrm>
            <a:off x="457200" y="4489704"/>
            <a:ext cx="4206240" cy="713232"/>
          </a:xfrm>
          <a:prstGeom prst="rect">
            <a:avLst/>
          </a:prstGeom>
          <a:solidFill>
            <a:srgbClr val="EEE6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5"/>
          <p:cNvSpPr txBox="1"/>
          <p:nvPr/>
        </p:nvSpPr>
        <p:spPr>
          <a:xfrm>
            <a:off x="594360" y="4535424"/>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1400"/>
              <a:buFont typeface="Georgia"/>
              <a:buNone/>
            </a:pPr>
            <a:r>
              <a:rPr b="1" i="0" lang="en-US" sz="1400" u="none" cap="none" strike="noStrike">
                <a:solidFill>
                  <a:srgbClr val="232323"/>
                </a:solidFill>
                <a:latin typeface="Georgia"/>
                <a:ea typeface="Georgia"/>
                <a:cs typeface="Georgia"/>
                <a:sym typeface="Georgia"/>
              </a:rPr>
              <a:t>Taksheel</a:t>
            </a:r>
            <a:endParaRPr b="0" i="0" sz="1400" u="none" cap="none" strike="noStrike">
              <a:solidFill>
                <a:schemeClr val="dk1"/>
              </a:solidFill>
              <a:latin typeface="Calibri"/>
              <a:ea typeface="Calibri"/>
              <a:cs typeface="Calibri"/>
              <a:sym typeface="Calibri"/>
            </a:endParaRPr>
          </a:p>
        </p:txBody>
      </p:sp>
      <p:sp>
        <p:nvSpPr>
          <p:cNvPr id="386" name="Google Shape;386;p15"/>
          <p:cNvSpPr txBox="1"/>
          <p:nvPr/>
        </p:nvSpPr>
        <p:spPr>
          <a:xfrm>
            <a:off x="594360" y="4791456"/>
            <a:ext cx="39319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700"/>
              <a:buFont typeface="Consolas"/>
              <a:buNone/>
            </a:pPr>
            <a:r>
              <a:rPr b="1" i="0" lang="en-US" sz="700" u="none" cap="none" strike="noStrike">
                <a:solidFill>
                  <a:srgbClr val="232323"/>
                </a:solidFill>
                <a:latin typeface="Consolas"/>
                <a:ea typeface="Consolas"/>
                <a:cs typeface="Consolas"/>
                <a:sym typeface="Consolas"/>
              </a:rPr>
              <a:t>FRONTEND UI / UX DESIGNER</a:t>
            </a:r>
            <a:endParaRPr b="0" i="0" sz="700" u="none" cap="none" strike="noStrike">
              <a:solidFill>
                <a:schemeClr val="dk1"/>
              </a:solidFill>
              <a:latin typeface="Calibri"/>
              <a:ea typeface="Calibri"/>
              <a:cs typeface="Calibri"/>
              <a:sym typeface="Calibri"/>
            </a:endParaRPr>
          </a:p>
        </p:txBody>
      </p:sp>
      <p:sp>
        <p:nvSpPr>
          <p:cNvPr id="387" name="Google Shape;387;p15"/>
          <p:cNvSpPr txBox="1"/>
          <p:nvPr/>
        </p:nvSpPr>
        <p:spPr>
          <a:xfrm>
            <a:off x="594360" y="4965192"/>
            <a:ext cx="39319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850"/>
              <a:buFont typeface="Calibri"/>
              <a:buNone/>
            </a:pPr>
            <a:r>
              <a:rPr b="0" i="0" lang="en-US" sz="850" u="none" cap="none" strike="noStrike">
                <a:solidFill>
                  <a:srgbClr val="232323"/>
                </a:solidFill>
                <a:latin typeface="Calibri"/>
                <a:ea typeface="Calibri"/>
                <a:cs typeface="Calibri"/>
                <a:sym typeface="Calibri"/>
              </a:rPr>
              <a:t>UX for journaling, chat, and dashboard.</a:t>
            </a:r>
            <a:endParaRPr b="0" i="0" sz="850" u="none" cap="none" strike="noStrike">
              <a:solidFill>
                <a:schemeClr val="dk1"/>
              </a:solidFill>
              <a:latin typeface="Calibri"/>
              <a:ea typeface="Calibri"/>
              <a:cs typeface="Calibri"/>
              <a:sym typeface="Calibri"/>
            </a:endParaRPr>
          </a:p>
        </p:txBody>
      </p:sp>
      <p:sp>
        <p:nvSpPr>
          <p:cNvPr id="388" name="Google Shape;388;p15"/>
          <p:cNvSpPr/>
          <p:nvPr/>
        </p:nvSpPr>
        <p:spPr>
          <a:xfrm>
            <a:off x="457200" y="5248656"/>
            <a:ext cx="4206240" cy="713232"/>
          </a:xfrm>
          <a:prstGeom prst="rect">
            <a:avLst/>
          </a:prstGeom>
          <a:solidFill>
            <a:srgbClr val="B32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5"/>
          <p:cNvSpPr txBox="1"/>
          <p:nvPr/>
        </p:nvSpPr>
        <p:spPr>
          <a:xfrm>
            <a:off x="594360" y="5294376"/>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1400"/>
              <a:buFont typeface="Georgia"/>
              <a:buNone/>
            </a:pPr>
            <a:r>
              <a:rPr b="1" i="0" lang="en-US" sz="1400" u="none" cap="none" strike="noStrike">
                <a:solidFill>
                  <a:srgbClr val="F3EEDF"/>
                </a:solidFill>
                <a:latin typeface="Georgia"/>
                <a:ea typeface="Georgia"/>
                <a:cs typeface="Georgia"/>
                <a:sym typeface="Georgia"/>
              </a:rPr>
              <a:t>Namit</a:t>
            </a:r>
            <a:endParaRPr b="0" i="0" sz="1400" u="none" cap="none" strike="noStrike">
              <a:solidFill>
                <a:schemeClr val="dk1"/>
              </a:solidFill>
              <a:latin typeface="Calibri"/>
              <a:ea typeface="Calibri"/>
              <a:cs typeface="Calibri"/>
              <a:sym typeface="Calibri"/>
            </a:endParaRPr>
          </a:p>
        </p:txBody>
      </p:sp>
      <p:sp>
        <p:nvSpPr>
          <p:cNvPr id="390" name="Google Shape;390;p15"/>
          <p:cNvSpPr txBox="1"/>
          <p:nvPr/>
        </p:nvSpPr>
        <p:spPr>
          <a:xfrm>
            <a:off x="594360" y="5550408"/>
            <a:ext cx="39319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700"/>
              <a:buFont typeface="Consolas"/>
              <a:buNone/>
            </a:pPr>
            <a:r>
              <a:rPr b="1" i="0" lang="en-US" sz="700" u="none" cap="none" strike="noStrike">
                <a:solidFill>
                  <a:srgbClr val="F3EEDF"/>
                </a:solidFill>
                <a:latin typeface="Consolas"/>
                <a:ea typeface="Consolas"/>
                <a:cs typeface="Consolas"/>
                <a:sym typeface="Consolas"/>
              </a:rPr>
              <a:t>CYBERSECURITY SPECIALIST</a:t>
            </a:r>
            <a:endParaRPr b="0" i="0" sz="700" u="none" cap="none" strike="noStrike">
              <a:solidFill>
                <a:schemeClr val="dk1"/>
              </a:solidFill>
              <a:latin typeface="Calibri"/>
              <a:ea typeface="Calibri"/>
              <a:cs typeface="Calibri"/>
              <a:sym typeface="Calibri"/>
            </a:endParaRPr>
          </a:p>
        </p:txBody>
      </p:sp>
      <p:sp>
        <p:nvSpPr>
          <p:cNvPr id="391" name="Google Shape;391;p15"/>
          <p:cNvSpPr txBox="1"/>
          <p:nvPr/>
        </p:nvSpPr>
        <p:spPr>
          <a:xfrm>
            <a:off x="594360" y="5724144"/>
            <a:ext cx="39319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850"/>
              <a:buFont typeface="Calibri"/>
              <a:buNone/>
            </a:pPr>
            <a:r>
              <a:rPr b="0" i="0" lang="en-US" sz="850" u="none" cap="none" strike="noStrike">
                <a:solidFill>
                  <a:srgbClr val="F3EEDF"/>
                </a:solidFill>
                <a:latin typeface="Calibri"/>
                <a:ea typeface="Calibri"/>
                <a:cs typeface="Calibri"/>
                <a:sym typeface="Calibri"/>
              </a:rPr>
              <a:t>Encryption, secure peer-to-peer comms.</a:t>
            </a:r>
            <a:endParaRPr b="0" i="0" sz="850" u="none" cap="none" strike="noStrike">
              <a:solidFill>
                <a:schemeClr val="dk1"/>
              </a:solidFill>
              <a:latin typeface="Calibri"/>
              <a:ea typeface="Calibri"/>
              <a:cs typeface="Calibri"/>
              <a:sym typeface="Calibri"/>
            </a:endParaRPr>
          </a:p>
        </p:txBody>
      </p:sp>
      <p:sp>
        <p:nvSpPr>
          <p:cNvPr id="392" name="Google Shape;392;p15"/>
          <p:cNvSpPr/>
          <p:nvPr/>
        </p:nvSpPr>
        <p:spPr>
          <a:xfrm>
            <a:off x="457200" y="6007608"/>
            <a:ext cx="4206240" cy="713232"/>
          </a:xfrm>
          <a:prstGeom prst="rect">
            <a:avLst/>
          </a:prstGeom>
          <a:solidFill>
            <a:srgbClr val="1E2A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5"/>
          <p:cNvSpPr txBox="1"/>
          <p:nvPr/>
        </p:nvSpPr>
        <p:spPr>
          <a:xfrm>
            <a:off x="594360" y="6053328"/>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1400"/>
              <a:buFont typeface="Georgia"/>
              <a:buNone/>
            </a:pPr>
            <a:r>
              <a:rPr b="1" i="0" lang="en-US" sz="1400" u="none" cap="none" strike="noStrike">
                <a:solidFill>
                  <a:srgbClr val="F3EEDF"/>
                </a:solidFill>
                <a:latin typeface="Georgia"/>
                <a:ea typeface="Georgia"/>
                <a:cs typeface="Georgia"/>
                <a:sym typeface="Georgia"/>
              </a:rPr>
              <a:t>Yuvraj</a:t>
            </a:r>
            <a:endParaRPr b="0" i="0" sz="1400" u="none" cap="none" strike="noStrike">
              <a:solidFill>
                <a:schemeClr val="dk1"/>
              </a:solidFill>
              <a:latin typeface="Calibri"/>
              <a:ea typeface="Calibri"/>
              <a:cs typeface="Calibri"/>
              <a:sym typeface="Calibri"/>
            </a:endParaRPr>
          </a:p>
        </p:txBody>
      </p:sp>
      <p:sp>
        <p:nvSpPr>
          <p:cNvPr id="394" name="Google Shape;394;p15"/>
          <p:cNvSpPr txBox="1"/>
          <p:nvPr/>
        </p:nvSpPr>
        <p:spPr>
          <a:xfrm>
            <a:off x="594360" y="6309360"/>
            <a:ext cx="39319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700"/>
              <a:buFont typeface="Consolas"/>
              <a:buNone/>
            </a:pPr>
            <a:r>
              <a:rPr b="1" i="0" lang="en-US" sz="700" u="none" cap="none" strike="noStrike">
                <a:solidFill>
                  <a:srgbClr val="F3EEDF"/>
                </a:solidFill>
                <a:latin typeface="Consolas"/>
                <a:ea typeface="Consolas"/>
                <a:cs typeface="Consolas"/>
                <a:sym typeface="Consolas"/>
              </a:rPr>
              <a:t>DEMO LEAD</a:t>
            </a:r>
            <a:endParaRPr b="0" i="0" sz="700" u="none" cap="none" strike="noStrike">
              <a:solidFill>
                <a:schemeClr val="dk1"/>
              </a:solidFill>
              <a:latin typeface="Calibri"/>
              <a:ea typeface="Calibri"/>
              <a:cs typeface="Calibri"/>
              <a:sym typeface="Calibri"/>
            </a:endParaRPr>
          </a:p>
        </p:txBody>
      </p:sp>
      <p:sp>
        <p:nvSpPr>
          <p:cNvPr id="395" name="Google Shape;395;p15"/>
          <p:cNvSpPr txBox="1"/>
          <p:nvPr/>
        </p:nvSpPr>
        <p:spPr>
          <a:xfrm>
            <a:off x="594360" y="6483096"/>
            <a:ext cx="39319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850"/>
              <a:buFont typeface="Calibri"/>
              <a:buNone/>
            </a:pPr>
            <a:r>
              <a:rPr b="0" i="0" lang="en-US" sz="850" u="none" cap="none" strike="noStrike">
                <a:solidFill>
                  <a:srgbClr val="F3EEDF"/>
                </a:solidFill>
                <a:latin typeface="Calibri"/>
                <a:ea typeface="Calibri"/>
                <a:cs typeface="Calibri"/>
                <a:sym typeface="Calibri"/>
              </a:rPr>
              <a:t>Walks the demo path end-to-end.</a:t>
            </a:r>
            <a:endParaRPr b="0" i="0" sz="850" u="none" cap="none" strike="noStrike">
              <a:solidFill>
                <a:schemeClr val="dk1"/>
              </a:solidFill>
              <a:latin typeface="Calibri"/>
              <a:ea typeface="Calibri"/>
              <a:cs typeface="Calibri"/>
              <a:sym typeface="Calibri"/>
            </a:endParaRPr>
          </a:p>
        </p:txBody>
      </p:sp>
      <p:sp>
        <p:nvSpPr>
          <p:cNvPr id="396" name="Google Shape;396;p15"/>
          <p:cNvSpPr txBox="1"/>
          <p:nvPr/>
        </p:nvSpPr>
        <p:spPr>
          <a:xfrm>
            <a:off x="4937760" y="265176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3B26"/>
              </a:buClr>
              <a:buSzPts val="1000"/>
              <a:buFont typeface="Consolas"/>
              <a:buNone/>
            </a:pPr>
            <a:r>
              <a:rPr b="1" i="0" lang="en-US" sz="1000" u="none" cap="none" strike="noStrike">
                <a:solidFill>
                  <a:srgbClr val="A33B26"/>
                </a:solidFill>
                <a:latin typeface="Consolas"/>
                <a:ea typeface="Consolas"/>
                <a:cs typeface="Consolas"/>
                <a:sym typeface="Consolas"/>
              </a:rPr>
              <a:t>WHERE IT LANDS</a:t>
            </a:r>
            <a:endParaRPr b="0" i="0" sz="1000" u="none" cap="none" strike="noStrike">
              <a:solidFill>
                <a:schemeClr val="dk1"/>
              </a:solidFill>
              <a:latin typeface="Calibri"/>
              <a:ea typeface="Calibri"/>
              <a:cs typeface="Calibri"/>
              <a:sym typeface="Calibri"/>
            </a:endParaRPr>
          </a:p>
        </p:txBody>
      </p:sp>
      <p:sp>
        <p:nvSpPr>
          <p:cNvPr id="397" name="Google Shape;397;p15"/>
          <p:cNvSpPr txBox="1"/>
          <p:nvPr/>
        </p:nvSpPr>
        <p:spPr>
          <a:xfrm>
            <a:off x="4937760" y="2926080"/>
            <a:ext cx="67665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1700"/>
              <a:buFont typeface="Georgia"/>
              <a:buNone/>
            </a:pPr>
            <a:r>
              <a:rPr b="1" i="0" lang="en-US" sz="1700" u="none" cap="none" strike="noStrike">
                <a:solidFill>
                  <a:srgbClr val="232323"/>
                </a:solidFill>
                <a:latin typeface="Georgia"/>
                <a:ea typeface="Georgia"/>
                <a:cs typeface="Georgia"/>
                <a:sym typeface="Georgia"/>
              </a:rPr>
              <a:t>Five places where </a:t>
            </a:r>
            <a:r>
              <a:rPr b="0" i="1" lang="en-US" sz="1700" u="none" cap="none" strike="noStrike">
                <a:solidFill>
                  <a:srgbClr val="0F6E56"/>
                </a:solidFill>
                <a:latin typeface="Georgia"/>
                <a:ea typeface="Georgia"/>
                <a:cs typeface="Georgia"/>
                <a:sym typeface="Georgia"/>
              </a:rPr>
              <a:t>resilience</a:t>
            </a:r>
            <a:r>
              <a:rPr b="1" i="0" lang="en-US" sz="1700" u="none" cap="none" strike="noStrike">
                <a:solidFill>
                  <a:srgbClr val="232323"/>
                </a:solidFill>
                <a:latin typeface="Georgia"/>
                <a:ea typeface="Georgia"/>
                <a:cs typeface="Georgia"/>
                <a:sym typeface="Georgia"/>
              </a:rPr>
              <a:t> stops being</a:t>
            </a:r>
            <a:endParaRPr b="0" i="0" sz="1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32323"/>
              </a:buClr>
              <a:buSzPts val="1700"/>
              <a:buFont typeface="Georgia"/>
              <a:buNone/>
            </a:pPr>
            <a:r>
              <a:rPr b="1" i="0" lang="en-US" sz="1700" u="none" cap="none" strike="noStrike">
                <a:solidFill>
                  <a:srgbClr val="232323"/>
                </a:solidFill>
                <a:latin typeface="Georgia"/>
                <a:ea typeface="Georgia"/>
                <a:cs typeface="Georgia"/>
                <a:sym typeface="Georgia"/>
              </a:rPr>
              <a:t>abstract.</a:t>
            </a:r>
            <a:endParaRPr b="0" i="0" sz="1700" u="none" cap="none" strike="noStrike">
              <a:solidFill>
                <a:schemeClr val="dk1"/>
              </a:solidFill>
              <a:latin typeface="Calibri"/>
              <a:ea typeface="Calibri"/>
              <a:cs typeface="Calibri"/>
              <a:sym typeface="Calibri"/>
            </a:endParaRPr>
          </a:p>
        </p:txBody>
      </p:sp>
      <p:sp>
        <p:nvSpPr>
          <p:cNvPr id="398" name="Google Shape;398;p15"/>
          <p:cNvSpPr/>
          <p:nvPr/>
        </p:nvSpPr>
        <p:spPr>
          <a:xfrm>
            <a:off x="4937760" y="3749040"/>
            <a:ext cx="6766560" cy="512064"/>
          </a:xfrm>
          <a:prstGeom prst="rect">
            <a:avLst/>
          </a:prstGeom>
          <a:solidFill>
            <a:srgbClr val="EEE6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5"/>
          <p:cNvSpPr txBox="1"/>
          <p:nvPr/>
        </p:nvSpPr>
        <p:spPr>
          <a:xfrm>
            <a:off x="5074920" y="3822192"/>
            <a:ext cx="548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E56"/>
              </a:buClr>
              <a:buSzPts val="1600"/>
              <a:buFont typeface="Georgia"/>
              <a:buNone/>
            </a:pPr>
            <a:r>
              <a:rPr b="0" i="1" lang="en-US" sz="1600" u="none" cap="none" strike="noStrike">
                <a:solidFill>
                  <a:srgbClr val="0F6E56"/>
                </a:solidFill>
                <a:latin typeface="Georgia"/>
                <a:ea typeface="Georgia"/>
                <a:cs typeface="Georgia"/>
                <a:sym typeface="Georgia"/>
              </a:rPr>
              <a:t>01</a:t>
            </a:r>
            <a:endParaRPr b="0" i="0" sz="1600" u="none" cap="none" strike="noStrike">
              <a:solidFill>
                <a:schemeClr val="dk1"/>
              </a:solidFill>
              <a:latin typeface="Calibri"/>
              <a:ea typeface="Calibri"/>
              <a:cs typeface="Calibri"/>
              <a:sym typeface="Calibri"/>
            </a:endParaRPr>
          </a:p>
        </p:txBody>
      </p:sp>
      <p:sp>
        <p:nvSpPr>
          <p:cNvPr id="400" name="Google Shape;400;p15"/>
          <p:cNvSpPr txBox="1"/>
          <p:nvPr/>
        </p:nvSpPr>
        <p:spPr>
          <a:xfrm>
            <a:off x="5669280" y="3840480"/>
            <a:ext cx="58521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1200"/>
              <a:buFont typeface="Georgia"/>
              <a:buNone/>
            </a:pPr>
            <a:r>
              <a:rPr b="1" i="0" lang="en-US" sz="1200" u="none" cap="none" strike="noStrike">
                <a:solidFill>
                  <a:srgbClr val="232323"/>
                </a:solidFill>
                <a:latin typeface="Georgia"/>
                <a:ea typeface="Georgia"/>
                <a:cs typeface="Georgia"/>
                <a:sym typeface="Georgia"/>
              </a:rPr>
              <a:t>Daily life · journaling, idea capture, offline productivity.</a:t>
            </a:r>
            <a:endParaRPr b="0" i="0" sz="1200" u="none" cap="none" strike="noStrike">
              <a:solidFill>
                <a:schemeClr val="dk1"/>
              </a:solidFill>
              <a:latin typeface="Calibri"/>
              <a:ea typeface="Calibri"/>
              <a:cs typeface="Calibri"/>
              <a:sym typeface="Calibri"/>
            </a:endParaRPr>
          </a:p>
        </p:txBody>
      </p:sp>
      <p:sp>
        <p:nvSpPr>
          <p:cNvPr id="401" name="Google Shape;401;p15"/>
          <p:cNvSpPr/>
          <p:nvPr/>
        </p:nvSpPr>
        <p:spPr>
          <a:xfrm>
            <a:off x="4937760" y="4306824"/>
            <a:ext cx="6766560" cy="512064"/>
          </a:xfrm>
          <a:prstGeom prst="rect">
            <a:avLst/>
          </a:prstGeom>
          <a:solidFill>
            <a:srgbClr val="E2D8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5"/>
          <p:cNvSpPr txBox="1"/>
          <p:nvPr/>
        </p:nvSpPr>
        <p:spPr>
          <a:xfrm>
            <a:off x="5074920" y="4379976"/>
            <a:ext cx="548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E56"/>
              </a:buClr>
              <a:buSzPts val="1600"/>
              <a:buFont typeface="Georgia"/>
              <a:buNone/>
            </a:pPr>
            <a:r>
              <a:rPr b="0" i="1" lang="en-US" sz="1600" u="none" cap="none" strike="noStrike">
                <a:solidFill>
                  <a:srgbClr val="0F6E56"/>
                </a:solidFill>
                <a:latin typeface="Georgia"/>
                <a:ea typeface="Georgia"/>
                <a:cs typeface="Georgia"/>
                <a:sym typeface="Georgia"/>
              </a:rPr>
              <a:t>02</a:t>
            </a:r>
            <a:endParaRPr b="0" i="0" sz="1600" u="none" cap="none" strike="noStrike">
              <a:solidFill>
                <a:schemeClr val="dk1"/>
              </a:solidFill>
              <a:latin typeface="Calibri"/>
              <a:ea typeface="Calibri"/>
              <a:cs typeface="Calibri"/>
              <a:sym typeface="Calibri"/>
            </a:endParaRPr>
          </a:p>
        </p:txBody>
      </p:sp>
      <p:sp>
        <p:nvSpPr>
          <p:cNvPr id="403" name="Google Shape;403;p15"/>
          <p:cNvSpPr txBox="1"/>
          <p:nvPr/>
        </p:nvSpPr>
        <p:spPr>
          <a:xfrm>
            <a:off x="5669280" y="4398264"/>
            <a:ext cx="58521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1200"/>
              <a:buFont typeface="Georgia"/>
              <a:buNone/>
            </a:pPr>
            <a:r>
              <a:rPr b="1" i="0" lang="en-US" sz="1200" u="none" cap="none" strike="noStrike">
                <a:solidFill>
                  <a:srgbClr val="232323"/>
                </a:solidFill>
                <a:latin typeface="Georgia"/>
                <a:ea typeface="Georgia"/>
                <a:cs typeface="Georgia"/>
                <a:sym typeface="Georgia"/>
              </a:rPr>
              <a:t>Disaster zones · relief workers coordinate without internet.</a:t>
            </a:r>
            <a:endParaRPr b="0" i="0" sz="1200" u="none" cap="none" strike="noStrike">
              <a:solidFill>
                <a:schemeClr val="dk1"/>
              </a:solidFill>
              <a:latin typeface="Calibri"/>
              <a:ea typeface="Calibri"/>
              <a:cs typeface="Calibri"/>
              <a:sym typeface="Calibri"/>
            </a:endParaRPr>
          </a:p>
        </p:txBody>
      </p:sp>
      <p:sp>
        <p:nvSpPr>
          <p:cNvPr id="404" name="Google Shape;404;p15"/>
          <p:cNvSpPr/>
          <p:nvPr/>
        </p:nvSpPr>
        <p:spPr>
          <a:xfrm>
            <a:off x="4937760" y="4864608"/>
            <a:ext cx="6766560" cy="512064"/>
          </a:xfrm>
          <a:prstGeom prst="rect">
            <a:avLst/>
          </a:prstGeom>
          <a:solidFill>
            <a:srgbClr val="B32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5"/>
          <p:cNvSpPr txBox="1"/>
          <p:nvPr/>
        </p:nvSpPr>
        <p:spPr>
          <a:xfrm>
            <a:off x="5074920" y="4937760"/>
            <a:ext cx="548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1600"/>
              <a:buFont typeface="Georgia"/>
              <a:buNone/>
            </a:pPr>
            <a:r>
              <a:rPr b="0" i="1" lang="en-US" sz="1600" u="none" cap="none" strike="noStrike">
                <a:solidFill>
                  <a:srgbClr val="F3EEDF"/>
                </a:solidFill>
                <a:latin typeface="Georgia"/>
                <a:ea typeface="Georgia"/>
                <a:cs typeface="Georgia"/>
                <a:sym typeface="Georgia"/>
              </a:rPr>
              <a:t>03</a:t>
            </a:r>
            <a:endParaRPr b="0" i="0" sz="1600" u="none" cap="none" strike="noStrike">
              <a:solidFill>
                <a:schemeClr val="dk1"/>
              </a:solidFill>
              <a:latin typeface="Calibri"/>
              <a:ea typeface="Calibri"/>
              <a:cs typeface="Calibri"/>
              <a:sym typeface="Calibri"/>
            </a:endParaRPr>
          </a:p>
        </p:txBody>
      </p:sp>
      <p:sp>
        <p:nvSpPr>
          <p:cNvPr id="406" name="Google Shape;406;p15"/>
          <p:cNvSpPr txBox="1"/>
          <p:nvPr/>
        </p:nvSpPr>
        <p:spPr>
          <a:xfrm>
            <a:off x="5669280" y="4956048"/>
            <a:ext cx="58521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1200"/>
              <a:buFont typeface="Georgia"/>
              <a:buNone/>
            </a:pPr>
            <a:r>
              <a:rPr b="1" i="0" lang="en-US" sz="1200" u="none" cap="none" strike="noStrike">
                <a:solidFill>
                  <a:srgbClr val="F3EEDF"/>
                </a:solidFill>
                <a:latin typeface="Georgia"/>
                <a:ea typeface="Georgia"/>
                <a:cs typeface="Georgia"/>
                <a:sym typeface="Georgia"/>
              </a:rPr>
              <a:t>Healthcare emergencies · offline patient triage and AI support.</a:t>
            </a:r>
            <a:endParaRPr b="0" i="0" sz="1200" u="none" cap="none" strike="noStrike">
              <a:solidFill>
                <a:schemeClr val="dk1"/>
              </a:solidFill>
              <a:latin typeface="Calibri"/>
              <a:ea typeface="Calibri"/>
              <a:cs typeface="Calibri"/>
              <a:sym typeface="Calibri"/>
            </a:endParaRPr>
          </a:p>
        </p:txBody>
      </p:sp>
      <p:sp>
        <p:nvSpPr>
          <p:cNvPr id="407" name="Google Shape;407;p15"/>
          <p:cNvSpPr/>
          <p:nvPr/>
        </p:nvSpPr>
        <p:spPr>
          <a:xfrm>
            <a:off x="4937760" y="5422392"/>
            <a:ext cx="6766560" cy="512064"/>
          </a:xfrm>
          <a:prstGeom prst="rect">
            <a:avLst/>
          </a:prstGeom>
          <a:solidFill>
            <a:srgbClr val="EEE6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5"/>
          <p:cNvSpPr txBox="1"/>
          <p:nvPr/>
        </p:nvSpPr>
        <p:spPr>
          <a:xfrm>
            <a:off x="5074920" y="5495544"/>
            <a:ext cx="548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E56"/>
              </a:buClr>
              <a:buSzPts val="1600"/>
              <a:buFont typeface="Georgia"/>
              <a:buNone/>
            </a:pPr>
            <a:r>
              <a:rPr b="0" i="1" lang="en-US" sz="1600" u="none" cap="none" strike="noStrike">
                <a:solidFill>
                  <a:srgbClr val="0F6E56"/>
                </a:solidFill>
                <a:latin typeface="Georgia"/>
                <a:ea typeface="Georgia"/>
                <a:cs typeface="Georgia"/>
                <a:sym typeface="Georgia"/>
              </a:rPr>
              <a:t>04</a:t>
            </a:r>
            <a:endParaRPr b="0" i="0" sz="1600" u="none" cap="none" strike="noStrike">
              <a:solidFill>
                <a:schemeClr val="dk1"/>
              </a:solidFill>
              <a:latin typeface="Calibri"/>
              <a:ea typeface="Calibri"/>
              <a:cs typeface="Calibri"/>
              <a:sym typeface="Calibri"/>
            </a:endParaRPr>
          </a:p>
        </p:txBody>
      </p:sp>
      <p:sp>
        <p:nvSpPr>
          <p:cNvPr id="409" name="Google Shape;409;p15"/>
          <p:cNvSpPr txBox="1"/>
          <p:nvPr/>
        </p:nvSpPr>
        <p:spPr>
          <a:xfrm>
            <a:off x="5669280" y="5513832"/>
            <a:ext cx="58521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323"/>
              </a:buClr>
              <a:buSzPts val="1200"/>
              <a:buFont typeface="Georgia"/>
              <a:buNone/>
            </a:pPr>
            <a:r>
              <a:rPr b="1" i="0" lang="en-US" sz="1200" u="none" cap="none" strike="noStrike">
                <a:solidFill>
                  <a:srgbClr val="232323"/>
                </a:solidFill>
                <a:latin typeface="Georgia"/>
                <a:ea typeface="Georgia"/>
                <a:cs typeface="Georgia"/>
                <a:sym typeface="Georgia"/>
              </a:rPr>
              <a:t>Community resilience · neighbours share info during blackouts.</a:t>
            </a:r>
            <a:endParaRPr b="0" i="0" sz="1200" u="none" cap="none" strike="noStrike">
              <a:solidFill>
                <a:schemeClr val="dk1"/>
              </a:solidFill>
              <a:latin typeface="Calibri"/>
              <a:ea typeface="Calibri"/>
              <a:cs typeface="Calibri"/>
              <a:sym typeface="Calibri"/>
            </a:endParaRPr>
          </a:p>
        </p:txBody>
      </p:sp>
      <p:sp>
        <p:nvSpPr>
          <p:cNvPr id="410" name="Google Shape;410;p15"/>
          <p:cNvSpPr/>
          <p:nvPr/>
        </p:nvSpPr>
        <p:spPr>
          <a:xfrm>
            <a:off x="4937760" y="5980176"/>
            <a:ext cx="6766560" cy="512064"/>
          </a:xfrm>
          <a:prstGeom prst="rect">
            <a:avLst/>
          </a:prstGeom>
          <a:solidFill>
            <a:srgbClr val="1E2A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5"/>
          <p:cNvSpPr txBox="1"/>
          <p:nvPr/>
        </p:nvSpPr>
        <p:spPr>
          <a:xfrm>
            <a:off x="5074920" y="6053328"/>
            <a:ext cx="548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1600"/>
              <a:buFont typeface="Georgia"/>
              <a:buNone/>
            </a:pPr>
            <a:r>
              <a:rPr b="0" i="1" lang="en-US" sz="1600" u="none" cap="none" strike="noStrike">
                <a:solidFill>
                  <a:srgbClr val="F3EEDF"/>
                </a:solidFill>
                <a:latin typeface="Georgia"/>
                <a:ea typeface="Georgia"/>
                <a:cs typeface="Georgia"/>
                <a:sym typeface="Georgia"/>
              </a:rPr>
              <a:t>05</a:t>
            </a:r>
            <a:endParaRPr b="0" i="0" sz="1600" u="none" cap="none" strike="noStrike">
              <a:solidFill>
                <a:schemeClr val="dk1"/>
              </a:solidFill>
              <a:latin typeface="Calibri"/>
              <a:ea typeface="Calibri"/>
              <a:cs typeface="Calibri"/>
              <a:sym typeface="Calibri"/>
            </a:endParaRPr>
          </a:p>
        </p:txBody>
      </p:sp>
      <p:sp>
        <p:nvSpPr>
          <p:cNvPr id="412" name="Google Shape;412;p15"/>
          <p:cNvSpPr txBox="1"/>
          <p:nvPr/>
        </p:nvSpPr>
        <p:spPr>
          <a:xfrm>
            <a:off x="5669280" y="6071616"/>
            <a:ext cx="58521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EDF"/>
              </a:buClr>
              <a:buSzPts val="1200"/>
              <a:buFont typeface="Georgia"/>
              <a:buNone/>
            </a:pPr>
            <a:r>
              <a:rPr b="1" i="0" lang="en-US" sz="1200" u="none" cap="none" strike="noStrike">
                <a:solidFill>
                  <a:srgbClr val="F3EEDF"/>
                </a:solidFill>
                <a:latin typeface="Georgia"/>
                <a:ea typeface="Georgia"/>
                <a:cs typeface="Georgia"/>
                <a:sym typeface="Georgia"/>
              </a:rPr>
              <a:t>Critical infrastructure · outage logs synced locally first.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